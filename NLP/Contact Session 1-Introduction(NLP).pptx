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3.xml" ContentType="application/inkml+xml"/>
  <Override PartName="/ppt/ink/ink4.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2" r:id="rId4"/>
    <p:sldMasterId id="2147483808" r:id="rId5"/>
    <p:sldMasterId id="2147483820" r:id="rId6"/>
    <p:sldMasterId id="2147483906" r:id="rId7"/>
  </p:sldMasterIdLst>
  <p:notesMasterIdLst>
    <p:notesMasterId r:id="rId60"/>
  </p:notesMasterIdLst>
  <p:handoutMasterIdLst>
    <p:handoutMasterId r:id="rId61"/>
  </p:handoutMasterIdLst>
  <p:sldIdLst>
    <p:sldId id="276" r:id="rId8"/>
    <p:sldId id="277" r:id="rId9"/>
    <p:sldId id="655" r:id="rId10"/>
    <p:sldId id="372" r:id="rId11"/>
    <p:sldId id="726" r:id="rId12"/>
    <p:sldId id="654" r:id="rId13"/>
    <p:sldId id="656" r:id="rId14"/>
    <p:sldId id="657" r:id="rId15"/>
    <p:sldId id="575" r:id="rId16"/>
    <p:sldId id="611" r:id="rId17"/>
    <p:sldId id="668" r:id="rId18"/>
    <p:sldId id="669" r:id="rId19"/>
    <p:sldId id="670" r:id="rId20"/>
    <p:sldId id="671" r:id="rId21"/>
    <p:sldId id="672" r:id="rId22"/>
    <p:sldId id="673" r:id="rId23"/>
    <p:sldId id="674" r:id="rId24"/>
    <p:sldId id="675" r:id="rId25"/>
    <p:sldId id="676" r:id="rId26"/>
    <p:sldId id="677" r:id="rId27"/>
    <p:sldId id="678" r:id="rId28"/>
    <p:sldId id="679" r:id="rId29"/>
    <p:sldId id="700" r:id="rId30"/>
    <p:sldId id="701" r:id="rId31"/>
    <p:sldId id="702" r:id="rId32"/>
    <p:sldId id="703" r:id="rId33"/>
    <p:sldId id="704" r:id="rId34"/>
    <p:sldId id="705" r:id="rId35"/>
    <p:sldId id="706" r:id="rId36"/>
    <p:sldId id="707" r:id="rId37"/>
    <p:sldId id="708" r:id="rId38"/>
    <p:sldId id="709" r:id="rId39"/>
    <p:sldId id="710" r:id="rId40"/>
    <p:sldId id="712" r:id="rId41"/>
    <p:sldId id="713" r:id="rId42"/>
    <p:sldId id="714" r:id="rId43"/>
    <p:sldId id="715" r:id="rId44"/>
    <p:sldId id="716" r:id="rId45"/>
    <p:sldId id="717" r:id="rId46"/>
    <p:sldId id="718" r:id="rId47"/>
    <p:sldId id="719" r:id="rId48"/>
    <p:sldId id="720" r:id="rId49"/>
    <p:sldId id="721" r:id="rId50"/>
    <p:sldId id="722" r:id="rId51"/>
    <p:sldId id="723" r:id="rId52"/>
    <p:sldId id="724" r:id="rId53"/>
    <p:sldId id="725" r:id="rId54"/>
    <p:sldId id="695" r:id="rId55"/>
    <p:sldId id="698" r:id="rId56"/>
    <p:sldId id="699" r:id="rId57"/>
    <p:sldId id="697" r:id="rId58"/>
    <p:sldId id="651" r:id="rId59"/>
  </p:sldIdLst>
  <p:sldSz cx="9144000" cy="6858000" type="screen4x3"/>
  <p:notesSz cx="6858000" cy="9144000"/>
  <p:defaultTextStyle>
    <a:defPPr>
      <a:defRPr lang="en-US"/>
    </a:defPPr>
    <a:lvl1pPr algn="l" rtl="0" fontAlgn="base">
      <a:spcBef>
        <a:spcPct val="0"/>
      </a:spcBef>
      <a:spcAft>
        <a:spcPct val="0"/>
      </a:spcAft>
      <a:defRPr sz="1600" kern="1200">
        <a:solidFill>
          <a:schemeClr val="tx1"/>
        </a:solidFill>
        <a:latin typeface="Tahoma" charset="0"/>
        <a:ea typeface="+mn-ea"/>
        <a:cs typeface="+mn-cs"/>
      </a:defRPr>
    </a:lvl1pPr>
    <a:lvl2pPr marL="457200" algn="l" rtl="0" fontAlgn="base">
      <a:spcBef>
        <a:spcPct val="0"/>
      </a:spcBef>
      <a:spcAft>
        <a:spcPct val="0"/>
      </a:spcAft>
      <a:defRPr sz="1600" kern="1200">
        <a:solidFill>
          <a:schemeClr val="tx1"/>
        </a:solidFill>
        <a:latin typeface="Tahoma" charset="0"/>
        <a:ea typeface="+mn-ea"/>
        <a:cs typeface="+mn-cs"/>
      </a:defRPr>
    </a:lvl2pPr>
    <a:lvl3pPr marL="914400" algn="l" rtl="0" fontAlgn="base">
      <a:spcBef>
        <a:spcPct val="0"/>
      </a:spcBef>
      <a:spcAft>
        <a:spcPct val="0"/>
      </a:spcAft>
      <a:defRPr sz="1600" kern="1200">
        <a:solidFill>
          <a:schemeClr val="tx1"/>
        </a:solidFill>
        <a:latin typeface="Tahoma" charset="0"/>
        <a:ea typeface="+mn-ea"/>
        <a:cs typeface="+mn-cs"/>
      </a:defRPr>
    </a:lvl3pPr>
    <a:lvl4pPr marL="1371600" algn="l" rtl="0" fontAlgn="base">
      <a:spcBef>
        <a:spcPct val="0"/>
      </a:spcBef>
      <a:spcAft>
        <a:spcPct val="0"/>
      </a:spcAft>
      <a:defRPr sz="1600" kern="1200">
        <a:solidFill>
          <a:schemeClr val="tx1"/>
        </a:solidFill>
        <a:latin typeface="Tahoma" charset="0"/>
        <a:ea typeface="+mn-ea"/>
        <a:cs typeface="+mn-cs"/>
      </a:defRPr>
    </a:lvl4pPr>
    <a:lvl5pPr marL="1828800" algn="l" rtl="0" fontAlgn="base">
      <a:spcBef>
        <a:spcPct val="0"/>
      </a:spcBef>
      <a:spcAft>
        <a:spcPct val="0"/>
      </a:spcAft>
      <a:defRPr sz="1600" kern="1200">
        <a:solidFill>
          <a:schemeClr val="tx1"/>
        </a:solidFill>
        <a:latin typeface="Tahoma" charset="0"/>
        <a:ea typeface="+mn-ea"/>
        <a:cs typeface="+mn-cs"/>
      </a:defRPr>
    </a:lvl5pPr>
    <a:lvl6pPr marL="2286000" algn="l" defTabSz="914400" rtl="0" eaLnBrk="1" latinLnBrk="0" hangingPunct="1">
      <a:defRPr sz="1600" kern="1200">
        <a:solidFill>
          <a:schemeClr val="tx1"/>
        </a:solidFill>
        <a:latin typeface="Tahoma" charset="0"/>
        <a:ea typeface="+mn-ea"/>
        <a:cs typeface="+mn-cs"/>
      </a:defRPr>
    </a:lvl6pPr>
    <a:lvl7pPr marL="2743200" algn="l" defTabSz="914400" rtl="0" eaLnBrk="1" latinLnBrk="0" hangingPunct="1">
      <a:defRPr sz="1600" kern="1200">
        <a:solidFill>
          <a:schemeClr val="tx1"/>
        </a:solidFill>
        <a:latin typeface="Tahoma" charset="0"/>
        <a:ea typeface="+mn-ea"/>
        <a:cs typeface="+mn-cs"/>
      </a:defRPr>
    </a:lvl7pPr>
    <a:lvl8pPr marL="3200400" algn="l" defTabSz="914400" rtl="0" eaLnBrk="1" latinLnBrk="0" hangingPunct="1">
      <a:defRPr sz="1600" kern="1200">
        <a:solidFill>
          <a:schemeClr val="tx1"/>
        </a:solidFill>
        <a:latin typeface="Tahoma" charset="0"/>
        <a:ea typeface="+mn-ea"/>
        <a:cs typeface="+mn-cs"/>
      </a:defRPr>
    </a:lvl8pPr>
    <a:lvl9pPr marL="3657600" algn="l" defTabSz="914400" rtl="0" eaLnBrk="1" latinLnBrk="0" hangingPunct="1">
      <a:defRPr sz="1600" kern="1200">
        <a:solidFill>
          <a:schemeClr val="tx1"/>
        </a:solidFill>
        <a:latin typeface="Tahoma"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99" autoAdjust="0"/>
    <p:restoredTop sz="90929"/>
  </p:normalViewPr>
  <p:slideViewPr>
    <p:cSldViewPr>
      <p:cViewPr varScale="1">
        <p:scale>
          <a:sx n="67" d="100"/>
          <a:sy n="67" d="100"/>
        </p:scale>
        <p:origin x="1472"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r>
              <a:rPr lang="en-US"/>
              <a:t>Lecture-1</a:t>
            </a:r>
          </a:p>
        </p:txBody>
      </p:sp>
      <p:sp>
        <p:nvSpPr>
          <p:cNvPr id="358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023B7232-710D-494E-88C7-F703C04F40C2}" type="datetimeFigureOut">
              <a:rPr lang="en-US" smtClean="0"/>
              <a:pPr>
                <a:defRPr/>
              </a:pPr>
              <a:t>4/26/2026</a:t>
            </a:fld>
            <a:endParaRPr lang="en-US"/>
          </a:p>
        </p:txBody>
      </p:sp>
      <p:sp>
        <p:nvSpPr>
          <p:cNvPr id="358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358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96DCEF7-9E9F-4185-8062-A1F4E6576C3B}" type="slidenum">
              <a:rPr lang="en-US"/>
              <a:pPr>
                <a:defRPr/>
              </a:pPr>
              <a:t>‹#›</a:t>
            </a:fld>
            <a:endParaRPr lang="en-US"/>
          </a:p>
        </p:txBody>
      </p:sp>
    </p:spTree>
    <p:extLst>
      <p:ext uri="{BB962C8B-B14F-4D97-AF65-F5344CB8AC3E}">
        <p14:creationId xmlns:p14="http://schemas.microsoft.com/office/powerpoint/2010/main" val="161499762"/>
      </p:ext>
    </p:extLst>
  </p:cSld>
  <p:clrMap bg1="lt1" tx1="dk1" bg2="lt2" tx2="dk2" accent1="accent1" accent2="accent2" accent3="accent3" accent4="accent4" accent5="accent5" accent6="accent6" hlink="hlink" folHlink="folHlink"/>
  <p:hf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08:02:41.804"/>
    </inkml:context>
    <inkml:brush xml:id="br0">
      <inkml:brushProperty name="width" value="0.025" units="cm"/>
      <inkml:brushProperty name="height" value="0.025" units="cm"/>
    </inkml:brush>
  </inkml:definitions>
  <inkml:trace contextRef="#ctx0" brushRef="#br0">27 1 752,'0'0'2081,"-13"203"-1632,13-156-337,-7-10-112,4-7-401,-1-7-2592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6T08:02:41.946"/>
    </inkml:context>
    <inkml:brush xml:id="br0">
      <inkml:brushProperty name="width" value="0.025" units="cm"/>
      <inkml:brushProperty name="height" value="0.025" units="cm"/>
    </inkml:brush>
  </inkml:definitions>
  <inkml:trace contextRef="#ctx0" brushRef="#br0">1 45 2673,'0'0'3324,"12"-4"-2259,38-13 98,-49 17-978,-1 0-1,1 0 1,0 0-1,0 0 1,0-1-1,0 1 0,0 0 1,-1-1-1,1 1 1,0 0-1,0-1 1,-1 1-1,1-1 1,0 0-1,0 1 1,-1-1-1,1 1 1,-1-1-1,1 0 1,-1 0-1,1 1 1,-1-1-1,1 0 1,-1 0-1,1 0 1,-1 1-1,0-1 1,0 0-1,1-1 1,-1 2-86,0-1 0,0 1 0,0 0 0,0-1 0,0 1 0,0 0 0,0 0 0,0-1 0,0 1 0,1 0 0,-1 0 1,0-1-1,0 1 0,0 0 0,0 0 0,1 0 0,-1-1 0,0 1 0,0 0 0,0 0 0,1 0 0,-1 0 0,0-1 1,0 1-1,1 0 0,-1 0 0,0 0 0,0 0 0,1 0 0,-1 0 0,0 0 0,1 0 0,-1 0 0,0 0 0,0 0 1,1 0-1,-1 0 0,0 0 0,0 0 0,1 0 0,-1 0 0,0 0 0,1 0 0,-1 0 0,0 0 0,1 1 0,30-1 1410,17-1-321,65 9 0,240 24 150,-4 0-721,786 151 440,-764-113-881,388 80 72,48 45 174,-422-98-342,-235-58-45,277 55 15,187-33-30,2-29-48,-249-28 55,-239-5-22,-38-3 8,160-29-1,-100 10-5,296-17-7,-214 23-3,-94 12-20,47-7-15,-172 10 41,-1 0 1,1-1-1,15-6 0,-22 7 0,-1 0 1,-1-1-1,1 1 0,0-1 0,-1 0 1,1 0-1,-1-1 0,0 0 0,8-7 0,-5 3 0,-5 6-4,0 1 1,0-1-1,0 0 1,0 0-1,-1 0 1,1 0 0,-1 0-1,1 0 1,-1-1-1,1-2 1,-2 5-38,-2-13-1613,-18 4-790,-27-6-2247,-14-5-3041</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6-04-26T09:21:43.024"/>
    </inkml:context>
    <inkml:brush xml:id="br0">
      <inkml:brushProperty name="width" value="0.05292" units="cm"/>
      <inkml:brushProperty name="height" value="0.05292" units="cm"/>
      <inkml:brushProperty name="color" value="#FF0000"/>
    </inkml:brush>
  </inkml:definitions>
  <inkml:trace contextRef="#ctx0" brushRef="#br0">6330 12913 120 0,'0'0'110'16,"0"0"-46"-16,0 0 32 0,0 0 2 15,0 0 5-15,0 0 41 16,-22-41-14-16,22 38-19 16,-2 1 7-16,0 0-29 15,2-2-12-15,0 4-5 16,0 0-20-16,-2 0-22 15,-3 0-6-15,-1 11-13 16,1 8-3-16,-5 3-1 16,0 1 0-16,5-2-6 15,-6-2-2-15,4-5 0 16,-1-1 1-16,0-4-16 16,3-5-37-16,-5 1-66 15,10-5-17-15,0 0-85 16,0-17-117-16,14-3-157 0</inkml:trace>
  <inkml:trace contextRef="#ctx0" brushRef="#br0" timeOffset="167.55">6330 12913 335 0,'-9'10'134'15,"18"-10"-34"-15,-3 0-21 16,-2 0-5-16,-2 0-7 16,0 0-38-16,1 0-11 15,-1 0-11-15,2 0-7 16,-1 3 0-16,-1-3-18 15,2 0-71-15,0 0-29 16,0 0-29-16,1 0 29 16,-1-5-86-16</inkml:trace>
  <inkml:trace contextRef="#ctx0" brushRef="#br0" timeOffset="304.58">6390 12905 80 0,'0'0'192'0,"0"0"-65"16,0 0-10-16,0 0 0 15,0 0-44-15,0 0 20 16,-11 24-21-16,4-12-20 15,1 4-26-15,-4-9-11 16,-4 5-9-16,-3 2-6 16,-11-6-50-16,-8-3-209 15</inkml:trace>
  <inkml:trace contextRef="#ctx0" brushRef="#br0" timeOffset="1084.14">2181 12859 854 0,'0'0'47'0,"0"0"-47"0,0 0-3 16,0 0 3-16,0 0 0 15,0 0 0-15,98 20 0 16,-82-16 0-16,-11 0 0 16,4-4-2-16,-9 0-15 15,0 0-48-15,0 0-89 16,0 0-186-16</inkml:trace>
  <inkml:trace contextRef="#ctx0" brushRef="#br0" timeOffset="1250.68">2326 12811 642 0,'0'0'104'0,"0"0"-98"15,0 0-4-15,0 0-2 16,0 0 6-16,0 0-6 16,59 8 0-16,-50-6 0 15,-2 0-3-15,-2-2-70 16,-3 0-102-16,-2 0-260 15</inkml:trace>
  <inkml:trace contextRef="#ctx0" brushRef="#br0" timeOffset="1883.91">2203 12837 514 0,'0'0'236'0,"0"0"-176"16,0 0-28-16,0 0 5 16,0 0-1-16,0 0-18 15,41 6-4-15,-26 0-8 16,-4-1-4-16,0 0-2 16,-5-3 0-16,-1 4-1 0,-3-4-13 15,-2 1-60 1,0-3-84-16,0 0-131 0</inkml:trace>
  <inkml:trace contextRef="#ctx0" brushRef="#br0" timeOffset="2035.39">2368 12809 792 0,'0'0'38'0,"0"0"-38"16,0 0 9-16,0 0 4 15,0 0-11-15,0 0-2 0,20 96-2 16,-12-83-47 0,-3-5-197-16</inkml:trace>
  <inkml:trace contextRef="#ctx0" brushRef="#br0" timeOffset="7816.82">6721 14584 950 0,'0'0'145'0,"0"0"-134"16,0 0-11-16,0 0-8 16,0 0-22-16,0 0-77 15,0 0-109-15,6 78-119 16</inkml:trace>
  <inkml:trace contextRef="#ctx0" brushRef="#br0" timeOffset="8066.46">6721 14584 815 0,'36'-126'180'0,"-34"126"-144"15,1 0-27-15,1 8 1 16,5 10 0-16,1-2-6 16,-1 0-3-16,-2-6-1 15,-3 0 0-15,-2-4 0 16,0 0 0-16,-2-2-3 15,0-4-21-15,0 0-19 0,0 0-23 16,0 0-78 0,-2-4-48-16,-4-10 25 0,2-4 7 15,4-4-51 1</inkml:trace>
  <inkml:trace contextRef="#ctx0" brushRef="#br0" timeOffset="8217.54">6790 14395 108 0,'0'0'286'0,"0"0"-68"0,0 0-19 16,0 0-52-16,0 0-43 15,0 0-59-15,-2 37-17 16,2-3-13-16,9-2-4 16,3-4-7-16,-3-2-4 15,2-8-3-15,1-12-41 16,-4-2-134-16,-2-4-300 16</inkml:trace>
  <inkml:trace contextRef="#ctx0" brushRef="#br0" timeOffset="9518.01">11772 14554 632 0,'0'0'198'15,"0"0"-160"-15,0 0-7 16,0 0-1-16,0 0-1 15,0 0 3-15,-3 60-9 16,3-38-14-16,0 0-6 0,0 1-1 16,-7-5-4-1,2-5-1-15,-1-3-24 0,1-2-34 16,3-6-38 0,2-2-47-16,0 0-8 0,0 0 21 15,5-10 75-15,8-8-10 16,-1-4 10-16,-1 0 58 15,1 4 5-15,-3 0 44 16,-2 10 31-16,1 1 4 16,-5 7-4-16,-1-3 11 15,0 3-39-15,0 0-32 16,0 0-16-16,0 0-4 16,3 0-6-16,1 3-44 0,-6 2-12 15,2-3 33 1,-2-2-4-16,0 0 17 0,0 0 16 15,0 0 27-15,0 0 20 16,0 0 18-16,-2 0-8 16,-9 3 7-16,5 14-16 15,-4 7-17-15,0 2 3 16,0-3 0-16,2-2-23 16,1-8-11-16,1-1-1 15,5-1-29-15,-3-11-61 16,2 0-202-16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5-10T09:54:21.652"/>
    </inkml:context>
    <inkml:brush xml:id="br0">
      <inkml:brushProperty name="width" value="0.05292" units="cm"/>
      <inkml:brushProperty name="height" value="0.05292" units="cm"/>
      <inkml:brushProperty name="color" value="#FF0000"/>
    </inkml:brush>
  </inkml:definitions>
  <inkml:trace contextRef="#ctx0" brushRef="#br0">2975 8025 22 0,'0'0'32'0,"0"0"-27"0,0 0 0 16,0 0 16-16,0 0-5 16,0 0 1-16,0 0 19 15,0 0 11-15,0 0-28 16,26-19 2-16,-23 19-2 15,-3-6 2-15,3 3 10 16,1-4-9-16,0 0 6 16,1-2 0-16,-1 2 5 15,0-2-8-15,-2 0-3 0,0 3 9 16,4-2-14-16,-4 0 5 16,0 2 33-1,0 1-28-15,-2 3 1 0,0 2 2 16,0 0-4-16,0 0-6 15,0 0-5-15,0 0-15 16,0 0 1-16,0 0 2 16,0 9 6-16,0 3 1 15,0-2-2-15,0-1 5 16,5 2 5-16,1-4 4 16,1 0 3-16,2 0-10 15,2 0 0-15,-1-1 3 16,5 1 0-16,2-5-3 0,3 3-5 15,12-3 3-15,7-2 8 16,15 0-2 0,15-29 6-16,20-10-2 0,27-11 0 15,16-11-7-15,10-5-10 16,10-4 0-16,-5-2-3 16,-6 4 2-16,-14 5-4 15,-23 7-1-15,-19 10 1 16,-22 11 0-16,-20 10-1 15,-18 11 0-15,-17 8 0 16,-8 6 0-16,0 0-83 16,-31 22-68-16,-12 10-52 15,-8 2-181-15</inkml:trace>
  <inkml:trace contextRef="#ctx0" brushRef="#br0" timeOffset="9932.54">3421 6110 295 0,'0'0'155'0,"0"0"-53"16,0 0-74-16,0 0 17 15,0 0-8-15,0 0-11 16,23-115 4-16,-17 103-21 15,-4 3 5-15,0-2-2 16,-2 3 13-16,0 6-8 16,0-2-1-16,0 4 6 15,0 0-15-15,0 0-3 16,0 0-4-16,0 0-1 0,0 0-4 16,0 17 5-16,0 7 2 15,0 7 1-15,2 10 4 16,-2 5 0-16,2 3 0 15,-2 4-5-15,0-2 3 16,0 2-2-16,3-4 0 16,0-3-2-16,-1-6-1 15,2-4 2-15,-2-4-2 16,0-6-1-16,-2-3-3 16,0-4-66-16,0-7-17 15,0-12-58-15,5 0-45 16,9-19 2-16</inkml:trace>
  <inkml:trace contextRef="#ctx0" brushRef="#br0" timeOffset="10249.33">3983 5641 445 0,'0'0'4'16,"0"0"-4"-16,0 0 6 0,0 0-3 15,0 0-1-15,0 0 12 16,-98 106 15-16,95-69-10 16,3 7-7-16,0-3 0 15,0 3 5-15,0 1-7 16,2-4-1-16,6 3-4 15,-4 0-2-15,0 1-3 16,-4 3-1-16,0 1 1 16,0 0-6-16,-8 3-38 15,-17-1-72-15,-8-9-89 16</inkml:trace>
  <inkml:trace contextRef="#ctx0" brushRef="#br0" timeOffset="10464.72">3261 6461 585 0,'0'0'0'0,"0"0"-10"15,0 0 10-15,0 0 0 16,155-22 0-16,-87 20-23 15,7-3-79-15,-1-2-34 16,-8-7-178-16</inkml:trace>
  <inkml:trace contextRef="#ctx0" brushRef="#br0" timeOffset="10664.15">4324 6082 597 0,'0'0'0'16,"0"0"-23"-16,-131 34 23 16,73-2 5-16,6 6-4 15,3 5 2-15,4 3-3 16,10 1-4-16,6-2-5 16,9-5-33-16,-1 0-98 15,6-11-116-15</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02-01T09:59:22.958"/>
    </inkml:context>
    <inkml:brush xml:id="br0">
      <inkml:brushProperty name="width" value="0.05292" units="cm"/>
      <inkml:brushProperty name="height" value="0.05292" units="cm"/>
      <inkml:brushProperty name="color" value="#FF0000"/>
    </inkml:brush>
  </inkml:definitions>
  <inkml:trace contextRef="#ctx0" brushRef="#br0">13693 843 0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Lecture-1</a:t>
            </a:r>
          </a:p>
        </p:txBody>
      </p:sp>
      <p:sp>
        <p:nvSpPr>
          <p:cNvPr id="348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2B1E8206-5749-452C-870E-52CFAFB5846C}" type="datetimeFigureOut">
              <a:rPr lang="en-US" smtClean="0"/>
              <a:pPr>
                <a:defRPr/>
              </a:pPr>
              <a:t>4/26/2026</a:t>
            </a:fld>
            <a:endParaRPr lang="en-US"/>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8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8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pPr>
              <a:defRPr/>
            </a:pPr>
            <a:fld id="{29515144-DAD1-4D30-BCF8-73F71ACED815}" type="slidenum">
              <a:rPr lang="en-US"/>
              <a:pPr>
                <a:defRPr/>
              </a:pPr>
              <a:t>‹#›</a:t>
            </a:fld>
            <a:endParaRPr lang="en-US"/>
          </a:p>
        </p:txBody>
      </p:sp>
    </p:spTree>
    <p:extLst>
      <p:ext uri="{BB962C8B-B14F-4D97-AF65-F5344CB8AC3E}">
        <p14:creationId xmlns:p14="http://schemas.microsoft.com/office/powerpoint/2010/main" val="114376957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1</a:t>
            </a:fld>
            <a:endParaRPr lang="en-US"/>
          </a:p>
        </p:txBody>
      </p:sp>
    </p:spTree>
    <p:extLst>
      <p:ext uri="{BB962C8B-B14F-4D97-AF65-F5344CB8AC3E}">
        <p14:creationId xmlns:p14="http://schemas.microsoft.com/office/powerpoint/2010/main" val="596171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2</a:t>
            </a:fld>
            <a:endParaRPr lang="en-US"/>
          </a:p>
        </p:txBody>
      </p:sp>
    </p:spTree>
    <p:extLst>
      <p:ext uri="{BB962C8B-B14F-4D97-AF65-F5344CB8AC3E}">
        <p14:creationId xmlns:p14="http://schemas.microsoft.com/office/powerpoint/2010/main" val="217281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lnSpc>
                <a:spcPct val="150000"/>
              </a:lnSpc>
              <a:buFont typeface="Arial" panose="020B0604020202020204" pitchFamily="34" charset="0"/>
              <a:buChar char="•"/>
            </a:pPr>
            <a:endParaRPr lang="en-IN"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3</a:t>
            </a:fld>
            <a:endParaRPr lang="en-US"/>
          </a:p>
        </p:txBody>
      </p:sp>
    </p:spTree>
    <p:extLst>
      <p:ext uri="{BB962C8B-B14F-4D97-AF65-F5344CB8AC3E}">
        <p14:creationId xmlns:p14="http://schemas.microsoft.com/office/powerpoint/2010/main" val="27236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Grp="1" noRot="1" noChangeAspect="1" noChangeArrowheads="1" noTextEdit="1"/>
          </p:cNvSpPr>
          <p:nvPr>
            <p:ph type="sldImg"/>
          </p:nvPr>
        </p:nvSpPr>
        <p:spPr>
          <a:ln/>
        </p:spPr>
      </p:sp>
      <p:sp>
        <p:nvSpPr>
          <p:cNvPr id="83456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796365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fcdaafc70a_0_6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fcdaafc70a_0_64: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fcdaafc70a_0_64:notes"/>
          <p:cNvSpPr txBox="1">
            <a:spLocks noGrp="1"/>
          </p:cNvSpPr>
          <p:nvPr>
            <p:ph type="sldNum" idx="12"/>
          </p:nvPr>
        </p:nvSpPr>
        <p:spPr>
          <a:xfrm>
            <a:off x="5180013" y="6513513"/>
            <a:ext cx="39624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extLst>
      <p:ext uri="{BB962C8B-B14F-4D97-AF65-F5344CB8AC3E}">
        <p14:creationId xmlns:p14="http://schemas.microsoft.com/office/powerpoint/2010/main" val="1825533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8"/>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1pPr>
            <a:lvl2pPr eaLnBrk="0" hangingPunc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2pPr>
            <a:lvl3pPr eaLnBrk="0" hangingPunc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3pPr>
            <a:lvl4pPr eaLnBrk="0" hangingPunc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4pPr>
            <a:lvl5pPr eaLnBrk="0" hangingPunc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2400">
                <a:solidFill>
                  <a:schemeClr val="bg1"/>
                </a:solidFill>
                <a:latin typeface="Arial" panose="020B0604020202020204" pitchFamily="34" charset="0"/>
                <a:ea typeface="Microsoft YaHei" panose="020B0503020204020204" pitchFamily="34" charset="-122"/>
              </a:defRPr>
            </a:lvl9pPr>
          </a:lstStyle>
          <a:p>
            <a:pPr eaLnBrk="1" hangingPunct="1"/>
            <a:fld id="{DAA24E07-CEDC-4CF4-A93B-6FEA4DC633D9}" type="slidenum">
              <a:rPr lang="en-US" altLang="en-US" sz="1200">
                <a:solidFill>
                  <a:srgbClr val="000000"/>
                </a:solidFill>
                <a:latin typeface="Lucida Sans" panose="020B0602030504020204" pitchFamily="34" charset="0"/>
                <a:ea typeface="Arial Unicode MS" panose="020B0604020202020204" pitchFamily="34" charset="-128"/>
              </a:rPr>
              <a:pPr eaLnBrk="1" hangingPunct="1"/>
              <a:t>9</a:t>
            </a:fld>
            <a:endParaRPr lang="en-US" altLang="en-US" sz="1200">
              <a:solidFill>
                <a:srgbClr val="000000"/>
              </a:solidFill>
              <a:latin typeface="Lucida Sans" panose="020B0602030504020204" pitchFamily="34" charset="0"/>
              <a:ea typeface="Arial Unicode MS" panose="020B0604020202020204" pitchFamily="34" charset="-128"/>
            </a:endParaRPr>
          </a:p>
        </p:txBody>
      </p:sp>
      <p:sp>
        <p:nvSpPr>
          <p:cNvPr id="24579" name="Rectangle 1"/>
          <p:cNvSpPr>
            <a:spLocks noGrp="1" noRot="1" noChangeAspect="1" noChangeArrowheads="1" noTextEdit="1"/>
          </p:cNvSpPr>
          <p:nvPr>
            <p:ph type="sldImg"/>
          </p:nvPr>
        </p:nvSpPr>
        <p:spPr>
          <a:xfrm>
            <a:off x="1143000" y="685800"/>
            <a:ext cx="4572000" cy="3429000"/>
          </a:xfrm>
          <a:ln/>
        </p:spPr>
      </p:sp>
      <p:sp>
        <p:nvSpPr>
          <p:cNvPr id="24580" name="Rectangle 2"/>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26802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Lucida Sans"/>
                <a:ea typeface="Lucida Sans"/>
                <a:cs typeface="Lucida Sans"/>
                <a:sym typeface="Lucida Sans"/>
              </a:rPr>
              <a:t>11</a:t>
            </a:fld>
            <a:endParaRPr sz="1200">
              <a:solidFill>
                <a:srgbClr val="000000"/>
              </a:solidFill>
              <a:latin typeface="Lucida Sans"/>
              <a:ea typeface="Lucida Sans"/>
              <a:cs typeface="Lucida Sans"/>
              <a:sym typeface="Lucida Sans"/>
            </a:endParaRPr>
          </a:p>
        </p:txBody>
      </p:sp>
      <p:sp>
        <p:nvSpPr>
          <p:cNvPr id="393" name="Google Shape;39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4" name="Google Shape;394;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178700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Lucida Sans"/>
                <a:ea typeface="Lucida Sans"/>
                <a:cs typeface="Lucida Sans"/>
                <a:sym typeface="Lucida Sans"/>
              </a:rPr>
              <a:t>12</a:t>
            </a:fld>
            <a:endParaRPr sz="1200">
              <a:solidFill>
                <a:srgbClr val="000000"/>
              </a:solidFill>
              <a:latin typeface="Lucida Sans"/>
              <a:ea typeface="Lucida Sans"/>
              <a:cs typeface="Lucida Sans"/>
              <a:sym typeface="Lucida Sans"/>
            </a:endParaRPr>
          </a:p>
        </p:txBody>
      </p:sp>
      <p:sp>
        <p:nvSpPr>
          <p:cNvPr id="400" name="Google Shape;40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1" name="Google Shape;401;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513875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Lucida Sans"/>
                <a:ea typeface="Lucida Sans"/>
                <a:cs typeface="Lucida Sans"/>
                <a:sym typeface="Lucida Sans"/>
              </a:rPr>
              <a:t>13</a:t>
            </a:fld>
            <a:endParaRPr sz="1200">
              <a:solidFill>
                <a:srgbClr val="000000"/>
              </a:solidFill>
              <a:latin typeface="Lucida Sans"/>
              <a:ea typeface="Lucida Sans"/>
              <a:cs typeface="Lucida Sans"/>
              <a:sym typeface="Lucida Sans"/>
            </a:endParaRPr>
          </a:p>
        </p:txBody>
      </p:sp>
      <p:sp>
        <p:nvSpPr>
          <p:cNvPr id="407" name="Google Shape;40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279955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Lucida Sans"/>
                <a:ea typeface="Lucida Sans"/>
                <a:cs typeface="Lucida Sans"/>
                <a:sym typeface="Lucida Sans"/>
              </a:rPr>
              <a:t>14</a:t>
            </a:fld>
            <a:endParaRPr sz="1200">
              <a:solidFill>
                <a:srgbClr val="000000"/>
              </a:solidFill>
              <a:latin typeface="Lucida Sans"/>
              <a:ea typeface="Lucida Sans"/>
              <a:cs typeface="Lucida Sans"/>
              <a:sym typeface="Lucida Sans"/>
            </a:endParaRPr>
          </a:p>
        </p:txBody>
      </p:sp>
      <p:sp>
        <p:nvSpPr>
          <p:cNvPr id="414" name="Google Shape;41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5" name="Google Shape;415;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752596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46" name="Google Shape;44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262862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dirty="0"/>
          </a:p>
        </p:txBody>
      </p:sp>
      <p:sp>
        <p:nvSpPr>
          <p:cNvPr id="453" name="Google Shape;45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369882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17</a:t>
            </a:fld>
            <a:endParaRPr sz="1200">
              <a:solidFill>
                <a:srgbClr val="000000"/>
              </a:solidFill>
              <a:latin typeface="Arial"/>
              <a:ea typeface="Arial"/>
              <a:cs typeface="Arial"/>
              <a:sym typeface="Arial"/>
            </a:endParaRPr>
          </a:p>
        </p:txBody>
      </p:sp>
      <p:sp>
        <p:nvSpPr>
          <p:cNvPr id="459" name="Google Shape;459;p19:notes"/>
          <p:cNvSpPr>
            <a:spLocks noGrp="1" noRot="1" noChangeAspect="1"/>
          </p:cNvSpPr>
          <p:nvPr>
            <p:ph type="sldImg" idx="2"/>
          </p:nvPr>
        </p:nvSpPr>
        <p:spPr>
          <a:xfrm>
            <a:off x="1149350" y="698500"/>
            <a:ext cx="4656138" cy="34909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0" name="Google Shape;460;p19:notes"/>
          <p:cNvSpPr txBox="1">
            <a:spLocks noGrp="1"/>
          </p:cNvSpPr>
          <p:nvPr>
            <p:ph type="body" idx="1"/>
          </p:nvPr>
        </p:nvSpPr>
        <p:spPr>
          <a:xfrm>
            <a:off x="695325" y="4421188"/>
            <a:ext cx="5564188" cy="418941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3694417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18</a:t>
            </a:fld>
            <a:endParaRPr sz="1200">
              <a:solidFill>
                <a:srgbClr val="000000"/>
              </a:solidFill>
              <a:latin typeface="Arial"/>
              <a:ea typeface="Arial"/>
              <a:cs typeface="Arial"/>
              <a:sym typeface="Arial"/>
            </a:endParaRPr>
          </a:p>
        </p:txBody>
      </p:sp>
      <p:sp>
        <p:nvSpPr>
          <p:cNvPr id="467" name="Google Shape;467;p20:notes"/>
          <p:cNvSpPr>
            <a:spLocks noGrp="1" noRot="1" noChangeAspect="1"/>
          </p:cNvSpPr>
          <p:nvPr>
            <p:ph type="sldImg" idx="2"/>
          </p:nvPr>
        </p:nvSpPr>
        <p:spPr>
          <a:xfrm>
            <a:off x="1149350" y="698500"/>
            <a:ext cx="4656138" cy="34909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20:notes"/>
          <p:cNvSpPr txBox="1">
            <a:spLocks noGrp="1"/>
          </p:cNvSpPr>
          <p:nvPr>
            <p:ph type="body" idx="1"/>
          </p:nvPr>
        </p:nvSpPr>
        <p:spPr>
          <a:xfrm>
            <a:off x="695325" y="4421188"/>
            <a:ext cx="5564188" cy="418941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3161322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2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19</a:t>
            </a:fld>
            <a:endParaRPr sz="1200">
              <a:solidFill>
                <a:srgbClr val="000000"/>
              </a:solidFill>
              <a:latin typeface="Arial"/>
              <a:ea typeface="Arial"/>
              <a:cs typeface="Arial"/>
              <a:sym typeface="Arial"/>
            </a:endParaRPr>
          </a:p>
        </p:txBody>
      </p:sp>
      <p:sp>
        <p:nvSpPr>
          <p:cNvPr id="474" name="Google Shape;474;p21:notes"/>
          <p:cNvSpPr>
            <a:spLocks noGrp="1" noRot="1" noChangeAspect="1"/>
          </p:cNvSpPr>
          <p:nvPr>
            <p:ph type="sldImg" idx="2"/>
          </p:nvPr>
        </p:nvSpPr>
        <p:spPr>
          <a:xfrm>
            <a:off x="1149350" y="698500"/>
            <a:ext cx="4656138" cy="34909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5" name="Google Shape;475;p21:notes"/>
          <p:cNvSpPr txBox="1">
            <a:spLocks noGrp="1"/>
          </p:cNvSpPr>
          <p:nvPr>
            <p:ph type="body" idx="1"/>
          </p:nvPr>
        </p:nvSpPr>
        <p:spPr>
          <a:xfrm>
            <a:off x="695325" y="4421188"/>
            <a:ext cx="5564188" cy="418941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1896612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2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Arial"/>
                <a:ea typeface="Arial"/>
                <a:cs typeface="Arial"/>
                <a:sym typeface="Arial"/>
              </a:rPr>
              <a:t>20</a:t>
            </a:fld>
            <a:endParaRPr sz="1200">
              <a:solidFill>
                <a:srgbClr val="000000"/>
              </a:solidFill>
              <a:latin typeface="Arial"/>
              <a:ea typeface="Arial"/>
              <a:cs typeface="Arial"/>
              <a:sym typeface="Arial"/>
            </a:endParaRPr>
          </a:p>
        </p:txBody>
      </p:sp>
      <p:sp>
        <p:nvSpPr>
          <p:cNvPr id="481" name="Google Shape;481;p22:notes"/>
          <p:cNvSpPr>
            <a:spLocks noGrp="1" noRot="1" noChangeAspect="1"/>
          </p:cNvSpPr>
          <p:nvPr>
            <p:ph type="sldImg" idx="2"/>
          </p:nvPr>
        </p:nvSpPr>
        <p:spPr>
          <a:xfrm>
            <a:off x="1149350" y="698500"/>
            <a:ext cx="4656138" cy="34909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22:notes"/>
          <p:cNvSpPr txBox="1">
            <a:spLocks noGrp="1"/>
          </p:cNvSpPr>
          <p:nvPr>
            <p:ph type="body" idx="1"/>
          </p:nvPr>
        </p:nvSpPr>
        <p:spPr>
          <a:xfrm>
            <a:off x="695325" y="4421188"/>
            <a:ext cx="5564188" cy="418941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082845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2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Lucida Sans"/>
                <a:ea typeface="Lucida Sans"/>
                <a:cs typeface="Lucida Sans"/>
                <a:sym typeface="Lucida Sans"/>
              </a:rPr>
              <a:t>21</a:t>
            </a:fld>
            <a:endParaRPr sz="1200">
              <a:solidFill>
                <a:srgbClr val="000000"/>
              </a:solidFill>
              <a:latin typeface="Lucida Sans"/>
              <a:ea typeface="Lucida Sans"/>
              <a:cs typeface="Lucida Sans"/>
              <a:sym typeface="Lucida Sans"/>
            </a:endParaRPr>
          </a:p>
        </p:txBody>
      </p:sp>
      <p:sp>
        <p:nvSpPr>
          <p:cNvPr id="487" name="Google Shape;48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8" name="Google Shape;488;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3921526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rgbClr val="000000"/>
                </a:solidFill>
                <a:latin typeface="Lucida Sans"/>
                <a:ea typeface="Lucida Sans"/>
                <a:cs typeface="Lucida Sans"/>
                <a:sym typeface="Lucida Sans"/>
              </a:rPr>
              <a:t>22</a:t>
            </a:fld>
            <a:endParaRPr sz="1200">
              <a:solidFill>
                <a:srgbClr val="000000"/>
              </a:solidFill>
              <a:latin typeface="Lucida Sans"/>
              <a:ea typeface="Lucida Sans"/>
              <a:cs typeface="Lucida Sans"/>
              <a:sym typeface="Lucida Sans"/>
            </a:endParaRPr>
          </a:p>
        </p:txBody>
      </p:sp>
      <p:sp>
        <p:nvSpPr>
          <p:cNvPr id="494" name="Google Shape;49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5" name="Google Shape;495;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786773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9" name="Google Shape;17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973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0"/>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735013" algn="l"/>
                <a:tab pos="1470025" algn="l"/>
                <a:tab pos="2206625" algn="l"/>
                <a:tab pos="2941638"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fld id="{ECD330F4-B095-465F-8201-C1819C15B6A0}" type="slidenum">
              <a:rPr lang="en-US" altLang="en-US" sz="1200">
                <a:solidFill>
                  <a:srgbClr val="000000"/>
                </a:solidFill>
                <a:latin typeface="Arial" panose="020B0604020202020204" pitchFamily="34" charset="0"/>
                <a:ea typeface="Arial Unicode MS" panose="020B0604020202020204" pitchFamily="34" charset="-128"/>
              </a:rPr>
              <a:pPr eaLnBrk="1" hangingPunct="1"/>
              <a:t>35</a:t>
            </a:fld>
            <a:endParaRPr lang="en-US" altLang="en-US" sz="1200">
              <a:solidFill>
                <a:srgbClr val="000000"/>
              </a:solidFill>
              <a:latin typeface="Arial" panose="020B0604020202020204" pitchFamily="34" charset="0"/>
              <a:ea typeface="Arial Unicode MS" panose="020B0604020202020204" pitchFamily="34" charset="-128"/>
            </a:endParaRPr>
          </a:p>
        </p:txBody>
      </p:sp>
      <p:sp>
        <p:nvSpPr>
          <p:cNvPr id="26627" name="Rectangle 1"/>
          <p:cNvSpPr>
            <a:spLocks noGrp="1" noRot="1" noChangeAspect="1" noChangeArrowheads="1" noTextEdit="1"/>
          </p:cNvSpPr>
          <p:nvPr>
            <p:ph type="sldImg"/>
          </p:nvPr>
        </p:nvSpPr>
        <p:spPr>
          <a:xfrm>
            <a:off x="1149350" y="698500"/>
            <a:ext cx="4656138" cy="3490913"/>
          </a:xfrm>
          <a:ln/>
        </p:spPr>
      </p:sp>
      <p:sp>
        <p:nvSpPr>
          <p:cNvPr id="26628" name="Text Box 2"/>
          <p:cNvSpPr>
            <a:spLocks noGrp="1" noChangeArrowheads="1"/>
          </p:cNvSpPr>
          <p:nvPr>
            <p:ph type="body" idx="1"/>
          </p:nvPr>
        </p:nvSpPr>
        <p:spPr>
          <a:xfrm>
            <a:off x="927100" y="4421188"/>
            <a:ext cx="5100638" cy="4718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63"/>
              </a:spcBef>
              <a:buClrTx/>
              <a:tabLst>
                <a:tab pos="0" algn="l"/>
                <a:tab pos="454025" algn="l"/>
                <a:tab pos="911225" algn="l"/>
                <a:tab pos="1366838" algn="l"/>
                <a:tab pos="1824038" algn="l"/>
                <a:tab pos="2281238" algn="l"/>
                <a:tab pos="2736850" algn="l"/>
                <a:tab pos="3194050" algn="l"/>
                <a:tab pos="3649663" algn="l"/>
                <a:tab pos="4106863" algn="l"/>
                <a:tab pos="4564063" algn="l"/>
                <a:tab pos="5019675" algn="l"/>
                <a:tab pos="5476875" algn="l"/>
                <a:tab pos="5932488" algn="l"/>
                <a:tab pos="6389688" algn="l"/>
                <a:tab pos="6846888" algn="l"/>
                <a:tab pos="7302500" algn="l"/>
                <a:tab pos="7759700" algn="l"/>
                <a:tab pos="8216900" algn="l"/>
                <a:tab pos="8672513" algn="l"/>
                <a:tab pos="9129713" algn="l"/>
              </a:tabLst>
            </a:pPr>
            <a:endParaRPr lang="en-IN" altLang="en-US" dirty="0">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068584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75917DB-A1E2-4513-A045-29356A322F9F}" type="slidenum">
              <a:rPr lang="en-IN" smtClean="0"/>
              <a:t>45</a:t>
            </a:fld>
            <a:endParaRPr lang="en-IN"/>
          </a:p>
        </p:txBody>
      </p:sp>
    </p:spTree>
    <p:extLst>
      <p:ext uri="{BB962C8B-B14F-4D97-AF65-F5344CB8AC3E}">
        <p14:creationId xmlns:p14="http://schemas.microsoft.com/office/powerpoint/2010/main" val="1819456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27" name="Google Shape;627;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525307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1" name="Google Shape;50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158625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7" name="Google Shape;50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940834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39" name="Google Shape;63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628059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14" name="TextBox 1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algn="r">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6"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2272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GB"/>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9A1433-2BD6-474A-B042-E5F0856EF487}" type="slidenum">
              <a:rPr lang="en-GB"/>
              <a:pPr>
                <a:defRPr/>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a:defRPr/>
            </a:pPr>
            <a:fld id="{78B23240-9A46-45DC-80D8-72E6138EF4CC}" type="slidenum">
              <a:rPr lang="en-IN"/>
              <a:pPr>
                <a:defRPr/>
              </a:pPr>
              <a:t>‹#›</a:t>
            </a:fld>
            <a:endParaRPr lang="en-I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BD8A489-38BD-40B0-9083-7E99DA903139}" type="slidenum">
              <a:rPr lang="en-IN"/>
              <a:pPr>
                <a:defRPr/>
              </a:pPr>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D38CB16-FC74-415F-A778-AFAE7BEAFAF6}" type="slidenum">
              <a:rPr lang="en-IN"/>
              <a:pPr>
                <a:defRPr/>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6FB1E71-4690-4FD4-BBCF-A3779CD52565}" type="slidenum">
              <a:rPr lang="en-IN"/>
              <a:pPr>
                <a:defRPr/>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FD64774-6889-4F3F-87B3-82AF987C97C8}" type="slidenum">
              <a:rPr lang="en-IN"/>
              <a:pPr>
                <a:defRPr/>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02715D1-A74F-4481-8AFF-0CF19F1A4227}" type="slidenum">
              <a:rPr lang="en-IN"/>
              <a:pPr>
                <a:defRPr/>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B936656-7811-4E10-ABA8-C743BA19F43F}" type="slidenum">
              <a:rPr lang="en-IN"/>
              <a:pPr>
                <a:defRPr/>
              </a:pPr>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A0E505A-A9CD-4645-BB6F-663BC8294A50}" type="slidenum">
              <a:rPr lang="en-IN"/>
              <a:pPr>
                <a:defRPr/>
              </a:pPr>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0FB21827-D599-4054-9CED-35F966873CDF}" type="slidenum">
              <a:rPr lang="en-IN"/>
              <a:pPr>
                <a:defRPr/>
              </a:pPr>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6872A46-881B-4CE5-A377-400F5AC5756F}" type="slidenum">
              <a:rPr lang="en-IN"/>
              <a:pPr>
                <a:defRPr/>
              </a:pPr>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5EFCE0F-DF2D-4465-B568-7505733AD931}" type="slidenum">
              <a:rPr lang="en-IN"/>
              <a:pPr>
                <a:defRPr/>
              </a:pPr>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smtClean="0"/>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smtClean="0"/>
            </a:lvl1pPr>
          </a:lstStyle>
          <a:p>
            <a:pPr>
              <a:defRPr/>
            </a:pPr>
            <a:fld id="{578891D9-9DBF-4503-8954-7823A473F5F2}" type="slidenum">
              <a:rPr lang="en-IN"/>
              <a:pPr>
                <a:defRPr/>
              </a:pPr>
              <a:t>‹#›</a:t>
            </a:fld>
            <a:endParaRPr lang="en-IN"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7754B72-864B-4419-8417-A1CD80834F11}" type="slidenum">
              <a:rPr lang="en-IN"/>
              <a:pPr>
                <a:defRPr/>
              </a:pPr>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3CC4AA0-627E-417E-B63D-B3DF9B458D26}" type="slidenum">
              <a:rPr lang="en-IN"/>
              <a:pPr>
                <a:defRPr/>
              </a:pPr>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5947CB-2DD6-480A-BB8A-9DB725A59BE4}" type="slidenum">
              <a:rPr lang="en-IN"/>
              <a:pPr>
                <a:defRPr/>
              </a:pPr>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A44F58-842A-4939-AD5D-04575B8B76C1}" type="slidenum">
              <a:rPr lang="en-IN"/>
              <a:pPr>
                <a:defRPr/>
              </a:pPr>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062B2FC-FC80-4EAE-B114-A316EDBA5B6E}" type="slidenum">
              <a:rPr lang="en-IN"/>
              <a:pPr>
                <a:defRPr/>
              </a:pPr>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333D8C1-C48A-434B-B05D-32EFC992A06D}" type="slidenum">
              <a:rPr lang="en-IN"/>
              <a:pPr>
                <a:defRPr/>
              </a:pPr>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ABC52F0-3AC6-4B70-9B7C-80128C5BC8D3}" type="slidenum">
              <a:rPr lang="en-IN"/>
              <a:pPr>
                <a:defRPr/>
              </a:pPr>
              <a:t>‹#›</a:t>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04F594-7693-4705-8E88-CEADBE86DA53}" type="slidenum">
              <a:rPr lang="en-IN"/>
              <a:pPr>
                <a:defRPr/>
              </a:pPr>
              <a:t>‹#›</a:t>
            </a:fld>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0806891-6D43-46F3-BFF0-1270190D4E6C}" type="slidenum">
              <a:rPr lang="en-IN"/>
              <a:pPr>
                <a:defRPr/>
              </a:pPr>
              <a:t>‹#›</a:t>
            </a:fld>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defRPr/>
            </a:pPr>
            <a:endParaRPr lang="en-US"/>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446205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832131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itle and Content">
  <p:cSld name="3_Title and Content">
    <p:spTree>
      <p:nvGrpSpPr>
        <p:cNvPr id="1" name="Shape 25"/>
        <p:cNvGrpSpPr/>
        <p:nvPr/>
      </p:nvGrpSpPr>
      <p:grpSpPr>
        <a:xfrm>
          <a:off x="0" y="0"/>
          <a:ext cx="0" cy="0"/>
          <a:chOff x="0" y="0"/>
          <a:chExt cx="0" cy="0"/>
        </a:xfrm>
      </p:grpSpPr>
      <p:sp>
        <p:nvSpPr>
          <p:cNvPr id="26" name="Google Shape;26;p3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IN"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7" name="Google Shape;27;p38"/>
          <p:cNvGrpSpPr/>
          <p:nvPr/>
        </p:nvGrpSpPr>
        <p:grpSpPr>
          <a:xfrm>
            <a:off x="2084388" y="6550025"/>
            <a:ext cx="7059612" cy="49213"/>
            <a:chOff x="2083888" y="6550671"/>
            <a:chExt cx="7060112" cy="48665"/>
          </a:xfrm>
        </p:grpSpPr>
        <p:sp>
          <p:nvSpPr>
            <p:cNvPr id="28" name="Google Shape;28;p3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9" name="Google Shape;29;p3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0" name="Google Shape;30;p3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31" name="Google Shape;31;p38"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32" name="Google Shape;32;p38"/>
          <p:cNvGrpSpPr/>
          <p:nvPr/>
        </p:nvGrpSpPr>
        <p:grpSpPr>
          <a:xfrm>
            <a:off x="2133600" y="6553200"/>
            <a:ext cx="7010400" cy="46038"/>
            <a:chOff x="1905000" y="6553200"/>
            <a:chExt cx="7010400" cy="45719"/>
          </a:xfrm>
        </p:grpSpPr>
        <p:sp>
          <p:nvSpPr>
            <p:cNvPr id="33" name="Google Shape;33;p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4" name="Google Shape;34;p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5" name="Google Shape;35;p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36" name="Google Shape;36;p38"/>
          <p:cNvGrpSpPr/>
          <p:nvPr/>
        </p:nvGrpSpPr>
        <p:grpSpPr>
          <a:xfrm>
            <a:off x="0" y="1295400"/>
            <a:ext cx="7010400" cy="46038"/>
            <a:chOff x="1905000" y="6553200"/>
            <a:chExt cx="7010400" cy="45719"/>
          </a:xfrm>
        </p:grpSpPr>
        <p:sp>
          <p:nvSpPr>
            <p:cNvPr id="37" name="Google Shape;37;p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8" name="Google Shape;38;p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9" name="Google Shape;39;p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40" name="Google Shape;40;p3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3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4913147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2_Title and Content">
  <p:cSld name="3_Title and Content">
    <p:spTree>
      <p:nvGrpSpPr>
        <p:cNvPr id="1" name="Shape 236"/>
        <p:cNvGrpSpPr/>
        <p:nvPr/>
      </p:nvGrpSpPr>
      <p:grpSpPr>
        <a:xfrm>
          <a:off x="0" y="0"/>
          <a:ext cx="0" cy="0"/>
          <a:chOff x="0" y="0"/>
          <a:chExt cx="0" cy="0"/>
        </a:xfrm>
      </p:grpSpPr>
      <p:pic>
        <p:nvPicPr>
          <p:cNvPr id="237" name="Google Shape;237;p55"/>
          <p:cNvPicPr preferRelativeResize="0"/>
          <p:nvPr/>
        </p:nvPicPr>
        <p:blipFill rotWithShape="1">
          <a:blip r:embed="rId2">
            <a:alphaModFix amt="50000"/>
          </a:blip>
          <a:srcRect l="177" t="-542" r="176" b="-541"/>
          <a:stretch/>
        </p:blipFill>
        <p:spPr>
          <a:xfrm>
            <a:off x="3563108" y="2223656"/>
            <a:ext cx="2017786" cy="2729344"/>
          </a:xfrm>
          <a:prstGeom prst="rect">
            <a:avLst/>
          </a:prstGeom>
          <a:noFill/>
          <a:ln>
            <a:noFill/>
          </a:ln>
        </p:spPr>
      </p:pic>
      <p:pic>
        <p:nvPicPr>
          <p:cNvPr id="238" name="Google Shape;238;p55"/>
          <p:cNvPicPr preferRelativeResize="0"/>
          <p:nvPr/>
        </p:nvPicPr>
        <p:blipFill rotWithShape="1">
          <a:blip r:embed="rId3">
            <a:alphaModFix/>
          </a:blip>
          <a:srcRect/>
          <a:stretch/>
        </p:blipFill>
        <p:spPr>
          <a:xfrm>
            <a:off x="0" y="6817420"/>
            <a:ext cx="9144000" cy="40580"/>
          </a:xfrm>
          <a:prstGeom prst="rect">
            <a:avLst/>
          </a:prstGeom>
          <a:noFill/>
          <a:ln>
            <a:noFill/>
          </a:ln>
        </p:spPr>
      </p:pic>
      <p:pic>
        <p:nvPicPr>
          <p:cNvPr id="239" name="Google Shape;239;p55"/>
          <p:cNvPicPr preferRelativeResize="0"/>
          <p:nvPr/>
        </p:nvPicPr>
        <p:blipFill rotWithShape="1">
          <a:blip r:embed="rId4">
            <a:alphaModFix/>
          </a:blip>
          <a:srcRect/>
          <a:stretch/>
        </p:blipFill>
        <p:spPr>
          <a:xfrm>
            <a:off x="0" y="160569"/>
            <a:ext cx="8001000" cy="764364"/>
          </a:xfrm>
          <a:prstGeom prst="rect">
            <a:avLst/>
          </a:prstGeom>
          <a:noFill/>
          <a:ln>
            <a:noFill/>
          </a:ln>
        </p:spPr>
      </p:pic>
      <p:sp>
        <p:nvSpPr>
          <p:cNvPr id="240" name="Google Shape;240;p55"/>
          <p:cNvSpPr txBox="1">
            <a:spLocks noGrp="1"/>
          </p:cNvSpPr>
          <p:nvPr>
            <p:ph type="title"/>
          </p:nvPr>
        </p:nvSpPr>
        <p:spPr>
          <a:xfrm>
            <a:off x="628650" y="160569"/>
            <a:ext cx="6991350" cy="764364"/>
          </a:xfrm>
          <a:prstGeom prst="rect">
            <a:avLst/>
          </a:prstGeom>
          <a:noFill/>
          <a:ln>
            <a:noFill/>
          </a:ln>
        </p:spPr>
        <p:txBody>
          <a:bodyPr spcFirstLastPara="1" wrap="square" lIns="91425" tIns="45700" rIns="91425" bIns="45700" anchor="t" anchorCtr="0">
            <a:normAutofit/>
          </a:bodyPr>
          <a:lstStyle>
            <a:lvl1pPr marR="0" lvl="0" algn="ctr" rtl="0">
              <a:lnSpc>
                <a:spcPct val="100000"/>
              </a:lnSpc>
              <a:spcBef>
                <a:spcPts val="0"/>
              </a:spcBef>
              <a:spcAft>
                <a:spcPts val="0"/>
              </a:spcAft>
              <a:buClr>
                <a:schemeClr val="lt1"/>
              </a:buClr>
              <a:buSzPts val="2400"/>
              <a:buFont typeface="Helvetica Neue"/>
              <a:buNone/>
              <a:defRPr sz="2400" b="1" i="0" u="none" strike="noStrike" cap="none">
                <a:solidFill>
                  <a:schemeClr val="lt1"/>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1" name="Google Shape;241;p55"/>
          <p:cNvSpPr txBox="1">
            <a:spLocks noGrp="1"/>
          </p:cNvSpPr>
          <p:nvPr>
            <p:ph type="body" idx="1"/>
          </p:nvPr>
        </p:nvSpPr>
        <p:spPr>
          <a:xfrm>
            <a:off x="643304" y="1600202"/>
            <a:ext cx="7620000" cy="2728913"/>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marL="914400" lvl="1" indent="-3048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marL="1371600" lvl="2" indent="-295275"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marL="1828800" lvl="3" indent="-28575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marL="2286000" lvl="4" indent="-28575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2" name="Google Shape;242;p55"/>
          <p:cNvSpPr txBox="1">
            <a:spLocks noGrp="1"/>
          </p:cNvSpPr>
          <p:nvPr>
            <p:ph type="body" idx="2"/>
          </p:nvPr>
        </p:nvSpPr>
        <p:spPr>
          <a:xfrm>
            <a:off x="246935" y="1143002"/>
            <a:ext cx="8397717" cy="39528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00"/>
              </a:spcBef>
              <a:spcAft>
                <a:spcPts val="0"/>
              </a:spcAft>
              <a:buClr>
                <a:srgbClr val="1C1573"/>
              </a:buClr>
              <a:buSzPts val="1500"/>
              <a:buNone/>
              <a:defRPr sz="1500" b="1">
                <a:solidFill>
                  <a:srgbClr val="1C1573"/>
                </a:solidFill>
                <a:latin typeface="Helvetica Neue"/>
                <a:ea typeface="Helvetica Neue"/>
                <a:cs typeface="Helvetica Neue"/>
                <a:sym typeface="Helvetica Neue"/>
              </a:defRPr>
            </a:lvl1pPr>
            <a:lvl2pPr marL="914400" lvl="1" indent="-406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marL="1371600" lvl="2" indent="-3810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marL="1828800" lvl="3" indent="-3556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marL="2286000" lvl="4" indent="-3556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432846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43"/>
        <p:cNvGrpSpPr/>
        <p:nvPr/>
      </p:nvGrpSpPr>
      <p:grpSpPr>
        <a:xfrm>
          <a:off x="0" y="0"/>
          <a:ext cx="0" cy="0"/>
          <a:chOff x="0" y="0"/>
          <a:chExt cx="0" cy="0"/>
        </a:xfrm>
      </p:grpSpPr>
      <p:pic>
        <p:nvPicPr>
          <p:cNvPr id="244" name="Google Shape;244;p56"/>
          <p:cNvPicPr preferRelativeResize="0"/>
          <p:nvPr/>
        </p:nvPicPr>
        <p:blipFill rotWithShape="1">
          <a:blip r:embed="rId2">
            <a:alphaModFix amt="50000"/>
          </a:blip>
          <a:srcRect l="177" t="-542" r="176" b="-541"/>
          <a:stretch/>
        </p:blipFill>
        <p:spPr>
          <a:xfrm>
            <a:off x="3563108" y="2223656"/>
            <a:ext cx="2017786" cy="2729344"/>
          </a:xfrm>
          <a:prstGeom prst="rect">
            <a:avLst/>
          </a:prstGeom>
          <a:noFill/>
          <a:ln>
            <a:noFill/>
          </a:ln>
        </p:spPr>
      </p:pic>
      <p:pic>
        <p:nvPicPr>
          <p:cNvPr id="245" name="Google Shape;245;p56"/>
          <p:cNvPicPr preferRelativeResize="0"/>
          <p:nvPr/>
        </p:nvPicPr>
        <p:blipFill rotWithShape="1">
          <a:blip r:embed="rId3">
            <a:alphaModFix/>
          </a:blip>
          <a:srcRect/>
          <a:stretch/>
        </p:blipFill>
        <p:spPr>
          <a:xfrm>
            <a:off x="0" y="6817420"/>
            <a:ext cx="9144000" cy="40580"/>
          </a:xfrm>
          <a:prstGeom prst="rect">
            <a:avLst/>
          </a:prstGeom>
          <a:noFill/>
          <a:ln>
            <a:noFill/>
          </a:ln>
        </p:spPr>
      </p:pic>
      <p:pic>
        <p:nvPicPr>
          <p:cNvPr id="246" name="Google Shape;246;p56"/>
          <p:cNvPicPr preferRelativeResize="0"/>
          <p:nvPr/>
        </p:nvPicPr>
        <p:blipFill rotWithShape="1">
          <a:blip r:embed="rId4">
            <a:alphaModFix/>
          </a:blip>
          <a:srcRect/>
          <a:stretch/>
        </p:blipFill>
        <p:spPr>
          <a:xfrm>
            <a:off x="0" y="160569"/>
            <a:ext cx="8001000" cy="764364"/>
          </a:xfrm>
          <a:prstGeom prst="rect">
            <a:avLst/>
          </a:prstGeom>
          <a:noFill/>
          <a:ln>
            <a:noFill/>
          </a:ln>
        </p:spPr>
      </p:pic>
      <p:sp>
        <p:nvSpPr>
          <p:cNvPr id="247" name="Google Shape;247;p56"/>
          <p:cNvSpPr txBox="1">
            <a:spLocks noGrp="1"/>
          </p:cNvSpPr>
          <p:nvPr>
            <p:ph type="title"/>
          </p:nvPr>
        </p:nvSpPr>
        <p:spPr>
          <a:xfrm>
            <a:off x="628650" y="160569"/>
            <a:ext cx="6991350" cy="764364"/>
          </a:xfrm>
          <a:prstGeom prst="rect">
            <a:avLst/>
          </a:prstGeom>
          <a:noFill/>
          <a:ln>
            <a:noFill/>
          </a:ln>
        </p:spPr>
        <p:txBody>
          <a:bodyPr spcFirstLastPara="1" wrap="square" lIns="91425" tIns="45700" rIns="91425" bIns="45700" anchor="t" anchorCtr="0">
            <a:normAutofit/>
          </a:bodyPr>
          <a:lstStyle>
            <a:lvl1pPr marR="0" lvl="0" algn="ctr" rtl="0">
              <a:lnSpc>
                <a:spcPct val="100000"/>
              </a:lnSpc>
              <a:spcBef>
                <a:spcPts val="0"/>
              </a:spcBef>
              <a:spcAft>
                <a:spcPts val="0"/>
              </a:spcAft>
              <a:buClr>
                <a:schemeClr val="lt1"/>
              </a:buClr>
              <a:buSzPts val="2400"/>
              <a:buFont typeface="Helvetica Neue"/>
              <a:buNone/>
              <a:defRPr sz="2400" b="1" i="0" u="none" strike="noStrike" cap="none">
                <a:solidFill>
                  <a:schemeClr val="lt1"/>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8" name="Google Shape;248;p56"/>
          <p:cNvSpPr txBox="1">
            <a:spLocks noGrp="1"/>
          </p:cNvSpPr>
          <p:nvPr>
            <p:ph type="body" idx="1"/>
          </p:nvPr>
        </p:nvSpPr>
        <p:spPr>
          <a:xfrm>
            <a:off x="643304" y="1600202"/>
            <a:ext cx="7620000" cy="2728913"/>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270"/>
              </a:spcBef>
              <a:spcAft>
                <a:spcPts val="0"/>
              </a:spcAft>
              <a:buClr>
                <a:schemeClr val="dk1"/>
              </a:buClr>
              <a:buSzPts val="1350"/>
              <a:buChar char="•"/>
              <a:defRPr sz="1350">
                <a:latin typeface="Helvetica Neue"/>
                <a:ea typeface="Helvetica Neue"/>
                <a:cs typeface="Helvetica Neue"/>
                <a:sym typeface="Helvetica Neue"/>
              </a:defRPr>
            </a:lvl1pPr>
            <a:lvl2pPr marL="914400" lvl="1" indent="-304800" algn="l">
              <a:lnSpc>
                <a:spcPct val="100000"/>
              </a:lnSpc>
              <a:spcBef>
                <a:spcPts val="240"/>
              </a:spcBef>
              <a:spcAft>
                <a:spcPts val="0"/>
              </a:spcAft>
              <a:buClr>
                <a:schemeClr val="dk1"/>
              </a:buClr>
              <a:buSzPts val="1200"/>
              <a:buChar char="–"/>
              <a:defRPr sz="1200">
                <a:latin typeface="Helvetica Neue"/>
                <a:ea typeface="Helvetica Neue"/>
                <a:cs typeface="Helvetica Neue"/>
                <a:sym typeface="Helvetica Neue"/>
              </a:defRPr>
            </a:lvl2pPr>
            <a:lvl3pPr marL="1371600" lvl="2" indent="-295275" algn="l">
              <a:lnSpc>
                <a:spcPct val="100000"/>
              </a:lnSpc>
              <a:spcBef>
                <a:spcPts val="210"/>
              </a:spcBef>
              <a:spcAft>
                <a:spcPts val="0"/>
              </a:spcAft>
              <a:buClr>
                <a:schemeClr val="dk1"/>
              </a:buClr>
              <a:buSzPts val="1050"/>
              <a:buChar char="•"/>
              <a:defRPr sz="1050">
                <a:latin typeface="Helvetica Neue"/>
                <a:ea typeface="Helvetica Neue"/>
                <a:cs typeface="Helvetica Neue"/>
                <a:sym typeface="Helvetica Neue"/>
              </a:defRPr>
            </a:lvl3pPr>
            <a:lvl4pPr marL="1828800" lvl="3" indent="-28575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4pPr>
            <a:lvl5pPr marL="2286000" lvl="4" indent="-285750" algn="l">
              <a:lnSpc>
                <a:spcPct val="100000"/>
              </a:lnSpc>
              <a:spcBef>
                <a:spcPts val="180"/>
              </a:spcBef>
              <a:spcAft>
                <a:spcPts val="0"/>
              </a:spcAft>
              <a:buClr>
                <a:schemeClr val="dk1"/>
              </a:buClr>
              <a:buSzPts val="900"/>
              <a:buChar char="»"/>
              <a:defRPr sz="900">
                <a:latin typeface="Helvetica Neue"/>
                <a:ea typeface="Helvetica Neue"/>
                <a:cs typeface="Helvetica Neue"/>
                <a:sym typeface="Helvetica Neu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9" name="Google Shape;249;p56"/>
          <p:cNvSpPr txBox="1">
            <a:spLocks noGrp="1"/>
          </p:cNvSpPr>
          <p:nvPr>
            <p:ph type="body" idx="2"/>
          </p:nvPr>
        </p:nvSpPr>
        <p:spPr>
          <a:xfrm>
            <a:off x="246935" y="1143002"/>
            <a:ext cx="8397717" cy="39528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00"/>
              </a:spcBef>
              <a:spcAft>
                <a:spcPts val="0"/>
              </a:spcAft>
              <a:buClr>
                <a:srgbClr val="1C1573"/>
              </a:buClr>
              <a:buSzPts val="1500"/>
              <a:buNone/>
              <a:defRPr sz="1500" b="1">
                <a:solidFill>
                  <a:srgbClr val="1C1573"/>
                </a:solidFill>
                <a:latin typeface="Helvetica Neue"/>
                <a:ea typeface="Helvetica Neue"/>
                <a:cs typeface="Helvetica Neue"/>
                <a:sym typeface="Helvetica Neue"/>
              </a:defRPr>
            </a:lvl1pPr>
            <a:lvl2pPr marL="914400" lvl="1" indent="-406400" algn="l">
              <a:lnSpc>
                <a:spcPct val="100000"/>
              </a:lnSpc>
              <a:spcBef>
                <a:spcPts val="560"/>
              </a:spcBef>
              <a:spcAft>
                <a:spcPts val="0"/>
              </a:spcAft>
              <a:buClr>
                <a:srgbClr val="1C1573"/>
              </a:buClr>
              <a:buSzPts val="2800"/>
              <a:buChar char="–"/>
              <a:defRPr b="1">
                <a:solidFill>
                  <a:srgbClr val="1C1573"/>
                </a:solidFill>
                <a:latin typeface="Helvetica Neue"/>
                <a:ea typeface="Helvetica Neue"/>
                <a:cs typeface="Helvetica Neue"/>
                <a:sym typeface="Helvetica Neue"/>
              </a:defRPr>
            </a:lvl2pPr>
            <a:lvl3pPr marL="1371600" lvl="2" indent="-381000" algn="l">
              <a:lnSpc>
                <a:spcPct val="100000"/>
              </a:lnSpc>
              <a:spcBef>
                <a:spcPts val="480"/>
              </a:spcBef>
              <a:spcAft>
                <a:spcPts val="0"/>
              </a:spcAft>
              <a:buClr>
                <a:srgbClr val="1C1573"/>
              </a:buClr>
              <a:buSzPts val="2400"/>
              <a:buChar char="•"/>
              <a:defRPr b="1">
                <a:solidFill>
                  <a:srgbClr val="1C1573"/>
                </a:solidFill>
                <a:latin typeface="Helvetica Neue"/>
                <a:ea typeface="Helvetica Neue"/>
                <a:cs typeface="Helvetica Neue"/>
                <a:sym typeface="Helvetica Neue"/>
              </a:defRPr>
            </a:lvl3pPr>
            <a:lvl4pPr marL="1828800" lvl="3" indent="-3556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4pPr>
            <a:lvl5pPr marL="2286000" lvl="4" indent="-355600" algn="l">
              <a:lnSpc>
                <a:spcPct val="100000"/>
              </a:lnSpc>
              <a:spcBef>
                <a:spcPts val="400"/>
              </a:spcBef>
              <a:spcAft>
                <a:spcPts val="0"/>
              </a:spcAft>
              <a:buClr>
                <a:srgbClr val="1C1573"/>
              </a:buClr>
              <a:buSzPts val="2000"/>
              <a:buChar char="»"/>
              <a:defRPr b="1">
                <a:solidFill>
                  <a:srgbClr val="1C1573"/>
                </a:solidFill>
                <a:latin typeface="Helvetica Neue"/>
                <a:ea typeface="Helvetica Neue"/>
                <a:cs typeface="Helvetica Neue"/>
                <a:sym typeface="Helvetica Neu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798905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4.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4.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image" Target="../media/image4.pn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theme" Target="../theme/theme4.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a:defRPr/>
            </a:pPr>
            <a:fld id="{60DB935C-A2BB-404C-A6C5-67E9068028E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918" r:id="rId14"/>
  </p:sldLayoutIdLst>
  <p:hf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hf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4100"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4101"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102"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hf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8" name="Picture 7" descr="Picture 7.png"/>
          <p:cNvPicPr>
            <a:picLocks noChangeAspect="1"/>
          </p:cNvPicPr>
          <p:nvPr/>
        </p:nvPicPr>
        <p:blipFill>
          <a:blip r:embed="rId18" cstate="print"/>
          <a:srcRect l="1923" b="5336"/>
          <a:stretch>
            <a:fillRect/>
          </a:stretch>
        </p:blipFill>
        <p:spPr>
          <a:xfrm>
            <a:off x="6629400" y="-1"/>
            <a:ext cx="2193193" cy="692697"/>
          </a:xfrm>
          <a:prstGeom prst="rect">
            <a:avLst/>
          </a:prstGeom>
        </p:spPr>
      </p:pic>
      <p:grpSp>
        <p:nvGrpSpPr>
          <p:cNvPr id="2" name="Group 8"/>
          <p:cNvGrpSpPr/>
          <p:nvPr/>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12"/>
          <p:cNvGrpSpPr/>
          <p:nvPr/>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9" r:id="rId12"/>
    <p:sldLayoutId id="2147483920" r:id="rId13"/>
    <p:sldLayoutId id="2147483921" r:id="rId14"/>
    <p:sldLayoutId id="2147483925" r:id="rId15"/>
    <p:sldLayoutId id="2147483926" r:id="rId1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43.xml"/><Relationship Id="rId6" Type="http://schemas.openxmlformats.org/officeDocument/2006/relationships/image" Target="../media/image11.png"/><Relationship Id="rId5" Type="http://schemas.openxmlformats.org/officeDocument/2006/relationships/customXml" Target="../ink/ink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hyperlink" Target="http://nlp.stanford.edu:8080/ner/process" TargetMode="External"/><Relationship Id="rId2" Type="http://schemas.openxmlformats.org/officeDocument/2006/relationships/notesSlide" Target="../notesSlides/notesSlide18.xml"/><Relationship Id="rId1" Type="http://schemas.openxmlformats.org/officeDocument/2006/relationships/slideLayout" Target="../slideLayouts/slideLayout38.xml"/><Relationship Id="rId6" Type="http://schemas.openxmlformats.org/officeDocument/2006/relationships/hyperlink" Target="https://komprehend.io/sentiment-analysis" TargetMode="External"/><Relationship Id="rId5" Type="http://schemas.openxmlformats.org/officeDocument/2006/relationships/hyperlink" Target="http://start.csail.mit.edu/index.php" TargetMode="External"/><Relationship Id="rId4" Type="http://schemas.openxmlformats.org/officeDocument/2006/relationships/hyperlink" Target="https://quillbot.com/summarize"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3.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2" Type="http://schemas.openxmlformats.org/officeDocument/2006/relationships/hyperlink" Target="https://en.wikipedia.org/wiki/Lemma_(morphology)" TargetMode="External"/><Relationship Id="rId1"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8.png"/><Relationship Id="rId1" Type="http://schemas.openxmlformats.org/officeDocument/2006/relationships/slideLayout" Target="../slideLayouts/slideLayout38.xml"/><Relationship Id="rId4" Type="http://schemas.openxmlformats.org/officeDocument/2006/relationships/image" Target="../media/image4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8" Type="http://schemas.openxmlformats.org/officeDocument/2006/relationships/hyperlink" Target="https://www.nltk.org/" TargetMode="External"/><Relationship Id="rId3" Type="http://schemas.openxmlformats.org/officeDocument/2006/relationships/hyperlink" Target="https://monkeylearn.com/blog/natural-language-processing-tools/#ibm-watson" TargetMode="External"/><Relationship Id="rId7" Type="http://schemas.openxmlformats.org/officeDocument/2006/relationships/hyperlink" Target="https://github.com/RaRe-Technologies/gensim" TargetMode="External"/><Relationship Id="rId2" Type="http://schemas.openxmlformats.org/officeDocument/2006/relationships/notesSlide" Target="../notesSlides/notesSlide23.xml"/><Relationship Id="rId1" Type="http://schemas.openxmlformats.org/officeDocument/2006/relationships/slideLayout" Target="../slideLayouts/slideLayout51.xml"/><Relationship Id="rId6" Type="http://schemas.openxmlformats.org/officeDocument/2006/relationships/hyperlink" Target="https://stanfordnlp.github.io/CoreNLP/" TargetMode="External"/><Relationship Id="rId11" Type="http://schemas.openxmlformats.org/officeDocument/2006/relationships/hyperlink" Target="https://www.analyticsinsight.net/openais-gpt-3-is-powering-these-industries-with-unique-abilities/" TargetMode="External"/><Relationship Id="rId5" Type="http://schemas.openxmlformats.org/officeDocument/2006/relationships/hyperlink" Target="https://monkeylearn.com/blog/natural-language-processing-tools/#amazon-comprehend" TargetMode="External"/><Relationship Id="rId10" Type="http://schemas.openxmlformats.org/officeDocument/2006/relationships/hyperlink" Target="https://en.wikipedia.org/wiki/Language_model" TargetMode="External"/><Relationship Id="rId4" Type="http://schemas.openxmlformats.org/officeDocument/2006/relationships/hyperlink" Target="https://monkeylearn.com/blog/natural-language-processing-tools/#google-cloud" TargetMode="External"/><Relationship Id="rId9" Type="http://schemas.openxmlformats.org/officeDocument/2006/relationships/hyperlink" Target="https://en.wikipedia.org/wiki/Autoregressive_model"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www.nltk.org/book_1ed/" TargetMode="External"/><Relationship Id="rId2" Type="http://schemas.openxmlformats.org/officeDocument/2006/relationships/notesSlide" Target="../notesSlides/notesSlide24.xml"/><Relationship Id="rId1" Type="http://schemas.openxmlformats.org/officeDocument/2006/relationships/slideLayout" Target="../slideLayouts/slideLayout52.xml"/><Relationship Id="rId5" Type="http://schemas.openxmlformats.org/officeDocument/2006/relationships/hyperlink" Target="https://www.nltk.org/install.html" TargetMode="External"/><Relationship Id="rId4" Type="http://schemas.openxmlformats.org/officeDocument/2006/relationships/hyperlink" Target="http://groups.google.com/group/nltk-users"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web.stanford.edu/~jurafsky/NLPCourseraSlides.html" TargetMode="External"/><Relationship Id="rId3" Type="http://schemas.openxmlformats.org/officeDocument/2006/relationships/hyperlink" Target="https://emerj.com/partner-content/nlp-current-applications-and-future-possibilities/" TargetMode="External"/><Relationship Id="rId7" Type="http://schemas.openxmlformats.org/officeDocument/2006/relationships/hyperlink" Target="https://openai.com/api/" TargetMode="External"/><Relationship Id="rId2" Type="http://schemas.openxmlformats.org/officeDocument/2006/relationships/notesSlide" Target="../notesSlides/notesSlide25.xml"/><Relationship Id="rId1" Type="http://schemas.openxmlformats.org/officeDocument/2006/relationships/slideLayout" Target="../slideLayouts/slideLayout42.xml"/><Relationship Id="rId6" Type="http://schemas.openxmlformats.org/officeDocument/2006/relationships/hyperlink" Target="https://www.coursera.org/learn/python-text-mining/home/week/1" TargetMode="External"/><Relationship Id="rId5" Type="http://schemas.openxmlformats.org/officeDocument/2006/relationships/hyperlink" Target="https://www.nltk.org/book/" TargetMode="External"/><Relationship Id="rId10" Type="http://schemas.openxmlformats.org/officeDocument/2006/relationships/hyperlink" Target="https://web.stanford.edu/class/cs224u/2016/materials/cs224u-2016-intro.pdf" TargetMode="External"/><Relationship Id="rId4" Type="http://schemas.openxmlformats.org/officeDocument/2006/relationships/hyperlink" Target="https://venturebeat.com/2019/04/05/why-nlp-will-be-big-in-2019/" TargetMode="External"/><Relationship Id="rId9" Type="http://schemas.openxmlformats.org/officeDocument/2006/relationships/hyperlink" Target="https://www.cstr.ed.ac.uk/emasters/course/natural_lang.html"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510.emf"/><Relationship Id="rId2" Type="http://schemas.openxmlformats.org/officeDocument/2006/relationships/customXml" Target="../ink/ink5.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title"/>
          </p:nvPr>
        </p:nvSpPr>
        <p:spPr>
          <a:xfrm>
            <a:off x="2362200" y="3352800"/>
            <a:ext cx="6400800" cy="1524000"/>
          </a:xfrm>
        </p:spPr>
        <p:txBody>
          <a:bodyPr/>
          <a:lstStyle/>
          <a:p>
            <a:pPr algn="ctr" fontAlgn="auto">
              <a:spcAft>
                <a:spcPts val="0"/>
              </a:spcAft>
              <a:defRPr/>
            </a:pPr>
            <a:r>
              <a:rPr lang="en-US" dirty="0">
                <a:solidFill>
                  <a:srgbClr val="FFFF66"/>
                </a:solidFill>
                <a:latin typeface="+mn-lt"/>
              </a:rPr>
              <a:t>Natural Language Processing</a:t>
            </a:r>
            <a:br>
              <a:rPr lang="en-US" dirty="0">
                <a:solidFill>
                  <a:srgbClr val="FFFF66"/>
                </a:solidFill>
                <a:latin typeface="+mn-lt"/>
              </a:rPr>
            </a:br>
            <a:endParaRPr lang="en-US" dirty="0">
              <a:solidFill>
                <a:srgbClr val="FFFF66"/>
              </a:solidFill>
              <a:latin typeface="+mn-lt"/>
            </a:endParaRPr>
          </a:p>
        </p:txBody>
      </p:sp>
      <p:sp>
        <p:nvSpPr>
          <p:cNvPr id="5" name="Content Placeholder 1"/>
          <p:cNvSpPr>
            <a:spLocks noGrp="1"/>
          </p:cNvSpPr>
          <p:nvPr>
            <p:ph sz="quarter" idx="4294967295"/>
          </p:nvPr>
        </p:nvSpPr>
        <p:spPr>
          <a:xfrm>
            <a:off x="2514600" y="4648200"/>
            <a:ext cx="6119948" cy="1421674"/>
          </a:xfrm>
          <a:prstGeom prst="rect">
            <a:avLst/>
          </a:prstGeom>
        </p:spPr>
        <p:txBody>
          <a:bodyPr rtlCol="0">
            <a:normAutofit fontScale="77500" lnSpcReduction="20000"/>
          </a:bodyPr>
          <a:lstStyle/>
          <a:p>
            <a:pPr marL="365760" indent="-256032" algn="r" fontAlgn="auto">
              <a:lnSpc>
                <a:spcPct val="100000"/>
              </a:lnSpc>
              <a:spcAft>
                <a:spcPts val="0"/>
              </a:spcAft>
              <a:buClr>
                <a:schemeClr val="accent1"/>
              </a:buClr>
              <a:buSzPct val="68000"/>
              <a:buNone/>
              <a:defRPr/>
            </a:pPr>
            <a:endParaRPr lang="en-US" sz="2800" dirty="0">
              <a:solidFill>
                <a:schemeClr val="bg1"/>
              </a:solidFill>
              <a:latin typeface="+mn-lt"/>
              <a:cs typeface="Courier New" pitchFamily="49" charset="0"/>
            </a:endParaRPr>
          </a:p>
          <a:p>
            <a:pPr marL="365760" indent="-256032" algn="r" fontAlgn="auto">
              <a:lnSpc>
                <a:spcPct val="100000"/>
              </a:lnSpc>
              <a:spcAft>
                <a:spcPts val="0"/>
              </a:spcAft>
              <a:buClr>
                <a:schemeClr val="accent1"/>
              </a:buClr>
              <a:buSzPct val="68000"/>
              <a:buNone/>
              <a:defRPr/>
            </a:pPr>
            <a:r>
              <a:rPr lang="en-US" sz="2800" dirty="0">
                <a:solidFill>
                  <a:schemeClr val="bg1"/>
                </a:solidFill>
                <a:latin typeface="+mn-lt"/>
                <a:cs typeface="Courier New" pitchFamily="49" charset="0"/>
              </a:rPr>
              <a:t>Dr. </a:t>
            </a:r>
            <a:r>
              <a:rPr lang="en-US" sz="2800" dirty="0" err="1">
                <a:solidFill>
                  <a:schemeClr val="bg1"/>
                </a:solidFill>
                <a:latin typeface="+mn-lt"/>
                <a:cs typeface="Courier New" pitchFamily="49" charset="0"/>
              </a:rPr>
              <a:t>Vijayalakshmi</a:t>
            </a:r>
            <a:r>
              <a:rPr lang="en-US" sz="2800" dirty="0">
                <a:solidFill>
                  <a:schemeClr val="bg1"/>
                </a:solidFill>
                <a:latin typeface="+mn-lt"/>
                <a:cs typeface="Courier New" pitchFamily="49" charset="0"/>
              </a:rPr>
              <a:t> Anand</a:t>
            </a:r>
          </a:p>
          <a:p>
            <a:pPr marL="365760" indent="-256032" algn="r" fontAlgn="auto">
              <a:lnSpc>
                <a:spcPct val="100000"/>
              </a:lnSpc>
              <a:spcAft>
                <a:spcPts val="0"/>
              </a:spcAft>
              <a:buClr>
                <a:schemeClr val="accent1"/>
              </a:buClr>
              <a:buSzPct val="68000"/>
              <a:buNone/>
              <a:defRPr/>
            </a:pPr>
            <a:r>
              <a:rPr lang="en-US" sz="2800" dirty="0">
                <a:solidFill>
                  <a:schemeClr val="bg1"/>
                </a:solidFill>
                <a:latin typeface="+mn-lt"/>
                <a:cs typeface="Courier New" pitchFamily="49" charset="0"/>
              </a:rPr>
              <a:t>BITS-</a:t>
            </a:r>
            <a:r>
              <a:rPr lang="en-US" sz="2800" dirty="0" err="1">
                <a:solidFill>
                  <a:schemeClr val="bg1"/>
                </a:solidFill>
                <a:latin typeface="+mn-lt"/>
                <a:cs typeface="Courier New" pitchFamily="49" charset="0"/>
              </a:rPr>
              <a:t>Pilani</a:t>
            </a:r>
            <a:endParaRPr lang="en-US" sz="2800" dirty="0">
              <a:solidFill>
                <a:schemeClr val="bg1"/>
              </a:solidFill>
              <a:latin typeface="+mn-lt"/>
              <a:cs typeface="Courier New" pitchFamily="49" charset="0"/>
            </a:endParaRPr>
          </a:p>
          <a:p>
            <a:pPr marL="365760" indent="-256032" algn="r" fontAlgn="auto">
              <a:lnSpc>
                <a:spcPct val="100000"/>
              </a:lnSpc>
              <a:spcAft>
                <a:spcPts val="0"/>
              </a:spcAft>
              <a:buClr>
                <a:schemeClr val="accent1"/>
              </a:buClr>
              <a:buSzPct val="68000"/>
              <a:buNone/>
              <a:defRPr/>
            </a:pPr>
            <a:r>
              <a:rPr lang="en-US" sz="2800" dirty="0">
                <a:solidFill>
                  <a:schemeClr val="bg1"/>
                </a:solidFill>
                <a:latin typeface="+mn-lt"/>
                <a:cs typeface="Courier New" pitchFamily="49" charset="0"/>
              </a:rPr>
              <a:t>vijayalakshmi_anand@pilani.bits-pilani.ac.in</a:t>
            </a:r>
          </a:p>
          <a:p>
            <a:pPr marL="365760" indent="-256032" algn="r" fontAlgn="auto">
              <a:lnSpc>
                <a:spcPct val="100000"/>
              </a:lnSpc>
              <a:spcAft>
                <a:spcPts val="0"/>
              </a:spcAft>
              <a:buClr>
                <a:schemeClr val="accent1"/>
              </a:buClr>
              <a:buSzPct val="68000"/>
              <a:buNone/>
              <a:defRPr/>
            </a:pPr>
            <a:endParaRPr lang="en-US" sz="2800" dirty="0">
              <a:solidFill>
                <a:schemeClr val="bg1"/>
              </a:solidFill>
              <a:latin typeface="+mn-lt"/>
              <a:cs typeface="Courier New"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419600"/>
            <a:ext cx="8458200" cy="2209800"/>
          </a:xfrm>
        </p:spPr>
        <p:txBody>
          <a:bodyPr rtlCol="0">
            <a:normAutofit lnSpcReduction="10000"/>
          </a:bodyPr>
          <a:lstStyle/>
          <a:p>
            <a:pPr marL="365760" indent="-256032" algn="ctr" fontAlgn="auto">
              <a:lnSpc>
                <a:spcPct val="100000"/>
              </a:lnSpc>
              <a:spcAft>
                <a:spcPts val="0"/>
              </a:spcAft>
              <a:buClr>
                <a:schemeClr val="accent1"/>
              </a:buClr>
              <a:buSzPct val="68000"/>
              <a:defRPr/>
            </a:pPr>
            <a:r>
              <a:rPr lang="en-US" sz="3600" dirty="0">
                <a:latin typeface="+mn-lt"/>
                <a:cs typeface="Courier New" pitchFamily="49" charset="0"/>
              </a:rPr>
              <a:t>Session 1</a:t>
            </a:r>
          </a:p>
          <a:p>
            <a:pPr marR="176530" lvl="0">
              <a:lnSpc>
                <a:spcPct val="120000"/>
              </a:lnSpc>
              <a:spcBef>
                <a:spcPts val="1170"/>
              </a:spcBef>
              <a:spcAft>
                <a:spcPts val="0"/>
              </a:spcAft>
            </a:pPr>
            <a:r>
              <a:rPr lang="en-US" sz="2600" b="0" dirty="0">
                <a:latin typeface="+mn-lt"/>
                <a:ea typeface="Trebuchet MS"/>
                <a:cs typeface="Trebuchet MS"/>
                <a:sym typeface="Trebuchet MS"/>
              </a:rPr>
              <a:t>These slides are prepared by the instructor, with grateful acknowledgement of James Allen and many others who made  their course materials freely available online.</a:t>
            </a:r>
          </a:p>
          <a:p>
            <a:pPr lvl="0">
              <a:lnSpc>
                <a:spcPct val="117083"/>
              </a:lnSpc>
              <a:spcAft>
                <a:spcPts val="0"/>
              </a:spcAft>
            </a:pPr>
            <a:endParaRPr lang="en-US" sz="3200" dirty="0">
              <a:latin typeface="Trebuchet MS"/>
              <a:ea typeface="Trebuchet MS"/>
              <a:cs typeface="Trebuchet MS"/>
              <a:sym typeface="Trebuchet MS"/>
            </a:endParaRPr>
          </a:p>
          <a:p>
            <a:pPr marL="365760" indent="-256032" algn="ctr" fontAlgn="auto">
              <a:lnSpc>
                <a:spcPct val="100000"/>
              </a:lnSpc>
              <a:spcAft>
                <a:spcPts val="0"/>
              </a:spcAft>
              <a:buClr>
                <a:schemeClr val="accent1"/>
              </a:buClr>
              <a:buSzPct val="68000"/>
              <a:defRPr/>
            </a:pPr>
            <a:endParaRPr lang="en-US" sz="3600" dirty="0">
              <a:latin typeface="+mn-lt"/>
              <a:cs typeface="Courier New" pitchFamily="49"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752600"/>
            <a:ext cx="8229600" cy="4267200"/>
          </a:xfrm>
        </p:spPr>
        <p:txBody>
          <a:bodyPr>
            <a:normAutofit/>
          </a:bodyPr>
          <a:lstStyle/>
          <a:p>
            <a:pPr lvl="0">
              <a:spcBef>
                <a:spcPts val="0"/>
              </a:spcBef>
              <a:buSzPts val="3200"/>
              <a:buFont typeface="Arial"/>
              <a:buChar char="•"/>
            </a:pPr>
            <a:r>
              <a:rPr lang="en-US" sz="2800" dirty="0"/>
              <a:t>Objective of course</a:t>
            </a:r>
          </a:p>
          <a:p>
            <a:pPr lvl="0">
              <a:spcBef>
                <a:spcPts val="640"/>
              </a:spcBef>
              <a:buSzPts val="3200"/>
              <a:buFont typeface="Arial"/>
              <a:buChar char="•"/>
            </a:pPr>
            <a:r>
              <a:rPr lang="en-US" sz="2800" dirty="0"/>
              <a:t>What will we learn in this course?</a:t>
            </a:r>
          </a:p>
          <a:p>
            <a:pPr lvl="0">
              <a:spcBef>
                <a:spcPts val="640"/>
              </a:spcBef>
              <a:buSzPts val="3200"/>
              <a:buFont typeface="Arial"/>
              <a:buChar char="•"/>
            </a:pPr>
            <a:r>
              <a:rPr lang="en-US" sz="2800" dirty="0"/>
              <a:t>Text books and Reference books</a:t>
            </a:r>
          </a:p>
          <a:p>
            <a:pPr lvl="0">
              <a:spcBef>
                <a:spcPts val="640"/>
              </a:spcBef>
              <a:buSzPts val="3200"/>
              <a:buFont typeface="Arial"/>
              <a:buChar char="•"/>
            </a:pPr>
            <a:r>
              <a:rPr lang="en-US" sz="2800" dirty="0"/>
              <a:t>Evaluation Plan</a:t>
            </a:r>
          </a:p>
          <a:p>
            <a:pPr lvl="0">
              <a:spcBef>
                <a:spcPts val="640"/>
              </a:spcBef>
              <a:buSzPts val="3200"/>
              <a:buFont typeface="Arial"/>
              <a:buChar char="•"/>
            </a:pPr>
            <a:r>
              <a:rPr lang="en-US" sz="2800" dirty="0"/>
              <a:t>What is Natural Language Processing? </a:t>
            </a:r>
          </a:p>
          <a:p>
            <a:pPr lvl="0">
              <a:spcBef>
                <a:spcPts val="640"/>
              </a:spcBef>
              <a:buSzPts val="3200"/>
              <a:buFont typeface="Arial"/>
              <a:buChar char="•"/>
            </a:pPr>
            <a:r>
              <a:rPr lang="en-US" sz="2800" dirty="0"/>
              <a:t>Application areas of Natural Language Processing </a:t>
            </a:r>
          </a:p>
          <a:p>
            <a:pPr lvl="0">
              <a:spcBef>
                <a:spcPts val="640"/>
              </a:spcBef>
              <a:buSzPts val="3200"/>
              <a:buFont typeface="Arial"/>
              <a:buChar char="•"/>
            </a:pPr>
            <a:r>
              <a:rPr lang="en-US" sz="2800" dirty="0"/>
              <a:t>Introduction to Natural Language Processing</a:t>
            </a:r>
          </a:p>
          <a:p>
            <a:pPr marL="0" lvl="0" indent="0">
              <a:spcBef>
                <a:spcPts val="640"/>
              </a:spcBef>
              <a:buSzPts val="3200"/>
            </a:pPr>
            <a:endParaRPr lang="en-US" sz="2800" dirty="0"/>
          </a:p>
          <a:p>
            <a:pPr marL="514350" indent="-514350">
              <a:lnSpc>
                <a:spcPct val="150000"/>
              </a:lnSpc>
              <a:buFont typeface="Arial" panose="020B0604020202020204" pitchFamily="34" charset="0"/>
              <a:buChar char="•"/>
            </a:pPr>
            <a:endParaRPr lang="en-US" sz="1800" spc="-150" dirty="0">
              <a:ea typeface="Cambria" panose="02040503050406030204" pitchFamily="18" charset="0"/>
            </a:endParaRPr>
          </a:p>
          <a:p>
            <a:pPr marL="514350" indent="-514350">
              <a:lnSpc>
                <a:spcPct val="150000"/>
              </a:lnSpc>
              <a:buFont typeface="Arial" panose="020B0604020202020204" pitchFamily="34" charset="0"/>
              <a:buChar char="•"/>
            </a:pPr>
            <a:endParaRPr lang="en-US" sz="1800" spc="-150" dirty="0">
              <a:ea typeface="Cambria" panose="02040503050406030204" pitchFamily="18" charset="0"/>
            </a:endParaRPr>
          </a:p>
          <a:p>
            <a:pPr marL="514350" indent="-514350">
              <a:lnSpc>
                <a:spcPct val="150000"/>
              </a:lnSpc>
              <a:buFont typeface="Arial" panose="020B0604020202020204" pitchFamily="34" charset="0"/>
              <a:buChar char="•"/>
            </a:pPr>
            <a:endParaRPr lang="en-US" altLang="en-US" sz="1800" dirty="0"/>
          </a:p>
          <a:p>
            <a:pPr marL="514350" indent="-514350">
              <a:lnSpc>
                <a:spcPct val="150000"/>
              </a:lnSpc>
              <a:buFont typeface="Arial" panose="020B0604020202020204" pitchFamily="34" charset="0"/>
              <a:buChar char="•"/>
            </a:pPr>
            <a:endParaRPr lang="en-US" sz="1800" dirty="0">
              <a:ea typeface="Cambria" panose="02040503050406030204" pitchFamily="18" charset="0"/>
            </a:endParaRPr>
          </a:p>
          <a:p>
            <a:pPr marL="514350" indent="-514350">
              <a:lnSpc>
                <a:spcPct val="150000"/>
              </a:lnSpc>
              <a:buFont typeface="Arial" panose="020B0604020202020204" pitchFamily="34" charset="0"/>
              <a:buChar char="•"/>
            </a:pPr>
            <a:endParaRPr lang="en-US" sz="1800" dirty="0">
              <a:ea typeface="Cambria" panose="02040503050406030204" pitchFamily="18" charset="0"/>
            </a:endParaRPr>
          </a:p>
        </p:txBody>
      </p:sp>
      <p:sp>
        <p:nvSpPr>
          <p:cNvPr id="3" name="Content Placeholder 2"/>
          <p:cNvSpPr>
            <a:spLocks noGrp="1"/>
          </p:cNvSpPr>
          <p:nvPr>
            <p:ph sz="quarter" idx="10"/>
          </p:nvPr>
        </p:nvSpPr>
        <p:spPr>
          <a:xfrm>
            <a:off x="304800" y="446901"/>
            <a:ext cx="6324600" cy="553998"/>
          </a:xfrm>
          <a:noFill/>
          <a:ln w="9525">
            <a:noFill/>
            <a:miter lim="800000"/>
            <a:headEnd/>
            <a:tailEnd/>
          </a:ln>
          <a:effectLst/>
        </p:spPr>
        <p:txBody>
          <a:bodyPr vert="horz" wrap="square" lIns="91440" tIns="45720" rIns="91440" bIns="45720" rtlCol="0" anchor="ctr">
            <a:spAutoFit/>
          </a:bodyPr>
          <a:lstStyle/>
          <a:p>
            <a:pPr fontAlgn="base">
              <a:spcBef>
                <a:spcPct val="0"/>
              </a:spcBef>
              <a:spcAft>
                <a:spcPct val="0"/>
              </a:spcAft>
            </a:pPr>
            <a:r>
              <a:rPr lang="en-US" sz="3200" dirty="0">
                <a:ea typeface="Cambria" panose="02040503050406030204" pitchFamily="18" charset="0"/>
              </a:rPr>
              <a:t>Agenda</a:t>
            </a:r>
          </a:p>
        </p:txBody>
      </p:sp>
    </p:spTree>
    <p:extLst>
      <p:ext uri="{BB962C8B-B14F-4D97-AF65-F5344CB8AC3E}">
        <p14:creationId xmlns:p14="http://schemas.microsoft.com/office/powerpoint/2010/main" val="1009494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p:cNvSpPr txBox="1">
            <a:spLocks noChangeArrowheads="1"/>
          </p:cNvSpPr>
          <p:nvPr/>
        </p:nvSpPr>
        <p:spPr bwMode="auto">
          <a:xfrm>
            <a:off x="0" y="525959"/>
            <a:ext cx="4818499" cy="769441"/>
          </a:xfrm>
          <a:prstGeom prst="rect">
            <a:avLst/>
          </a:prstGeom>
          <a:noFill/>
          <a:ln w="9525">
            <a:noFill/>
            <a:miter lim="800000"/>
            <a:headEnd/>
            <a:tailEnd/>
          </a:ln>
          <a:effectLst/>
        </p:spPr>
        <p:txBody>
          <a:bodyPr wrap="none">
            <a:spAutoFit/>
          </a:bodyPr>
          <a:lstStyle/>
          <a:p>
            <a:r>
              <a:rPr lang="en-US" sz="4400" b="1" baseline="0" dirty="0">
                <a:latin typeface="+mn-lt"/>
              </a:rPr>
              <a:t>Objective of </a:t>
            </a:r>
            <a:r>
              <a:rPr lang="en-US" sz="4400" b="1" dirty="0">
                <a:latin typeface="+mn-lt"/>
              </a:rPr>
              <a:t>course </a:t>
            </a:r>
          </a:p>
        </p:txBody>
      </p:sp>
      <p:sp>
        <p:nvSpPr>
          <p:cNvPr id="9" name="Rectangle 3"/>
          <p:cNvSpPr txBox="1">
            <a:spLocks noChangeArrowheads="1"/>
          </p:cNvSpPr>
          <p:nvPr/>
        </p:nvSpPr>
        <p:spPr>
          <a:xfrm>
            <a:off x="419100" y="1585912"/>
            <a:ext cx="8610600" cy="4953000"/>
          </a:xfrm>
          <a:prstGeom prst="rect">
            <a:avLst/>
          </a:prstGeom>
        </p:spPr>
        <p:txBody>
          <a:bodyPr/>
          <a:lstStyle/>
          <a:p>
            <a:pPr marL="342900" lvl="0" indent="-342900">
              <a:spcBef>
                <a:spcPts val="0"/>
              </a:spcBef>
              <a:spcAft>
                <a:spcPts val="0"/>
              </a:spcAft>
              <a:buClr>
                <a:srgbClr val="000000"/>
              </a:buClr>
              <a:buSzPts val="2100"/>
              <a:buFont typeface="Arial"/>
              <a:buChar char="•"/>
            </a:pPr>
            <a:r>
              <a:rPr lang="en-US" sz="2400" dirty="0">
                <a:solidFill>
                  <a:srgbClr val="000000"/>
                </a:solidFill>
                <a:latin typeface="Arial"/>
                <a:ea typeface="Arial"/>
                <a:cs typeface="Arial"/>
                <a:sym typeface="Arial"/>
              </a:rPr>
              <a:t>To Identify and recall </a:t>
            </a:r>
            <a:r>
              <a:rPr lang="en-US" sz="2400" b="1" dirty="0">
                <a:solidFill>
                  <a:srgbClr val="000000"/>
                </a:solidFill>
                <a:latin typeface="Arial"/>
                <a:ea typeface="Arial"/>
                <a:cs typeface="Arial"/>
                <a:sym typeface="Arial"/>
              </a:rPr>
              <a:t>fundamental concepts and techniques </a:t>
            </a:r>
            <a:r>
              <a:rPr lang="en-US" sz="2400" dirty="0">
                <a:solidFill>
                  <a:srgbClr val="000000"/>
                </a:solidFill>
                <a:latin typeface="Arial"/>
                <a:ea typeface="Arial"/>
                <a:cs typeface="Arial"/>
                <a:sym typeface="Arial"/>
              </a:rPr>
              <a:t>in Natural Language Processing (NLP).</a:t>
            </a:r>
            <a:endParaRPr lang="en-US" sz="2400" dirty="0"/>
          </a:p>
          <a:p>
            <a:pPr marL="342900" lvl="0" indent="-342900">
              <a:spcBef>
                <a:spcPts val="0"/>
              </a:spcBef>
              <a:spcAft>
                <a:spcPts val="0"/>
              </a:spcAft>
              <a:buClr>
                <a:srgbClr val="000000"/>
              </a:buClr>
              <a:buSzPts val="2100"/>
              <a:buFont typeface="Arial"/>
              <a:buChar char="•"/>
            </a:pPr>
            <a:r>
              <a:rPr lang="en-US" sz="2400" dirty="0">
                <a:solidFill>
                  <a:srgbClr val="000000"/>
                </a:solidFill>
                <a:latin typeface="Arial"/>
                <a:ea typeface="Arial"/>
                <a:cs typeface="Arial"/>
                <a:sym typeface="Arial"/>
              </a:rPr>
              <a:t>To Explain the </a:t>
            </a:r>
            <a:r>
              <a:rPr lang="en-US" sz="2400" b="1" dirty="0">
                <a:solidFill>
                  <a:srgbClr val="000000"/>
                </a:solidFill>
                <a:latin typeface="Arial"/>
                <a:ea typeface="Arial"/>
                <a:cs typeface="Arial"/>
                <a:sym typeface="Arial"/>
              </a:rPr>
              <a:t>computational properties of natural languages and articulate the algorithms</a:t>
            </a:r>
            <a:r>
              <a:rPr lang="en-US" sz="2400" dirty="0">
                <a:solidFill>
                  <a:srgbClr val="000000"/>
                </a:solidFill>
                <a:latin typeface="Arial"/>
                <a:ea typeface="Arial"/>
                <a:cs typeface="Arial"/>
                <a:sym typeface="Arial"/>
              </a:rPr>
              <a:t> commonly utilized for processing linguistic information.</a:t>
            </a:r>
            <a:endParaRPr lang="en-US" sz="2400" dirty="0"/>
          </a:p>
          <a:p>
            <a:pPr marL="342900" lvl="0" indent="-342900">
              <a:spcBef>
                <a:spcPts val="0"/>
              </a:spcBef>
              <a:spcAft>
                <a:spcPts val="0"/>
              </a:spcAft>
              <a:buClr>
                <a:srgbClr val="000000"/>
              </a:buClr>
              <a:buSzPts val="2100"/>
              <a:buFont typeface="Arial"/>
              <a:buChar char="•"/>
            </a:pPr>
            <a:r>
              <a:rPr lang="en-US" sz="2400" dirty="0">
                <a:solidFill>
                  <a:srgbClr val="000000"/>
                </a:solidFill>
                <a:latin typeface="Arial"/>
                <a:ea typeface="Arial"/>
                <a:cs typeface="Arial"/>
                <a:sym typeface="Arial"/>
              </a:rPr>
              <a:t>To </a:t>
            </a:r>
            <a:r>
              <a:rPr lang="en-US" sz="2400" b="1" dirty="0">
                <a:solidFill>
                  <a:srgbClr val="000000"/>
                </a:solidFill>
                <a:latin typeface="Arial"/>
                <a:ea typeface="Arial"/>
                <a:cs typeface="Arial"/>
                <a:sym typeface="Arial"/>
              </a:rPr>
              <a:t>Apply basic mathematical models and methods in NLP applications to solve problems and perform tasks.</a:t>
            </a:r>
            <a:endParaRPr lang="en-US" sz="2400" b="1" dirty="0"/>
          </a:p>
          <a:p>
            <a:pPr marL="342900" lvl="0" indent="-342900">
              <a:spcBef>
                <a:spcPts val="0"/>
              </a:spcBef>
              <a:spcAft>
                <a:spcPts val="0"/>
              </a:spcAft>
              <a:buClr>
                <a:srgbClr val="000000"/>
              </a:buClr>
              <a:buSzPts val="2100"/>
              <a:buFont typeface="Arial"/>
              <a:buChar char="•"/>
            </a:pPr>
            <a:r>
              <a:rPr lang="en-US" sz="2400" dirty="0">
                <a:solidFill>
                  <a:srgbClr val="000000"/>
                </a:solidFill>
                <a:latin typeface="Arial"/>
                <a:ea typeface="Arial"/>
                <a:cs typeface="Arial"/>
                <a:sym typeface="Arial"/>
              </a:rPr>
              <a:t>To </a:t>
            </a:r>
            <a:r>
              <a:rPr lang="en-US" sz="2400" b="1" dirty="0">
                <a:solidFill>
                  <a:srgbClr val="000000"/>
                </a:solidFill>
                <a:latin typeface="Arial"/>
                <a:ea typeface="Arial"/>
                <a:cs typeface="Arial"/>
                <a:sym typeface="Arial"/>
              </a:rPr>
              <a:t>Examine research and development efforts </a:t>
            </a:r>
            <a:r>
              <a:rPr lang="en-US" sz="2400" dirty="0">
                <a:solidFill>
                  <a:srgbClr val="000000"/>
                </a:solidFill>
                <a:latin typeface="Arial"/>
                <a:ea typeface="Arial"/>
                <a:cs typeface="Arial"/>
                <a:sym typeface="Arial"/>
              </a:rPr>
              <a:t>in Natural Language Processing to discern trends, challenges, and opportunities.</a:t>
            </a:r>
            <a:endParaRPr lang="en-US" sz="2400" dirty="0"/>
          </a:p>
          <a:p>
            <a:pPr algn="just" fontAlgn="auto">
              <a:spcBef>
                <a:spcPct val="20000"/>
              </a:spcBef>
              <a:spcAft>
                <a:spcPts val="0"/>
              </a:spcAft>
            </a:pPr>
            <a:endParaRPr lang="en-US" sz="2800" dirty="0">
              <a:solidFill>
                <a:srgbClr val="000000"/>
              </a:solidFill>
              <a:latin typeface="Calibri" panose="020F0502020204030204" pitchFamily="34" charset="0"/>
              <a:ea typeface="Calibri" panose="020F0502020204030204" pitchFamily="34" charset="0"/>
            </a:endParaRPr>
          </a:p>
          <a:p>
            <a:pPr marL="342900" lvl="0" indent="-342900" algn="just" fontAlgn="auto">
              <a:spcBef>
                <a:spcPct val="20000"/>
              </a:spcBef>
              <a:spcAft>
                <a:spcPts val="0"/>
              </a:spcAft>
              <a:buFont typeface="Arial" pitchFamily="34" charset="0"/>
              <a:buChar char="•"/>
            </a:pPr>
            <a:endParaRPr lang="en-IN" sz="2800" dirty="0">
              <a:latin typeface="+mn-lt"/>
            </a:endParaRPr>
          </a:p>
        </p:txBody>
      </p:sp>
      <p:sp>
        <p:nvSpPr>
          <p:cNvPr id="14" name="Date Placeholder 11"/>
          <p:cNvSpPr txBox="1">
            <a:spLocks/>
          </p:cNvSpPr>
          <p:nvPr/>
        </p:nvSpPr>
        <p:spPr>
          <a:xfrm>
            <a:off x="3810000" y="6553200"/>
            <a:ext cx="1828800" cy="280852"/>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7D86349-F964-4050-B3B2-6C0084D98C77}" type="datetime3">
              <a:rPr kumimoji="0" lang="en-US" sz="1200" b="1" i="0" u="none" strike="noStrike" kern="1200" cap="none" spc="0" normalizeH="0" baseline="0" noProof="0" smtClean="0">
                <a:ln>
                  <a:noFill/>
                </a:ln>
                <a:solidFill>
                  <a:schemeClr val="tx1"/>
                </a:solidFill>
                <a:effectLst/>
                <a:uLnTx/>
                <a:uFillTx/>
                <a:latin typeface="+mn-lt"/>
              </a:rPr>
              <a:pPr marL="0" marR="0" lvl="0" indent="0" algn="l" defTabSz="914400" rtl="0" eaLnBrk="1" fontAlgn="base" latinLnBrk="0" hangingPunct="1">
                <a:lnSpc>
                  <a:spcPct val="100000"/>
                </a:lnSpc>
                <a:spcBef>
                  <a:spcPct val="0"/>
                </a:spcBef>
                <a:spcAft>
                  <a:spcPct val="0"/>
                </a:spcAft>
                <a:buClrTx/>
                <a:buSzTx/>
                <a:buFontTx/>
                <a:buNone/>
                <a:tabLst/>
                <a:defRPr/>
              </a:pPr>
              <a:t>26 April 2026</a:t>
            </a:fld>
            <a:endParaRPr kumimoji="0" lang="en-US" sz="1200" b="1" i="0" u="none" strike="noStrike" kern="1200" cap="none" spc="0" normalizeH="0" baseline="0" noProof="0" dirty="0">
              <a:ln>
                <a:noFill/>
              </a:ln>
              <a:solidFill>
                <a:schemeClr val="tx1"/>
              </a:solidFill>
              <a:effectLst/>
              <a:uLnTx/>
              <a:uFillTx/>
              <a:latin typeface="+mn-lt"/>
            </a:endParaRPr>
          </a:p>
        </p:txBody>
      </p:sp>
      <p:sp>
        <p:nvSpPr>
          <p:cNvPr id="2" name="Slide Number Placeholder 1"/>
          <p:cNvSpPr>
            <a:spLocks noGrp="1"/>
          </p:cNvSpPr>
          <p:nvPr>
            <p:ph type="sldNum" sz="quarter" idx="12"/>
          </p:nvPr>
        </p:nvSpPr>
        <p:spPr/>
        <p:txBody>
          <a:bodyPr/>
          <a:lstStyle/>
          <a:p>
            <a:pPr>
              <a:defRPr/>
            </a:pPr>
            <a:fld id="{60DB935C-A2BB-404C-A6C5-67E9068028EC}" type="slidenum">
              <a:rPr lang="en-US" smtClean="0"/>
              <a:pPr>
                <a:defRPr/>
              </a:pPr>
              <a:t>4</a:t>
            </a:fld>
            <a:endParaRPr lang="en-US"/>
          </a:p>
        </p:txBody>
      </p:sp>
      <p:grpSp>
        <p:nvGrpSpPr>
          <p:cNvPr id="5" name="Group 4">
            <a:extLst>
              <a:ext uri="{FF2B5EF4-FFF2-40B4-BE49-F238E27FC236}">
                <a16:creationId xmlns:a16="http://schemas.microsoft.com/office/drawing/2014/main" id="{9B2F3CDD-8FB6-0CD7-6444-B03B32E7A4C9}"/>
              </a:ext>
            </a:extLst>
          </p:cNvPr>
          <p:cNvGrpSpPr/>
          <p:nvPr/>
        </p:nvGrpSpPr>
        <p:grpSpPr>
          <a:xfrm>
            <a:off x="3654840" y="1843050"/>
            <a:ext cx="3206160" cy="503280"/>
            <a:chOff x="3654840" y="1843050"/>
            <a:chExt cx="3206160" cy="50328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52E0DF7-D9F5-295C-60ED-4FFD45A3F500}"/>
                    </a:ext>
                  </a:extLst>
                </p14:cNvPr>
                <p14:cNvContentPartPr/>
                <p14:nvPr/>
              </p14:nvContentPartPr>
              <p14:xfrm>
                <a:off x="3654840" y="1843050"/>
                <a:ext cx="10080" cy="123120"/>
              </p14:xfrm>
            </p:contentPart>
          </mc:Choice>
          <mc:Fallback>
            <p:pic>
              <p:nvPicPr>
                <p:cNvPr id="3" name="Ink 2">
                  <a:extLst>
                    <a:ext uri="{FF2B5EF4-FFF2-40B4-BE49-F238E27FC236}">
                      <a16:creationId xmlns:a16="http://schemas.microsoft.com/office/drawing/2014/main" id="{752E0DF7-D9F5-295C-60ED-4FFD45A3F500}"/>
                    </a:ext>
                  </a:extLst>
                </p:cNvPr>
                <p:cNvPicPr/>
                <p:nvPr/>
              </p:nvPicPr>
              <p:blipFill>
                <a:blip r:embed="rId4"/>
                <a:stretch>
                  <a:fillRect/>
                </a:stretch>
              </p:blipFill>
              <p:spPr>
                <a:xfrm>
                  <a:off x="3650520" y="1838730"/>
                  <a:ext cx="1872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58A291F-5D79-F052-A693-4CDD39124952}"/>
                    </a:ext>
                  </a:extLst>
                </p14:cNvPr>
                <p14:cNvContentPartPr/>
                <p14:nvPr/>
              </p14:nvContentPartPr>
              <p14:xfrm>
                <a:off x="3843480" y="1987050"/>
                <a:ext cx="3017520" cy="359280"/>
              </p14:xfrm>
            </p:contentPart>
          </mc:Choice>
          <mc:Fallback>
            <p:pic>
              <p:nvPicPr>
                <p:cNvPr id="4" name="Ink 3">
                  <a:extLst>
                    <a:ext uri="{FF2B5EF4-FFF2-40B4-BE49-F238E27FC236}">
                      <a16:creationId xmlns:a16="http://schemas.microsoft.com/office/drawing/2014/main" id="{E58A291F-5D79-F052-A693-4CDD39124952}"/>
                    </a:ext>
                  </a:extLst>
                </p:cNvPr>
                <p:cNvPicPr/>
                <p:nvPr/>
              </p:nvPicPr>
              <p:blipFill>
                <a:blip r:embed="rId6"/>
                <a:stretch>
                  <a:fillRect/>
                </a:stretch>
              </p:blipFill>
              <p:spPr>
                <a:xfrm>
                  <a:off x="3839160" y="1982730"/>
                  <a:ext cx="3026160" cy="367920"/>
                </a:xfrm>
                <a:prstGeom prst="rect">
                  <a:avLst/>
                </a:prstGeom>
              </p:spPr>
            </p:pic>
          </mc:Fallback>
        </mc:AlternateContent>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6542FE-A859-377A-05E5-CF5FF197617C}"/>
              </a:ext>
            </a:extLst>
          </p:cNvPr>
          <p:cNvSpPr>
            <a:spLocks noGrp="1"/>
          </p:cNvSpPr>
          <p:nvPr>
            <p:ph type="sldNum" sz="quarter" idx="12"/>
          </p:nvPr>
        </p:nvSpPr>
        <p:spPr/>
        <p:txBody>
          <a:bodyPr/>
          <a:lstStyle/>
          <a:p>
            <a:pPr>
              <a:defRPr/>
            </a:pPr>
            <a:fld id="{60DB935C-A2BB-404C-A6C5-67E9068028EC}" type="slidenum">
              <a:rPr lang="en-US" smtClean="0"/>
              <a:pPr>
                <a:defRPr/>
              </a:pPr>
              <a:t>5</a:t>
            </a:fld>
            <a:endParaRPr lang="en-US"/>
          </a:p>
        </p:txBody>
      </p:sp>
    </p:spTree>
    <p:extLst>
      <p:ext uri="{BB962C8B-B14F-4D97-AF65-F5344CB8AC3E}">
        <p14:creationId xmlns:p14="http://schemas.microsoft.com/office/powerpoint/2010/main" val="2588864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0DB935C-A2BB-404C-A6C5-67E9068028EC}" type="slidenum">
              <a:rPr lang="en-US" smtClean="0"/>
              <a:pPr>
                <a:defRPr/>
              </a:pPr>
              <a:t>6</a:t>
            </a:fld>
            <a:endParaRPr lang="en-US"/>
          </a:p>
        </p:txBody>
      </p:sp>
      <p:sp>
        <p:nvSpPr>
          <p:cNvPr id="4" name="TextBox 3"/>
          <p:cNvSpPr txBox="1"/>
          <p:nvPr/>
        </p:nvSpPr>
        <p:spPr>
          <a:xfrm>
            <a:off x="152400" y="381000"/>
            <a:ext cx="6019800" cy="523220"/>
          </a:xfrm>
          <a:prstGeom prst="rect">
            <a:avLst/>
          </a:prstGeom>
          <a:noFill/>
        </p:spPr>
        <p:txBody>
          <a:bodyPr wrap="square" rtlCol="0">
            <a:spAutoFit/>
          </a:bodyPr>
          <a:lstStyle/>
          <a:p>
            <a:r>
              <a:rPr lang="en-US" sz="2800" b="1" dirty="0">
                <a:latin typeface="+mj-lt"/>
              </a:rPr>
              <a:t>What you will learn in this course</a:t>
            </a:r>
            <a:endParaRPr lang="en-IN" sz="2800" dirty="0">
              <a:latin typeface="+mj-lt"/>
            </a:endParaRPr>
          </a:p>
        </p:txBody>
      </p:sp>
      <p:sp>
        <p:nvSpPr>
          <p:cNvPr id="6" name="Rectangle 5"/>
          <p:cNvSpPr/>
          <p:nvPr/>
        </p:nvSpPr>
        <p:spPr>
          <a:xfrm>
            <a:off x="381000" y="1828800"/>
            <a:ext cx="7848600" cy="3908762"/>
          </a:xfrm>
          <a:prstGeom prst="rect">
            <a:avLst/>
          </a:prstGeom>
        </p:spPr>
        <p:txBody>
          <a:bodyPr wrap="square">
            <a:spAutoFit/>
          </a:bodyPr>
          <a:lstStyle/>
          <a:p>
            <a:pPr marL="342900" lvl="0" indent="-342900">
              <a:spcBef>
                <a:spcPts val="0"/>
              </a:spcBef>
              <a:spcAft>
                <a:spcPts val="0"/>
              </a:spcAft>
              <a:buSzPct val="100000"/>
              <a:buChar char="•"/>
            </a:pPr>
            <a:r>
              <a:rPr lang="en-US" b="1" dirty="0"/>
              <a:t>Vector Semantics</a:t>
            </a:r>
            <a:endParaRPr lang="en-US" dirty="0"/>
          </a:p>
          <a:p>
            <a:pPr marL="342900" lvl="0" indent="-342900">
              <a:spcBef>
                <a:spcPts val="0"/>
              </a:spcBef>
              <a:spcAft>
                <a:spcPts val="0"/>
              </a:spcAft>
              <a:buClr>
                <a:schemeClr val="dk1"/>
              </a:buClr>
              <a:buSzPct val="100000"/>
              <a:buChar char="•"/>
            </a:pPr>
            <a:r>
              <a:rPr lang="en-US" b="1" dirty="0"/>
              <a:t>Word Embedding</a:t>
            </a:r>
            <a:endParaRPr lang="en-US" dirty="0"/>
          </a:p>
          <a:p>
            <a:pPr marL="342900" lvl="0" indent="-342900">
              <a:spcBef>
                <a:spcPts val="0"/>
              </a:spcBef>
              <a:spcAft>
                <a:spcPts val="0"/>
              </a:spcAft>
              <a:buClr>
                <a:schemeClr val="dk1"/>
              </a:buClr>
              <a:buSzPct val="100000"/>
              <a:buChar char="•"/>
            </a:pPr>
            <a:r>
              <a:rPr lang="en-US" b="1" dirty="0"/>
              <a:t>Language Modelling</a:t>
            </a:r>
            <a:endParaRPr lang="en-US" dirty="0"/>
          </a:p>
          <a:p>
            <a:pPr marL="742950" lvl="1" indent="-285750">
              <a:spcBef>
                <a:spcPts val="434"/>
              </a:spcBef>
              <a:spcAft>
                <a:spcPts val="0"/>
              </a:spcAft>
              <a:buClr>
                <a:schemeClr val="dk1"/>
              </a:buClr>
              <a:buSzPct val="100000"/>
              <a:buChar char="–"/>
            </a:pPr>
            <a:r>
              <a:rPr lang="en-US" dirty="0"/>
              <a:t>N-gram language modeling</a:t>
            </a:r>
          </a:p>
          <a:p>
            <a:pPr marL="742950" lvl="1" indent="-285750">
              <a:spcBef>
                <a:spcPts val="434"/>
              </a:spcBef>
              <a:spcAft>
                <a:spcPts val="0"/>
              </a:spcAft>
              <a:buClr>
                <a:schemeClr val="dk1"/>
              </a:buClr>
              <a:buSzPct val="100000"/>
              <a:buChar char="–"/>
            </a:pPr>
            <a:r>
              <a:rPr lang="en-US" dirty="0"/>
              <a:t>Neural Language Models</a:t>
            </a:r>
          </a:p>
          <a:p>
            <a:pPr marL="342900" lvl="0" indent="-342900">
              <a:spcBef>
                <a:spcPts val="496"/>
              </a:spcBef>
              <a:spcAft>
                <a:spcPts val="0"/>
              </a:spcAft>
              <a:buClr>
                <a:schemeClr val="dk1"/>
              </a:buClr>
              <a:buSzPct val="100000"/>
              <a:buChar char="•"/>
            </a:pPr>
            <a:r>
              <a:rPr lang="en-US" b="1" dirty="0"/>
              <a:t>Introduction to LLM and Prompt Engineering</a:t>
            </a:r>
            <a:endParaRPr lang="en-US" dirty="0"/>
          </a:p>
          <a:p>
            <a:pPr marL="342900" lvl="0" indent="-342900">
              <a:spcBef>
                <a:spcPts val="496"/>
              </a:spcBef>
              <a:spcAft>
                <a:spcPts val="0"/>
              </a:spcAft>
              <a:buClr>
                <a:schemeClr val="dk1"/>
              </a:buClr>
              <a:buSzPct val="100000"/>
              <a:buChar char="•"/>
            </a:pPr>
            <a:r>
              <a:rPr lang="en-US" b="1" dirty="0"/>
              <a:t>Part-of-Speech Tagging</a:t>
            </a:r>
            <a:r>
              <a:rPr lang="en-US" dirty="0"/>
              <a:t> </a:t>
            </a:r>
          </a:p>
          <a:p>
            <a:pPr marL="342900" lvl="0" indent="-342900">
              <a:spcBef>
                <a:spcPts val="496"/>
              </a:spcBef>
              <a:spcAft>
                <a:spcPts val="0"/>
              </a:spcAft>
              <a:buClr>
                <a:schemeClr val="dk1"/>
              </a:buClr>
              <a:buSzPct val="100000"/>
              <a:buChar char="•"/>
            </a:pPr>
            <a:r>
              <a:rPr lang="en-US" b="1" dirty="0"/>
              <a:t>Parsing</a:t>
            </a:r>
            <a:endParaRPr lang="en-US" dirty="0"/>
          </a:p>
          <a:p>
            <a:pPr marL="342900" lvl="0" indent="-342900">
              <a:spcBef>
                <a:spcPts val="496"/>
              </a:spcBef>
              <a:spcAft>
                <a:spcPts val="0"/>
              </a:spcAft>
              <a:buClr>
                <a:schemeClr val="dk1"/>
              </a:buClr>
              <a:buSzPct val="100000"/>
              <a:buChar char="•"/>
            </a:pPr>
            <a:r>
              <a:rPr lang="en-US" b="1" dirty="0"/>
              <a:t>Encoder-Decoder Models, Attention and Contextual Embedding's, BERT</a:t>
            </a:r>
            <a:endParaRPr lang="en-US" dirty="0"/>
          </a:p>
          <a:p>
            <a:pPr marL="342900" lvl="0" indent="-342900">
              <a:spcBef>
                <a:spcPts val="496"/>
              </a:spcBef>
              <a:spcAft>
                <a:spcPts val="0"/>
              </a:spcAft>
              <a:buClr>
                <a:schemeClr val="dk1"/>
              </a:buClr>
              <a:buSzPct val="100000"/>
              <a:buChar char="•"/>
            </a:pPr>
            <a:r>
              <a:rPr lang="en-US" b="1" dirty="0"/>
              <a:t>Word sense disambiguation</a:t>
            </a:r>
          </a:p>
          <a:p>
            <a:pPr marL="342900" lvl="0" indent="-342900">
              <a:spcBef>
                <a:spcPts val="496"/>
              </a:spcBef>
              <a:spcAft>
                <a:spcPts val="0"/>
              </a:spcAft>
              <a:buClr>
                <a:schemeClr val="dk1"/>
              </a:buClr>
              <a:buSzPct val="100000"/>
              <a:buChar char="•"/>
            </a:pPr>
            <a:r>
              <a:rPr lang="en-US" b="1" dirty="0"/>
              <a:t>Semantic web ontology and knowledge Graphs</a:t>
            </a:r>
            <a:endParaRPr lang="en-US" dirty="0"/>
          </a:p>
          <a:p>
            <a:pPr marL="342900" lvl="0" indent="-342900">
              <a:spcBef>
                <a:spcPts val="496"/>
              </a:spcBef>
              <a:spcAft>
                <a:spcPts val="0"/>
              </a:spcAft>
              <a:buClr>
                <a:schemeClr val="dk1"/>
              </a:buClr>
              <a:buSzPct val="100000"/>
              <a:buChar char="•"/>
            </a:pPr>
            <a:r>
              <a:rPr lang="en-US" b="1" dirty="0"/>
              <a:t>Retrieval Augmented Generation (RAG)</a:t>
            </a:r>
            <a:endParaRPr lang="en-US" dirty="0"/>
          </a:p>
          <a:p>
            <a:pPr marL="342900" lvl="0" indent="-185420">
              <a:spcBef>
                <a:spcPts val="496"/>
              </a:spcBef>
              <a:spcAft>
                <a:spcPts val="0"/>
              </a:spcAft>
              <a:buClr>
                <a:schemeClr val="dk1"/>
              </a:buClr>
              <a:buSzPct val="100000"/>
            </a:pPr>
            <a:endParaRPr lang="en-US" dirty="0"/>
          </a:p>
        </p:txBody>
      </p:sp>
    </p:spTree>
    <p:extLst>
      <p:ext uri="{BB962C8B-B14F-4D97-AF65-F5344CB8AC3E}">
        <p14:creationId xmlns:p14="http://schemas.microsoft.com/office/powerpoint/2010/main" val="4224075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96240" y="1604200"/>
          <a:ext cx="8117174" cy="1771865"/>
        </p:xfrm>
        <a:graphic>
          <a:graphicData uri="http://schemas.openxmlformats.org/drawingml/2006/table">
            <a:tbl>
              <a:tblPr>
                <a:tableStyleId>{5940675A-B579-460E-94D1-54222C63F5DA}</a:tableStyleId>
              </a:tblPr>
              <a:tblGrid>
                <a:gridCol w="947894">
                  <a:extLst>
                    <a:ext uri="{9D8B030D-6E8A-4147-A177-3AD203B41FA5}">
                      <a16:colId xmlns:a16="http://schemas.microsoft.com/office/drawing/2014/main" val="20000"/>
                    </a:ext>
                  </a:extLst>
                </a:gridCol>
                <a:gridCol w="7169280">
                  <a:extLst>
                    <a:ext uri="{9D8B030D-6E8A-4147-A177-3AD203B41FA5}">
                      <a16:colId xmlns:a16="http://schemas.microsoft.com/office/drawing/2014/main" val="20001"/>
                    </a:ext>
                  </a:extLst>
                </a:gridCol>
              </a:tblGrid>
              <a:tr h="1003554">
                <a:tc>
                  <a:txBody>
                    <a:bodyPr/>
                    <a:lstStyle/>
                    <a:p>
                      <a:pPr marL="0" marR="0" algn="ctr">
                        <a:lnSpc>
                          <a:spcPct val="115000"/>
                        </a:lnSpc>
                        <a:spcBef>
                          <a:spcPts val="0"/>
                        </a:spcBef>
                        <a:spcAft>
                          <a:spcPts val="0"/>
                        </a:spcAft>
                      </a:pPr>
                      <a:r>
                        <a:rPr lang="en-IN" sz="1800" dirty="0">
                          <a:effectLst/>
                        </a:rPr>
                        <a:t>T1</a:t>
                      </a:r>
                      <a:endParaRPr lang="en-US" sz="1800" dirty="0">
                        <a:solidFill>
                          <a:srgbClr val="000000"/>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tc>
                <a:tc>
                  <a:txBody>
                    <a:bodyPr/>
                    <a:lstStyle/>
                    <a:p>
                      <a:pPr marL="0" marR="0" algn="just">
                        <a:lnSpc>
                          <a:spcPct val="115000"/>
                        </a:lnSpc>
                        <a:spcBef>
                          <a:spcPts val="0"/>
                        </a:spcBef>
                        <a:spcAft>
                          <a:spcPts val="0"/>
                        </a:spcAft>
                      </a:pPr>
                      <a:r>
                        <a:rPr lang="en-IN" sz="1800" dirty="0" err="1">
                          <a:effectLst/>
                        </a:rPr>
                        <a:t>Jurafsky</a:t>
                      </a:r>
                      <a:r>
                        <a:rPr lang="en-IN" sz="1800" dirty="0">
                          <a:effectLst/>
                        </a:rPr>
                        <a:t> and Martin, SPEECH and LANGUAGE PROCESSING: An Introduction to Natural Language Processing, Computational Linguistics, and Speech Recognition, McGraw Hill</a:t>
                      </a:r>
                      <a:endParaRPr lang="en-US" sz="1800" dirty="0">
                        <a:solidFill>
                          <a:srgbClr val="000000"/>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tc>
                <a:extLst>
                  <a:ext uri="{0D108BD9-81ED-4DB2-BD59-A6C34878D82A}">
                    <a16:rowId xmlns:a16="http://schemas.microsoft.com/office/drawing/2014/main" val="10000"/>
                  </a:ext>
                </a:extLst>
              </a:tr>
              <a:tr h="768311">
                <a:tc>
                  <a:txBody>
                    <a:bodyPr/>
                    <a:lstStyle/>
                    <a:p>
                      <a:pPr marL="0" marR="0" algn="ctr">
                        <a:lnSpc>
                          <a:spcPct val="115000"/>
                        </a:lnSpc>
                        <a:spcBef>
                          <a:spcPts val="0"/>
                        </a:spcBef>
                        <a:spcAft>
                          <a:spcPts val="0"/>
                        </a:spcAft>
                      </a:pPr>
                      <a:r>
                        <a:rPr lang="en-IN" sz="1800">
                          <a:effectLst/>
                          <a:highlight>
                            <a:srgbClr val="FFFFFF"/>
                          </a:highlight>
                        </a:rPr>
                        <a:t>T2</a:t>
                      </a:r>
                      <a:endParaRPr lang="en-US" sz="1800">
                        <a:solidFill>
                          <a:srgbClr val="000000"/>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tc>
                <a:tc>
                  <a:txBody>
                    <a:bodyPr/>
                    <a:lstStyle/>
                    <a:p>
                      <a:pPr marL="0" marR="0" algn="just">
                        <a:lnSpc>
                          <a:spcPct val="115000"/>
                        </a:lnSpc>
                        <a:spcBef>
                          <a:spcPts val="0"/>
                        </a:spcBef>
                        <a:spcAft>
                          <a:spcPts val="0"/>
                        </a:spcAft>
                      </a:pPr>
                      <a:r>
                        <a:rPr lang="en-IN" sz="1800" dirty="0">
                          <a:effectLst/>
                        </a:rPr>
                        <a:t>Manning and </a:t>
                      </a:r>
                      <a:r>
                        <a:rPr lang="en-IN" sz="1800" dirty="0" err="1">
                          <a:effectLst/>
                        </a:rPr>
                        <a:t>Schütze</a:t>
                      </a:r>
                      <a:r>
                        <a:rPr lang="en-IN" sz="1800" dirty="0">
                          <a:effectLst/>
                        </a:rPr>
                        <a:t>, Foundations of Statistical Natural Language Processing, MIT Press. Cambridge, MA</a:t>
                      </a:r>
                      <a:endParaRPr lang="en-US" sz="1800" dirty="0">
                        <a:solidFill>
                          <a:srgbClr val="000000"/>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nvGraphicFramePr>
        <p:xfrm>
          <a:off x="396241" y="3810001"/>
          <a:ext cx="8117174" cy="1600200"/>
        </p:xfrm>
        <a:graphic>
          <a:graphicData uri="http://schemas.openxmlformats.org/drawingml/2006/table">
            <a:tbl>
              <a:tblPr>
                <a:effectLst/>
                <a:tableStyleId>{5940675A-B579-460E-94D1-54222C63F5DA}</a:tableStyleId>
              </a:tblPr>
              <a:tblGrid>
                <a:gridCol w="947893">
                  <a:extLst>
                    <a:ext uri="{9D8B030D-6E8A-4147-A177-3AD203B41FA5}">
                      <a16:colId xmlns:a16="http://schemas.microsoft.com/office/drawing/2014/main" val="20000"/>
                    </a:ext>
                  </a:extLst>
                </a:gridCol>
                <a:gridCol w="7169281">
                  <a:extLst>
                    <a:ext uri="{9D8B030D-6E8A-4147-A177-3AD203B41FA5}">
                      <a16:colId xmlns:a16="http://schemas.microsoft.com/office/drawing/2014/main" val="20001"/>
                    </a:ext>
                  </a:extLst>
                </a:gridCol>
              </a:tblGrid>
              <a:tr h="396469">
                <a:tc>
                  <a:txBody>
                    <a:bodyPr/>
                    <a:lstStyle/>
                    <a:p>
                      <a:pPr marL="0" marR="0" algn="ctr">
                        <a:lnSpc>
                          <a:spcPct val="115000"/>
                        </a:lnSpc>
                        <a:spcBef>
                          <a:spcPts val="0"/>
                        </a:spcBef>
                        <a:spcAft>
                          <a:spcPts val="0"/>
                        </a:spcAft>
                      </a:pPr>
                      <a:r>
                        <a:rPr lang="en-IN" sz="1800" dirty="0">
                          <a:solidFill>
                            <a:schemeClr val="tx1"/>
                          </a:solidFill>
                          <a:effectLst/>
                          <a:highlight>
                            <a:srgbClr val="FFFFFF"/>
                          </a:highlight>
                        </a:rPr>
                        <a:t>R1</a:t>
                      </a:r>
                      <a:endParaRPr lang="en-US" sz="1800" dirty="0">
                        <a:solidFill>
                          <a:schemeClr val="tx1"/>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lnSpc>
                          <a:spcPct val="115000"/>
                        </a:lnSpc>
                        <a:spcBef>
                          <a:spcPts val="0"/>
                        </a:spcBef>
                        <a:spcAft>
                          <a:spcPts val="0"/>
                        </a:spcAft>
                      </a:pPr>
                      <a:r>
                        <a:rPr lang="en-IN" sz="1800" dirty="0">
                          <a:solidFill>
                            <a:schemeClr val="tx1"/>
                          </a:solidFill>
                          <a:effectLst/>
                        </a:rPr>
                        <a:t>Allen James, Natural Language Understanding</a:t>
                      </a:r>
                      <a:endParaRPr lang="en-US" sz="1800" dirty="0">
                        <a:solidFill>
                          <a:schemeClr val="tx1"/>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96469">
                <a:tc>
                  <a:txBody>
                    <a:bodyPr/>
                    <a:lstStyle/>
                    <a:p>
                      <a:pPr marL="0" marR="0" algn="ctr">
                        <a:lnSpc>
                          <a:spcPct val="115000"/>
                        </a:lnSpc>
                        <a:spcBef>
                          <a:spcPts val="0"/>
                        </a:spcBef>
                        <a:spcAft>
                          <a:spcPts val="0"/>
                        </a:spcAft>
                      </a:pPr>
                      <a:r>
                        <a:rPr lang="en-IN" sz="1800">
                          <a:solidFill>
                            <a:schemeClr val="tx1"/>
                          </a:solidFill>
                          <a:effectLst/>
                          <a:highlight>
                            <a:srgbClr val="FFFFFF"/>
                          </a:highlight>
                        </a:rPr>
                        <a:t>R2</a:t>
                      </a:r>
                      <a:endParaRPr lang="en-US" sz="1800">
                        <a:solidFill>
                          <a:schemeClr val="tx1"/>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lnSpc>
                          <a:spcPct val="115000"/>
                        </a:lnSpc>
                        <a:spcBef>
                          <a:spcPts val="0"/>
                        </a:spcBef>
                        <a:spcAft>
                          <a:spcPts val="0"/>
                        </a:spcAft>
                      </a:pPr>
                      <a:r>
                        <a:rPr lang="en-IN" sz="1800" dirty="0">
                          <a:solidFill>
                            <a:schemeClr val="tx1"/>
                          </a:solidFill>
                          <a:effectLst/>
                        </a:rPr>
                        <a:t>Neural Machine Translation by Philipp Koehn</a:t>
                      </a:r>
                      <a:endParaRPr lang="en-US" sz="1800" dirty="0">
                        <a:solidFill>
                          <a:schemeClr val="tx1"/>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07262">
                <a:tc>
                  <a:txBody>
                    <a:bodyPr/>
                    <a:lstStyle/>
                    <a:p>
                      <a:pPr marL="0" marR="0" algn="ctr">
                        <a:lnSpc>
                          <a:spcPct val="115000"/>
                        </a:lnSpc>
                        <a:spcBef>
                          <a:spcPts val="0"/>
                        </a:spcBef>
                        <a:spcAft>
                          <a:spcPts val="0"/>
                        </a:spcAft>
                      </a:pPr>
                      <a:r>
                        <a:rPr lang="en-IN" sz="1800" dirty="0">
                          <a:solidFill>
                            <a:schemeClr val="tx1"/>
                          </a:solidFill>
                          <a:effectLst/>
                          <a:highlight>
                            <a:srgbClr val="FFFFFF"/>
                          </a:highlight>
                        </a:rPr>
                        <a:t>R3</a:t>
                      </a:r>
                      <a:endParaRPr lang="en-US" sz="1800" dirty="0">
                        <a:solidFill>
                          <a:schemeClr val="tx1"/>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lnSpc>
                          <a:spcPct val="115000"/>
                        </a:lnSpc>
                        <a:spcBef>
                          <a:spcPts val="0"/>
                        </a:spcBef>
                        <a:spcAft>
                          <a:spcPts val="0"/>
                        </a:spcAft>
                      </a:pPr>
                      <a:r>
                        <a:rPr lang="en-IN" sz="1800" dirty="0">
                          <a:solidFill>
                            <a:schemeClr val="tx1"/>
                          </a:solidFill>
                          <a:effectLst/>
                        </a:rPr>
                        <a:t>Semantic Web Primer (Information Systems) By Antoniou, Grigoris; Van </a:t>
                      </a:r>
                      <a:r>
                        <a:rPr lang="en-IN" sz="1800" dirty="0" err="1">
                          <a:solidFill>
                            <a:schemeClr val="tx1"/>
                          </a:solidFill>
                          <a:effectLst/>
                        </a:rPr>
                        <a:t>Harmelen</a:t>
                      </a:r>
                      <a:r>
                        <a:rPr lang="en-IN" sz="1800" dirty="0">
                          <a:solidFill>
                            <a:schemeClr val="tx1"/>
                          </a:solidFill>
                          <a:effectLst/>
                        </a:rPr>
                        <a:t>, Frank</a:t>
                      </a:r>
                      <a:endParaRPr lang="en-US" sz="1800" dirty="0">
                        <a:solidFill>
                          <a:schemeClr val="tx1"/>
                        </a:solidFill>
                        <a:effectLst/>
                        <a:latin typeface="Arial" panose="020B0604020202020204" pitchFamily="34" charset="0"/>
                        <a:ea typeface="Cambria" panose="02040503050406030204" pitchFamily="18" charset="0"/>
                        <a:cs typeface="Arial" panose="020B0604020202020204" pitchFamily="34" charset="0"/>
                      </a:endParaRPr>
                    </a:p>
                  </a:txBody>
                  <a:tcPr marL="19050" marR="28575" marT="28575" marB="285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6" name="Content Placeholder 5"/>
          <p:cNvSpPr>
            <a:spLocks noGrp="1"/>
          </p:cNvSpPr>
          <p:nvPr>
            <p:ph sz="quarter" idx="10"/>
          </p:nvPr>
        </p:nvSpPr>
        <p:spPr>
          <a:xfrm>
            <a:off x="381000" y="685800"/>
            <a:ext cx="6324600" cy="393713"/>
          </a:xfrm>
          <a:noFill/>
          <a:ln w="9525">
            <a:noFill/>
            <a:miter lim="800000"/>
            <a:headEnd/>
            <a:tailEnd/>
          </a:ln>
        </p:spPr>
        <p:txBody>
          <a:bodyPr spcFirstLastPara="1" vert="horz" wrap="square" lIns="0" tIns="24145" rIns="0" bIns="0" numCol="1" anchor="t" anchorCtr="0" compatLnSpc="1">
            <a:prstTxWarp prst="textNoShape">
              <a:avLst/>
            </a:prstTxWarp>
            <a:spAutoFit/>
          </a:bodyPr>
          <a:lstStyle/>
          <a:p>
            <a:pPr marL="20141" indent="-342900" fontAlgn="base">
              <a:lnSpc>
                <a:spcPct val="100000"/>
              </a:lnSpc>
            </a:pPr>
            <a:r>
              <a:rPr lang="en-US" sz="2400" kern="1200" spc="0" dirty="0">
                <a:ln w="0"/>
                <a:effectLst>
                  <a:outerShdw blurRad="38100" dist="19050" dir="2700000" algn="tl" rotWithShape="0">
                    <a:schemeClr val="dk1">
                      <a:alpha val="40000"/>
                    </a:schemeClr>
                  </a:outerShdw>
                </a:effectLst>
                <a:ea typeface="Cambria" panose="02040503050406030204" pitchFamily="18" charset="0"/>
                <a:sym typeface="Calibri"/>
              </a:rPr>
              <a:t>Text books and Reference books</a:t>
            </a:r>
          </a:p>
        </p:txBody>
      </p:sp>
    </p:spTree>
    <p:extLst>
      <p:ext uri="{BB962C8B-B14F-4D97-AF65-F5344CB8AC3E}">
        <p14:creationId xmlns:p14="http://schemas.microsoft.com/office/powerpoint/2010/main" val="3826893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 name="Content Placeholder 2"/>
          <p:cNvSpPr>
            <a:spLocks noGrp="1"/>
          </p:cNvSpPr>
          <p:nvPr>
            <p:ph sz="quarter" idx="10"/>
          </p:nvPr>
        </p:nvSpPr>
        <p:spPr>
          <a:xfrm>
            <a:off x="350520" y="685800"/>
            <a:ext cx="6324600" cy="393713"/>
          </a:xfrm>
          <a:noFill/>
          <a:ln w="9525">
            <a:noFill/>
            <a:miter lim="800000"/>
            <a:headEnd/>
            <a:tailEnd/>
          </a:ln>
        </p:spPr>
        <p:txBody>
          <a:bodyPr spcFirstLastPara="1" vert="horz" wrap="square" lIns="0" tIns="24145" rIns="0" bIns="0" numCol="1" anchor="t" anchorCtr="0" compatLnSpc="1">
            <a:prstTxWarp prst="textNoShape">
              <a:avLst/>
            </a:prstTxWarp>
            <a:spAutoFit/>
          </a:bodyPr>
          <a:lstStyle/>
          <a:p>
            <a:pPr marL="20141" indent="-342900" fontAlgn="base">
              <a:lnSpc>
                <a:spcPct val="100000"/>
              </a:lnSpc>
            </a:pPr>
            <a:r>
              <a:rPr lang="en-US" sz="2400" kern="1200" spc="0" dirty="0">
                <a:ln w="0"/>
                <a:effectLst>
                  <a:outerShdw blurRad="38100" dist="19050" dir="2700000" algn="tl" rotWithShape="0">
                    <a:schemeClr val="dk1">
                      <a:alpha val="40000"/>
                    </a:schemeClr>
                  </a:outerShdw>
                </a:effectLst>
                <a:ea typeface="Cambria" panose="02040503050406030204" pitchFamily="18" charset="0"/>
                <a:sym typeface="Calibri"/>
              </a:rPr>
              <a:t>Evaluation Plan </a:t>
            </a:r>
            <a:endParaRPr lang="en-US" sz="2400" kern="1200" spc="0" dirty="0">
              <a:ln w="0"/>
              <a:effectLst>
                <a:outerShdw blurRad="38100" dist="19050" dir="2700000" algn="tl" rotWithShape="0">
                  <a:schemeClr val="dk1">
                    <a:alpha val="40000"/>
                  </a:schemeClr>
                </a:outerShdw>
              </a:effectLst>
              <a:ea typeface="Cambria" panose="02040503050406030204" pitchFamily="18" charset="0"/>
            </a:endParaRPr>
          </a:p>
        </p:txBody>
      </p:sp>
      <p:sp>
        <p:nvSpPr>
          <p:cNvPr id="6" name="TextBox 5">
            <a:extLst>
              <a:ext uri="{FF2B5EF4-FFF2-40B4-BE49-F238E27FC236}">
                <a16:creationId xmlns:a16="http://schemas.microsoft.com/office/drawing/2014/main" id="{0E37C590-5688-54F1-E242-B12A544895CD}"/>
              </a:ext>
            </a:extLst>
          </p:cNvPr>
          <p:cNvSpPr txBox="1"/>
          <p:nvPr/>
        </p:nvSpPr>
        <p:spPr>
          <a:xfrm>
            <a:off x="2286000" y="3278773"/>
            <a:ext cx="4572000" cy="338554"/>
          </a:xfrm>
          <a:prstGeom prst="rect">
            <a:avLst/>
          </a:prstGeom>
          <a:noFill/>
        </p:spPr>
        <p:txBody>
          <a:bodyPr wrap="square">
            <a:spAutoFit/>
          </a:bodyPr>
          <a:lstStyle/>
          <a:p>
            <a:r>
              <a:rPr lang="en-IN" b="0" dirty="0">
                <a:effectLst/>
              </a:rPr>
              <a:t> </a:t>
            </a:r>
            <a:endParaRPr lang="en-IN" dirty="0"/>
          </a:p>
        </p:txBody>
      </p:sp>
      <p:sp>
        <p:nvSpPr>
          <p:cNvPr id="8" name="TextBox 7">
            <a:extLst>
              <a:ext uri="{FF2B5EF4-FFF2-40B4-BE49-F238E27FC236}">
                <a16:creationId xmlns:a16="http://schemas.microsoft.com/office/drawing/2014/main" id="{AB90D6B5-9D64-5B20-B55A-CE1DB67D8C65}"/>
              </a:ext>
            </a:extLst>
          </p:cNvPr>
          <p:cNvSpPr txBox="1"/>
          <p:nvPr/>
        </p:nvSpPr>
        <p:spPr>
          <a:xfrm>
            <a:off x="2286000" y="3278773"/>
            <a:ext cx="4572000" cy="338554"/>
          </a:xfrm>
          <a:prstGeom prst="rect">
            <a:avLst/>
          </a:prstGeom>
          <a:noFill/>
        </p:spPr>
        <p:txBody>
          <a:bodyPr wrap="square">
            <a:spAutoFit/>
          </a:bodyPr>
          <a:lstStyle/>
          <a:p>
            <a:r>
              <a:rPr lang="en-IN" b="0" dirty="0">
                <a:effectLst/>
              </a:rPr>
              <a:t> </a:t>
            </a:r>
            <a:endParaRPr lang="en-IN" dirty="0"/>
          </a:p>
        </p:txBody>
      </p:sp>
      <p:graphicFrame>
        <p:nvGraphicFramePr>
          <p:cNvPr id="9" name="Table 8">
            <a:extLst>
              <a:ext uri="{FF2B5EF4-FFF2-40B4-BE49-F238E27FC236}">
                <a16:creationId xmlns:a16="http://schemas.microsoft.com/office/drawing/2014/main" id="{B5CB06E7-2324-333D-3DAB-743518AACDFE}"/>
              </a:ext>
            </a:extLst>
          </p:cNvPr>
          <p:cNvGraphicFramePr>
            <a:graphicFrameLocks noGrp="1"/>
          </p:cNvGraphicFramePr>
          <p:nvPr>
            <p:extLst>
              <p:ext uri="{D42A27DB-BD31-4B8C-83A1-F6EECF244321}">
                <p14:modId xmlns:p14="http://schemas.microsoft.com/office/powerpoint/2010/main" val="834883717"/>
              </p:ext>
            </p:extLst>
          </p:nvPr>
        </p:nvGraphicFramePr>
        <p:xfrm>
          <a:off x="457200" y="1600200"/>
          <a:ext cx="8001000" cy="4525964"/>
        </p:xfrm>
        <a:graphic>
          <a:graphicData uri="http://schemas.openxmlformats.org/drawingml/2006/table">
            <a:tbl>
              <a:tblPr/>
              <a:tblGrid>
                <a:gridCol w="907916">
                  <a:extLst>
                    <a:ext uri="{9D8B030D-6E8A-4147-A177-3AD203B41FA5}">
                      <a16:colId xmlns:a16="http://schemas.microsoft.com/office/drawing/2014/main" val="1464870833"/>
                    </a:ext>
                  </a:extLst>
                </a:gridCol>
                <a:gridCol w="2326532">
                  <a:extLst>
                    <a:ext uri="{9D8B030D-6E8A-4147-A177-3AD203B41FA5}">
                      <a16:colId xmlns:a16="http://schemas.microsoft.com/office/drawing/2014/main" val="3356795647"/>
                    </a:ext>
                  </a:extLst>
                </a:gridCol>
                <a:gridCol w="1645595">
                  <a:extLst>
                    <a:ext uri="{9D8B030D-6E8A-4147-A177-3AD203B41FA5}">
                      <a16:colId xmlns:a16="http://schemas.microsoft.com/office/drawing/2014/main" val="4123085884"/>
                    </a:ext>
                  </a:extLst>
                </a:gridCol>
                <a:gridCol w="3120957">
                  <a:extLst>
                    <a:ext uri="{9D8B030D-6E8A-4147-A177-3AD203B41FA5}">
                      <a16:colId xmlns:a16="http://schemas.microsoft.com/office/drawing/2014/main" val="4178883180"/>
                    </a:ext>
                  </a:extLst>
                </a:gridCol>
              </a:tblGrid>
              <a:tr h="310047">
                <a:tc>
                  <a:txBody>
                    <a:bodyPr/>
                    <a:lstStyle/>
                    <a:p>
                      <a:pPr algn="ctr" rtl="0" fontAlgn="ctr">
                        <a:buNone/>
                      </a:pPr>
                      <a:r>
                        <a:rPr lang="en-IN" sz="1700" b="1" i="0" u="none" strike="noStrike" dirty="0">
                          <a:solidFill>
                            <a:srgbClr val="FFFFFF"/>
                          </a:solidFill>
                          <a:effectLst/>
                          <a:latin typeface="Times New Roman" panose="02020603050405020304" pitchFamily="18" charset="0"/>
                        </a:rPr>
                        <a:t>Code</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N" sz="1700" b="1" i="0" u="none" strike="noStrike">
                          <a:solidFill>
                            <a:srgbClr val="FFFFFF"/>
                          </a:solidFill>
                          <a:effectLst/>
                          <a:latin typeface="Times New Roman" panose="02020603050405020304" pitchFamily="18" charset="0"/>
                        </a:rPr>
                        <a:t>Name</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N" sz="1700" b="1" i="0" u="none" strike="noStrike">
                          <a:solidFill>
                            <a:srgbClr val="FFFFFF"/>
                          </a:solidFill>
                          <a:effectLst/>
                          <a:latin typeface="Times New Roman" panose="02020603050405020304" pitchFamily="18" charset="0"/>
                        </a:rPr>
                        <a:t>Weight</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F81BD"/>
                    </a:solidFill>
                  </a:tcPr>
                </a:tc>
                <a:tc>
                  <a:txBody>
                    <a:bodyPr/>
                    <a:lstStyle/>
                    <a:p>
                      <a:pPr algn="ctr" rtl="0" fontAlgn="ctr">
                        <a:buNone/>
                      </a:pPr>
                      <a:r>
                        <a:rPr lang="en-IN" sz="1700" b="1" i="0" u="none" strike="noStrike">
                          <a:solidFill>
                            <a:srgbClr val="FFFFFF"/>
                          </a:solidFill>
                          <a:effectLst/>
                          <a:latin typeface="Times New Roman" panose="02020603050405020304" pitchFamily="18" charset="0"/>
                        </a:rPr>
                        <a:t>Date</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3315644918"/>
                  </a:ext>
                </a:extLst>
              </a:tr>
              <a:tr h="572861">
                <a:tc rowSpan="4">
                  <a:txBody>
                    <a:bodyPr/>
                    <a:lstStyle/>
                    <a:p>
                      <a:pPr algn="ctr" rtl="0" fontAlgn="ctr">
                        <a:buNone/>
                      </a:pPr>
                      <a:r>
                        <a:rPr lang="en-IN" sz="1700" b="0" i="0" u="none" strike="noStrike">
                          <a:solidFill>
                            <a:srgbClr val="000000"/>
                          </a:solidFill>
                          <a:effectLst/>
                          <a:latin typeface="Times New Roman" panose="02020603050405020304" pitchFamily="18" charset="0"/>
                        </a:rPr>
                        <a:t>EC1</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a:txBody>
                    <a:bodyPr/>
                    <a:lstStyle/>
                    <a:p>
                      <a:pPr algn="ctr" rtl="0" fontAlgn="ctr">
                        <a:buNone/>
                      </a:pPr>
                      <a:r>
                        <a:rPr lang="en-IN" sz="1700" b="0" i="0" u="none" strike="noStrike" dirty="0">
                          <a:solidFill>
                            <a:srgbClr val="000000"/>
                          </a:solidFill>
                          <a:effectLst/>
                          <a:latin typeface="Times New Roman" panose="02020603050405020304" pitchFamily="18" charset="0"/>
                        </a:rPr>
                        <a:t>Quiz1</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rowSpan="2">
                  <a:txBody>
                    <a:bodyPr/>
                    <a:lstStyle/>
                    <a:p>
                      <a:pPr algn="ctr" rtl="0" fontAlgn="ctr">
                        <a:buNone/>
                      </a:pPr>
                      <a:r>
                        <a:rPr lang="en-IN" sz="1700" b="0" i="0" u="none" strike="noStrike">
                          <a:solidFill>
                            <a:srgbClr val="000000"/>
                          </a:solidFill>
                          <a:effectLst/>
                          <a:latin typeface="Times New Roman" panose="02020603050405020304" pitchFamily="18" charset="0"/>
                        </a:rPr>
                        <a:t>5% [Best of 2]</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a:txBody>
                    <a:bodyPr/>
                    <a:lstStyle/>
                    <a:p>
                      <a:pPr rtl="0" fontAlgn="b">
                        <a:buNone/>
                      </a:pPr>
                      <a:r>
                        <a:rPr lang="en-US" sz="1700" b="1" i="0" u="none" strike="noStrike">
                          <a:solidFill>
                            <a:srgbClr val="000000"/>
                          </a:solidFill>
                          <a:effectLst/>
                          <a:latin typeface="Times New Roman" panose="02020603050405020304" pitchFamily="18" charset="0"/>
                        </a:rPr>
                        <a:t>24 May 2026 to 29 May 2026</a:t>
                      </a:r>
                      <a:endParaRPr lang="en-US" sz="1700">
                        <a:effectLst/>
                      </a:endParaRPr>
                    </a:p>
                  </a:txBody>
                  <a:tcPr marL="6056" marR="6056" marT="6056" marB="43600" anchor="b">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extLst>
                  <a:ext uri="{0D108BD9-81ED-4DB2-BD59-A6C34878D82A}">
                    <a16:rowId xmlns:a16="http://schemas.microsoft.com/office/drawing/2014/main" val="2846076725"/>
                  </a:ext>
                </a:extLst>
              </a:tr>
              <a:tr h="571650">
                <a:tc vMerge="1">
                  <a:txBody>
                    <a:bodyPr/>
                    <a:lstStyle/>
                    <a:p>
                      <a:endParaRPr lang="en-IN"/>
                    </a:p>
                  </a:txBody>
                  <a:tcPr/>
                </a:tc>
                <a:tc>
                  <a:txBody>
                    <a:bodyPr/>
                    <a:lstStyle/>
                    <a:p>
                      <a:pPr algn="ctr" rtl="0" fontAlgn="ctr">
                        <a:buNone/>
                      </a:pPr>
                      <a:r>
                        <a:rPr lang="en-IN" sz="1700" b="0" i="0" u="none" strike="noStrike" dirty="0">
                          <a:solidFill>
                            <a:srgbClr val="000000"/>
                          </a:solidFill>
                          <a:effectLst/>
                          <a:latin typeface="Times New Roman" panose="02020603050405020304" pitchFamily="18" charset="0"/>
                        </a:rPr>
                        <a:t>Quiz2</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tc vMerge="1">
                  <a:txBody>
                    <a:bodyPr/>
                    <a:lstStyle/>
                    <a:p>
                      <a:endParaRPr lang="en-IN"/>
                    </a:p>
                  </a:txBody>
                  <a:tcPr/>
                </a:tc>
                <a:tc>
                  <a:txBody>
                    <a:bodyPr/>
                    <a:lstStyle/>
                    <a:p>
                      <a:pPr algn="ctr" rtl="0" fontAlgn="ctr">
                        <a:buNone/>
                      </a:pPr>
                      <a:r>
                        <a:rPr lang="en-US" sz="1700" b="1" i="0" u="none" strike="noStrike">
                          <a:solidFill>
                            <a:srgbClr val="000000"/>
                          </a:solidFill>
                          <a:effectLst/>
                          <a:latin typeface="Times New Roman" panose="02020603050405020304" pitchFamily="18" charset="0"/>
                        </a:rPr>
                        <a:t>26 July 2026 to 1st August 2026</a:t>
                      </a:r>
                      <a:endParaRPr lang="en-US"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extLst>
                  <a:ext uri="{0D108BD9-81ED-4DB2-BD59-A6C34878D82A}">
                    <a16:rowId xmlns:a16="http://schemas.microsoft.com/office/drawing/2014/main" val="3376416086"/>
                  </a:ext>
                </a:extLst>
              </a:tr>
              <a:tr h="571650">
                <a:tc vMerge="1">
                  <a:txBody>
                    <a:bodyPr/>
                    <a:lstStyle/>
                    <a:p>
                      <a:endParaRPr lang="en-IN"/>
                    </a:p>
                  </a:txBody>
                  <a:tcPr/>
                </a:tc>
                <a:tc>
                  <a:txBody>
                    <a:bodyPr/>
                    <a:lstStyle/>
                    <a:p>
                      <a:pPr algn="ctr" rtl="0" fontAlgn="ctr">
                        <a:buNone/>
                      </a:pPr>
                      <a:r>
                        <a:rPr lang="en-IN" sz="1700" b="0" i="0" u="none" strike="noStrike" dirty="0">
                          <a:solidFill>
                            <a:srgbClr val="000000"/>
                          </a:solidFill>
                          <a:effectLst/>
                          <a:latin typeface="Times New Roman" panose="02020603050405020304" pitchFamily="18" charset="0"/>
                        </a:rPr>
                        <a:t>EL Assignment I</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a:txBody>
                    <a:bodyPr/>
                    <a:lstStyle/>
                    <a:p>
                      <a:pPr algn="ctr" rtl="0" fontAlgn="ctr">
                        <a:buNone/>
                      </a:pPr>
                      <a:r>
                        <a:rPr lang="en-IN" sz="1700" b="0" i="0" u="none" strike="noStrike">
                          <a:solidFill>
                            <a:srgbClr val="000000"/>
                          </a:solidFill>
                          <a:effectLst/>
                          <a:latin typeface="Times New Roman" panose="02020603050405020304" pitchFamily="18" charset="0"/>
                        </a:rPr>
                        <a:t>12%</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a:txBody>
                    <a:bodyPr/>
                    <a:lstStyle/>
                    <a:p>
                      <a:pPr algn="ctr" rtl="0" fontAlgn="ctr">
                        <a:buNone/>
                      </a:pPr>
                      <a:r>
                        <a:rPr lang="en-US" sz="1700" b="1" i="0" u="none" strike="noStrike">
                          <a:solidFill>
                            <a:srgbClr val="000000"/>
                          </a:solidFill>
                          <a:effectLst/>
                          <a:latin typeface="Times New Roman" panose="02020603050405020304" pitchFamily="18" charset="0"/>
                        </a:rPr>
                        <a:t> 23 May 2026 to 15 June 2026</a:t>
                      </a:r>
                      <a:endParaRPr lang="en-US"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extLst>
                  <a:ext uri="{0D108BD9-81ED-4DB2-BD59-A6C34878D82A}">
                    <a16:rowId xmlns:a16="http://schemas.microsoft.com/office/drawing/2014/main" val="1617432609"/>
                  </a:ext>
                </a:extLst>
              </a:tr>
              <a:tr h="571650">
                <a:tc vMerge="1">
                  <a:txBody>
                    <a:bodyPr/>
                    <a:lstStyle/>
                    <a:p>
                      <a:endParaRPr lang="en-IN"/>
                    </a:p>
                  </a:txBody>
                  <a:tcPr/>
                </a:tc>
                <a:tc>
                  <a:txBody>
                    <a:bodyPr/>
                    <a:lstStyle/>
                    <a:p>
                      <a:pPr algn="ctr" rtl="0" fontAlgn="ctr">
                        <a:buNone/>
                      </a:pPr>
                      <a:r>
                        <a:rPr lang="en-IN" sz="1700" b="0" i="0" u="none" strike="noStrike">
                          <a:solidFill>
                            <a:srgbClr val="000000"/>
                          </a:solidFill>
                          <a:effectLst/>
                          <a:latin typeface="Times New Roman" panose="02020603050405020304" pitchFamily="18" charset="0"/>
                        </a:rPr>
                        <a:t>EL Assignment II</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tc>
                  <a:txBody>
                    <a:bodyPr/>
                    <a:lstStyle/>
                    <a:p>
                      <a:pPr algn="ctr" rtl="0" fontAlgn="ctr">
                        <a:buNone/>
                      </a:pPr>
                      <a:r>
                        <a:rPr lang="en-IN" sz="1700" b="0" i="0" u="none" strike="noStrike">
                          <a:solidFill>
                            <a:srgbClr val="000000"/>
                          </a:solidFill>
                          <a:effectLst/>
                          <a:latin typeface="Times New Roman" panose="02020603050405020304" pitchFamily="18" charset="0"/>
                        </a:rPr>
                        <a:t>13%</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tc>
                  <a:txBody>
                    <a:bodyPr/>
                    <a:lstStyle/>
                    <a:p>
                      <a:pPr algn="ctr" rtl="0" fontAlgn="ctr">
                        <a:buNone/>
                      </a:pPr>
                      <a:r>
                        <a:rPr lang="en-US" sz="1700" b="1" i="0" u="none" strike="noStrike">
                          <a:solidFill>
                            <a:srgbClr val="000000"/>
                          </a:solidFill>
                          <a:effectLst/>
                          <a:latin typeface="Times New Roman" panose="02020603050405020304" pitchFamily="18" charset="0"/>
                        </a:rPr>
                        <a:t> 1st Aug to 31st Aug</a:t>
                      </a:r>
                      <a:endParaRPr lang="en-US"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extLst>
                  <a:ext uri="{0D108BD9-81ED-4DB2-BD59-A6C34878D82A}">
                    <a16:rowId xmlns:a16="http://schemas.microsoft.com/office/drawing/2014/main" val="2246942164"/>
                  </a:ext>
                </a:extLst>
              </a:tr>
              <a:tr h="833252">
                <a:tc>
                  <a:txBody>
                    <a:bodyPr/>
                    <a:lstStyle/>
                    <a:p>
                      <a:pPr algn="ctr" rtl="0" fontAlgn="ctr">
                        <a:buNone/>
                      </a:pPr>
                      <a:r>
                        <a:rPr lang="en-IN" sz="1700" b="0" i="0" u="none" strike="noStrike">
                          <a:solidFill>
                            <a:srgbClr val="000000"/>
                          </a:solidFill>
                          <a:effectLst/>
                          <a:latin typeface="Times New Roman" panose="02020603050405020304" pitchFamily="18" charset="0"/>
                        </a:rPr>
                        <a:t>EC2</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a:txBody>
                    <a:bodyPr/>
                    <a:lstStyle/>
                    <a:p>
                      <a:pPr algn="ctr" rtl="0" fontAlgn="ctr">
                        <a:buNone/>
                      </a:pPr>
                      <a:r>
                        <a:rPr lang="en-IN" sz="1700" b="0" i="0" u="none" strike="noStrike" dirty="0" err="1">
                          <a:solidFill>
                            <a:srgbClr val="000000"/>
                          </a:solidFill>
                          <a:effectLst/>
                          <a:latin typeface="Times New Roman" panose="02020603050405020304" pitchFamily="18" charset="0"/>
                        </a:rPr>
                        <a:t>Midsem</a:t>
                      </a:r>
                      <a:r>
                        <a:rPr lang="en-IN" sz="1700" b="0" i="0" u="none" strike="noStrike" dirty="0">
                          <a:solidFill>
                            <a:srgbClr val="000000"/>
                          </a:solidFill>
                          <a:effectLst/>
                          <a:latin typeface="Times New Roman" panose="02020603050405020304" pitchFamily="18" charset="0"/>
                        </a:rPr>
                        <a:t> Exam</a:t>
                      </a:r>
                      <a:endParaRPr lang="en-IN" sz="1700" dirty="0">
                        <a:effectLst/>
                      </a:endParaRPr>
                    </a:p>
                    <a:p>
                      <a:pPr algn="ctr" rtl="0" fontAlgn="ctr">
                        <a:buNone/>
                      </a:pPr>
                      <a:r>
                        <a:rPr lang="en-IN" sz="1700" b="0" i="0" u="none" strike="noStrike" dirty="0">
                          <a:solidFill>
                            <a:srgbClr val="000000"/>
                          </a:solidFill>
                          <a:effectLst/>
                          <a:latin typeface="Times New Roman" panose="02020603050405020304" pitchFamily="18" charset="0"/>
                        </a:rPr>
                        <a:t>[Regular, Make-Up]</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a:txBody>
                    <a:bodyPr/>
                    <a:lstStyle/>
                    <a:p>
                      <a:pPr algn="ctr" rtl="0" fontAlgn="ctr">
                        <a:buNone/>
                      </a:pPr>
                      <a:r>
                        <a:rPr lang="en-IN" sz="1700" b="0" i="0" u="none" strike="noStrike" dirty="0">
                          <a:solidFill>
                            <a:srgbClr val="000000"/>
                          </a:solidFill>
                          <a:effectLst/>
                          <a:latin typeface="Times New Roman" panose="02020603050405020304" pitchFamily="18" charset="0"/>
                        </a:rPr>
                        <a:t>30%</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tc>
                  <a:txBody>
                    <a:bodyPr/>
                    <a:lstStyle/>
                    <a:p>
                      <a:pPr algn="ctr" rtl="0" fontAlgn="ctr">
                        <a:buNone/>
                      </a:pPr>
                      <a:r>
                        <a:rPr lang="en-IN" sz="1700" b="1" i="0" u="none" strike="noStrike">
                          <a:solidFill>
                            <a:srgbClr val="000000"/>
                          </a:solidFill>
                          <a:effectLst/>
                          <a:latin typeface="Times New Roman" panose="02020603050405020304" pitchFamily="18" charset="0"/>
                        </a:rPr>
                        <a:t>  20-06-2026 (FN) </a:t>
                      </a:r>
                      <a:endParaRPr lang="en-IN" sz="1700">
                        <a:effectLst/>
                      </a:endParaRPr>
                    </a:p>
                    <a:p>
                      <a:pPr algn="ctr" rtl="0" fontAlgn="ctr">
                        <a:buNone/>
                      </a:pPr>
                      <a:r>
                        <a:rPr lang="en-IN" sz="1700" b="1" i="0" u="none" strike="noStrike">
                          <a:solidFill>
                            <a:srgbClr val="000000"/>
                          </a:solidFill>
                          <a:effectLst/>
                          <a:latin typeface="Times New Roman" panose="02020603050405020304" pitchFamily="18" charset="0"/>
                        </a:rPr>
                        <a:t>27-06-2026 (FN)</a:t>
                      </a:r>
                      <a:endParaRPr lang="en-IN" sz="1700">
                        <a:effectLst/>
                      </a:endParaRPr>
                    </a:p>
                  </a:txBody>
                  <a:tcPr marL="6056" marR="6056" marT="6056" marB="43600"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CFD7E7"/>
                    </a:solidFill>
                  </a:tcPr>
                </a:tc>
                <a:extLst>
                  <a:ext uri="{0D108BD9-81ED-4DB2-BD59-A6C34878D82A}">
                    <a16:rowId xmlns:a16="http://schemas.microsoft.com/office/drawing/2014/main" val="3656650932"/>
                  </a:ext>
                </a:extLst>
              </a:tr>
              <a:tr h="1094854">
                <a:tc>
                  <a:txBody>
                    <a:bodyPr/>
                    <a:lstStyle/>
                    <a:p>
                      <a:pPr algn="ctr" rtl="0" fontAlgn="ctr">
                        <a:buNone/>
                      </a:pPr>
                      <a:r>
                        <a:rPr lang="en-IN" sz="1700" b="0" i="0" u="none" strike="noStrike">
                          <a:solidFill>
                            <a:srgbClr val="000000"/>
                          </a:solidFill>
                          <a:effectLst/>
                          <a:latin typeface="Times New Roman" panose="02020603050405020304" pitchFamily="18" charset="0"/>
                        </a:rPr>
                        <a:t>EC3</a:t>
                      </a:r>
                      <a:endParaRPr lang="en-IN" sz="170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tc>
                  <a:txBody>
                    <a:bodyPr/>
                    <a:lstStyle/>
                    <a:p>
                      <a:pPr algn="ctr" rtl="0" fontAlgn="ctr">
                        <a:buNone/>
                      </a:pPr>
                      <a:r>
                        <a:rPr lang="en-IN" sz="1700" b="0" i="0" u="none" strike="noStrike" dirty="0">
                          <a:solidFill>
                            <a:srgbClr val="000000"/>
                          </a:solidFill>
                          <a:effectLst/>
                          <a:latin typeface="Times New Roman" panose="02020603050405020304" pitchFamily="18" charset="0"/>
                        </a:rPr>
                        <a:t>Comprehensive</a:t>
                      </a:r>
                      <a:endParaRPr lang="en-IN" sz="1700" dirty="0">
                        <a:effectLst/>
                      </a:endParaRPr>
                    </a:p>
                    <a:p>
                      <a:pPr algn="ctr" rtl="0" fontAlgn="ctr">
                        <a:buNone/>
                      </a:pPr>
                      <a:r>
                        <a:rPr lang="en-IN" sz="1700" b="0" i="0" u="none" strike="noStrike" dirty="0">
                          <a:solidFill>
                            <a:srgbClr val="000000"/>
                          </a:solidFill>
                          <a:effectLst/>
                          <a:latin typeface="Times New Roman" panose="02020603050405020304" pitchFamily="18" charset="0"/>
                        </a:rPr>
                        <a:t>Exam</a:t>
                      </a:r>
                      <a:endParaRPr lang="en-IN" sz="1700" dirty="0">
                        <a:effectLst/>
                      </a:endParaRPr>
                    </a:p>
                    <a:p>
                      <a:pPr algn="ctr" rtl="0" fontAlgn="ctr">
                        <a:buNone/>
                      </a:pPr>
                      <a:r>
                        <a:rPr lang="en-IN" sz="1700" b="0" i="0" u="none" strike="noStrike" dirty="0">
                          <a:solidFill>
                            <a:srgbClr val="000000"/>
                          </a:solidFill>
                          <a:effectLst/>
                          <a:latin typeface="Times New Roman" panose="02020603050405020304" pitchFamily="18" charset="0"/>
                        </a:rPr>
                        <a:t>[Regular, Make-Up]</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tc>
                  <a:txBody>
                    <a:bodyPr/>
                    <a:lstStyle/>
                    <a:p>
                      <a:pPr algn="ctr" rtl="0" fontAlgn="ctr">
                        <a:buNone/>
                      </a:pPr>
                      <a:r>
                        <a:rPr lang="en-IN" sz="1700" b="0" i="0" u="none" strike="noStrike" dirty="0">
                          <a:solidFill>
                            <a:srgbClr val="000000"/>
                          </a:solidFill>
                          <a:effectLst/>
                          <a:latin typeface="Times New Roman" panose="02020603050405020304" pitchFamily="18" charset="0"/>
                        </a:rPr>
                        <a:t>40%</a:t>
                      </a:r>
                      <a:endParaRPr lang="en-IN" sz="1700" dirty="0">
                        <a:effectLst/>
                      </a:endParaRPr>
                    </a:p>
                  </a:txBody>
                  <a:tcPr marL="42389" marR="42389" marT="24222" marB="24222"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tc>
                  <a:txBody>
                    <a:bodyPr/>
                    <a:lstStyle/>
                    <a:p>
                      <a:pPr algn="ctr" rtl="0" fontAlgn="ctr">
                        <a:buNone/>
                      </a:pPr>
                      <a:r>
                        <a:rPr lang="en-IN" sz="1700" b="1" i="0" u="none" strike="noStrike" dirty="0">
                          <a:solidFill>
                            <a:srgbClr val="000000"/>
                          </a:solidFill>
                          <a:effectLst/>
                          <a:latin typeface="Times New Roman" panose="02020603050405020304" pitchFamily="18" charset="0"/>
                        </a:rPr>
                        <a:t>  05-09-2026 (FN) </a:t>
                      </a:r>
                      <a:endParaRPr lang="en-IN" sz="1700" dirty="0">
                        <a:effectLst/>
                      </a:endParaRPr>
                    </a:p>
                    <a:p>
                      <a:pPr algn="ctr" rtl="0" fontAlgn="ctr">
                        <a:buNone/>
                      </a:pPr>
                      <a:r>
                        <a:rPr lang="en-IN" sz="1700" b="1" i="0" u="none" strike="noStrike" dirty="0">
                          <a:solidFill>
                            <a:srgbClr val="000000"/>
                          </a:solidFill>
                          <a:effectLst/>
                          <a:latin typeface="Times New Roman" panose="02020603050405020304" pitchFamily="18" charset="0"/>
                        </a:rPr>
                        <a:t>12-09-2026 (FN)</a:t>
                      </a:r>
                      <a:endParaRPr lang="en-IN" sz="1700" dirty="0">
                        <a:effectLst/>
                      </a:endParaRPr>
                    </a:p>
                  </a:txBody>
                  <a:tcPr marL="6056" marR="6056" marT="6056" marB="43600" anchor="ctr">
                    <a:lnL w="8465" cap="flat" cmpd="sng" algn="ctr">
                      <a:solidFill>
                        <a:srgbClr val="FFFFFF"/>
                      </a:solidFill>
                      <a:prstDash val="solid"/>
                      <a:round/>
                      <a:headEnd type="none" w="med" len="med"/>
                      <a:tailEnd type="none" w="med" len="med"/>
                    </a:lnL>
                    <a:lnR w="8465" cap="flat" cmpd="sng" algn="ctr">
                      <a:solidFill>
                        <a:srgbClr val="FFFFFF"/>
                      </a:solidFill>
                      <a:prstDash val="solid"/>
                      <a:round/>
                      <a:headEnd type="none" w="med" len="med"/>
                      <a:tailEnd type="none" w="med" len="med"/>
                    </a:lnR>
                    <a:lnT w="8465" cap="flat" cmpd="sng" algn="ctr">
                      <a:solidFill>
                        <a:srgbClr val="FFFFFF"/>
                      </a:solidFill>
                      <a:prstDash val="solid"/>
                      <a:round/>
                      <a:headEnd type="none" w="med" len="med"/>
                      <a:tailEnd type="none" w="med" len="med"/>
                    </a:lnT>
                    <a:lnB w="8465" cap="flat" cmpd="sng" algn="ctr">
                      <a:solidFill>
                        <a:srgbClr val="FFFFFF"/>
                      </a:solidFill>
                      <a:prstDash val="solid"/>
                      <a:round/>
                      <a:headEnd type="none" w="med" len="med"/>
                      <a:tailEnd type="none" w="med" len="med"/>
                    </a:lnB>
                    <a:solidFill>
                      <a:srgbClr val="E8ECF4"/>
                    </a:solidFill>
                  </a:tcPr>
                </a:tc>
                <a:extLst>
                  <a:ext uri="{0D108BD9-81ED-4DB2-BD59-A6C34878D82A}">
                    <a16:rowId xmlns:a16="http://schemas.microsoft.com/office/drawing/2014/main" val="3402306437"/>
                  </a:ext>
                </a:extLst>
              </a:tr>
            </a:tbl>
          </a:graphicData>
        </a:graphic>
      </p:graphicFrame>
      <p:sp>
        <p:nvSpPr>
          <p:cNvPr id="10" name="Rectangle 1">
            <a:extLst>
              <a:ext uri="{FF2B5EF4-FFF2-40B4-BE49-F238E27FC236}">
                <a16:creationId xmlns:a16="http://schemas.microsoft.com/office/drawing/2014/main" id="{0D2BAB22-DF1B-E69C-BBE4-CDA36EEF8DE0}"/>
              </a:ext>
            </a:extLst>
          </p:cNvPr>
          <p:cNvSpPr>
            <a:spLocks noChangeArrowheads="1"/>
          </p:cNvSpPr>
          <p:nvPr/>
        </p:nvSpPr>
        <p:spPr bwMode="auto">
          <a:xfrm>
            <a:off x="2009775" y="1600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082099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idx="4294967295"/>
          </p:nvPr>
        </p:nvSpPr>
        <p:spPr>
          <a:xfrm>
            <a:off x="152400" y="533400"/>
            <a:ext cx="7391400" cy="1068387"/>
          </a:xfrm>
          <a:prstGeom prst="rect">
            <a:avLst/>
          </a:prstGeom>
        </p:spPr>
        <p:txBody>
          <a:bodyPr/>
          <a:lstStyle/>
          <a:p>
            <a:pPr algn="l"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3200" b="1" dirty="0"/>
              <a:t>What is Natural Language Processing?</a:t>
            </a:r>
          </a:p>
        </p:txBody>
      </p:sp>
      <p:sp>
        <p:nvSpPr>
          <p:cNvPr id="7171" name="Rectangle 2"/>
          <p:cNvSpPr>
            <a:spLocks noGrp="1" noChangeArrowheads="1"/>
          </p:cNvSpPr>
          <p:nvPr>
            <p:ph type="body" idx="4294967295"/>
          </p:nvPr>
        </p:nvSpPr>
        <p:spPr>
          <a:xfrm>
            <a:off x="685800" y="1752600"/>
            <a:ext cx="7924800" cy="4876800"/>
          </a:xfrm>
        </p:spPr>
        <p:txBody>
          <a:bodyPr>
            <a:normAutofit fontScale="92500" lnSpcReduction="10000"/>
          </a:bodyPr>
          <a:lstStyle/>
          <a:p>
            <a:pPr marL="339725" lvl="0" indent="-339725">
              <a:spcBef>
                <a:spcPts val="0"/>
              </a:spcBef>
              <a:buClr>
                <a:srgbClr val="A50021"/>
              </a:buClr>
              <a:buSzPts val="1920"/>
              <a:buFont typeface="Noto Sans Symbols"/>
              <a:buChar char="■"/>
            </a:pPr>
            <a:r>
              <a:rPr lang="en-US" dirty="0"/>
              <a:t>Analyze, understand and generate human languages just like humans do.</a:t>
            </a:r>
          </a:p>
          <a:p>
            <a:pPr marL="339725" lvl="0" indent="-339725">
              <a:spcBef>
                <a:spcPts val="592"/>
              </a:spcBef>
              <a:buClr>
                <a:srgbClr val="A50021"/>
              </a:buClr>
              <a:buSzPts val="1920"/>
              <a:buFont typeface="Noto Sans Symbols"/>
              <a:buChar char="■"/>
            </a:pPr>
            <a:r>
              <a:rPr lang="en-US" dirty="0"/>
              <a:t>To explain linguistic theories, to use the theories to build systems that can be of social use..</a:t>
            </a:r>
          </a:p>
          <a:p>
            <a:pPr marL="339725" lvl="0" indent="-339725">
              <a:spcBef>
                <a:spcPts val="592"/>
              </a:spcBef>
              <a:buClr>
                <a:srgbClr val="A50021"/>
              </a:buClr>
              <a:buSzPts val="1920"/>
              <a:buFont typeface="Noto Sans Symbols"/>
              <a:buChar char="■"/>
            </a:pPr>
            <a:r>
              <a:rPr lang="en-US" dirty="0"/>
              <a:t>Started off as a branch of Artificial Intelligence..</a:t>
            </a:r>
          </a:p>
          <a:p>
            <a:pPr marL="339725" lvl="0" indent="-339725">
              <a:spcBef>
                <a:spcPts val="592"/>
              </a:spcBef>
              <a:buClr>
                <a:srgbClr val="A50021"/>
              </a:buClr>
              <a:buSzPts val="1920"/>
              <a:buFont typeface="Noto Sans Symbols"/>
              <a:buChar char="■"/>
            </a:pPr>
            <a:r>
              <a:rPr lang="en-US" dirty="0"/>
              <a:t>Borrows from Linguistics, Psycholinguistics, Cognitive Science &amp; Statistics.</a:t>
            </a:r>
          </a:p>
          <a:p>
            <a:pPr marL="339725" lvl="0" indent="-339725">
              <a:spcBef>
                <a:spcPts val="592"/>
              </a:spcBef>
              <a:buClr>
                <a:srgbClr val="A50021"/>
              </a:buClr>
              <a:buSzPts val="1920"/>
              <a:buFont typeface="Noto Sans Symbols"/>
              <a:buChar char="■"/>
            </a:pPr>
            <a:r>
              <a:rPr lang="en-US" dirty="0"/>
              <a:t>Make computers learn our language rather than we learn theirs.</a:t>
            </a:r>
          </a:p>
        </p:txBody>
      </p:sp>
      <p:sp>
        <p:nvSpPr>
          <p:cNvPr id="2" name="Slide Number Placeholder 1"/>
          <p:cNvSpPr>
            <a:spLocks noGrp="1"/>
          </p:cNvSpPr>
          <p:nvPr>
            <p:ph type="sldNum" sz="quarter" idx="12"/>
          </p:nvPr>
        </p:nvSpPr>
        <p:spPr/>
        <p:txBody>
          <a:bodyPr/>
          <a:lstStyle/>
          <a:p>
            <a:pPr>
              <a:defRPr/>
            </a:pPr>
            <a:fld id="{60DB935C-A2BB-404C-A6C5-67E9068028EC}" type="slidenum">
              <a:rPr lang="en-US" smtClean="0"/>
              <a:pPr>
                <a:defRPr/>
              </a:pPr>
              <a:t>9</a:t>
            </a:fld>
            <a:endParaRPr lang="en-US"/>
          </a:p>
        </p:txBody>
      </p:sp>
    </p:spTree>
    <p:extLst>
      <p:ext uri="{BB962C8B-B14F-4D97-AF65-F5344CB8AC3E}">
        <p14:creationId xmlns:p14="http://schemas.microsoft.com/office/powerpoint/2010/main" val="27808567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study NLP</a:t>
            </a:r>
          </a:p>
        </p:txBody>
      </p:sp>
      <p:sp>
        <p:nvSpPr>
          <p:cNvPr id="3" name="Content Placeholder 2"/>
          <p:cNvSpPr>
            <a:spLocks noGrp="1"/>
          </p:cNvSpPr>
          <p:nvPr>
            <p:ph idx="1"/>
          </p:nvPr>
        </p:nvSpPr>
        <p:spPr>
          <a:xfrm>
            <a:off x="533400" y="1600201"/>
            <a:ext cx="8153400" cy="3886200"/>
          </a:xfrm>
        </p:spPr>
        <p:txBody>
          <a:bodyPr>
            <a:normAutofit/>
          </a:bodyPr>
          <a:lstStyle/>
          <a:p>
            <a:pPr lvl="0">
              <a:spcBef>
                <a:spcPts val="0"/>
              </a:spcBef>
              <a:buClr>
                <a:srgbClr val="A50021"/>
              </a:buClr>
              <a:buSzPts val="1920"/>
              <a:buFont typeface="Wingdings" panose="05000000000000000000" pitchFamily="2" charset="2"/>
              <a:buChar char="§"/>
            </a:pPr>
            <a:r>
              <a:rPr lang="en-US" dirty="0"/>
              <a:t> A hallmark of human intelligence.</a:t>
            </a:r>
          </a:p>
          <a:p>
            <a:pPr lvl="0">
              <a:spcBef>
                <a:spcPts val="640"/>
              </a:spcBef>
              <a:buClr>
                <a:srgbClr val="A50021"/>
              </a:buClr>
              <a:buSzPts val="1920"/>
              <a:buFont typeface="Wingdings" panose="05000000000000000000" pitchFamily="2" charset="2"/>
              <a:buChar char="§"/>
            </a:pPr>
            <a:r>
              <a:rPr lang="en-US" dirty="0"/>
              <a:t>Text is the largest repository of human knowledge and is growing quickly.</a:t>
            </a:r>
          </a:p>
          <a:p>
            <a:pPr lvl="1">
              <a:spcBef>
                <a:spcPts val="560"/>
              </a:spcBef>
              <a:buClr>
                <a:schemeClr val="dk1"/>
              </a:buClr>
              <a:buSzPts val="1540"/>
              <a:buFont typeface="Wingdings" panose="05000000000000000000" pitchFamily="2" charset="2"/>
              <a:buChar char="§"/>
            </a:pPr>
            <a:r>
              <a:rPr lang="en-US" dirty="0"/>
              <a:t>emails, news articles, web pages, IM, scientific articles, insurance claims, customer complaint letters, transcripts of phone calls, technical documents, government documents, patent portfolios, court decisions, contracts, ……</a:t>
            </a:r>
          </a:p>
        </p:txBody>
      </p:sp>
      <p:sp>
        <p:nvSpPr>
          <p:cNvPr id="6" name="Rectangle 5"/>
          <p:cNvSpPr/>
          <p:nvPr/>
        </p:nvSpPr>
        <p:spPr>
          <a:xfrm>
            <a:off x="0" y="5641390"/>
            <a:ext cx="8915400" cy="7619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spcBef>
                <a:spcPts val="0"/>
              </a:spcBef>
              <a:spcAft>
                <a:spcPts val="0"/>
              </a:spcAft>
              <a:buClr>
                <a:srgbClr val="000000"/>
              </a:buClr>
              <a:buSzPts val="1600"/>
            </a:pPr>
            <a:r>
              <a:rPr lang="en-US" b="1">
                <a:solidFill>
                  <a:srgbClr val="202124"/>
                </a:solidFill>
                <a:latin typeface="arial"/>
                <a:ea typeface="arial"/>
                <a:cs typeface="arial"/>
                <a:sym typeface="arial"/>
              </a:rPr>
              <a:t>The Natural Language Processing (NLP) Market size to grow from USD 15.7 billion in 2022 to USD 49.4 billion by 2027</a:t>
            </a:r>
            <a:r>
              <a:rPr lang="en-US">
                <a:solidFill>
                  <a:srgbClr val="202124"/>
                </a:solidFill>
                <a:latin typeface="arial"/>
                <a:ea typeface="arial"/>
                <a:cs typeface="arial"/>
                <a:sym typeface="arial"/>
              </a:rPr>
              <a:t>, at a Compound Annual Growth Rate (CAGR) of 25.7% during the forecast period.</a:t>
            </a:r>
            <a:endParaRPr lang="en-US" dirty="0">
              <a:latin typeface="Tahoma"/>
              <a:ea typeface="Tahoma"/>
              <a:cs typeface="Tahoma"/>
              <a:sym typeface="Tahoma"/>
            </a:endParaRPr>
          </a:p>
        </p:txBody>
      </p:sp>
    </p:spTree>
    <p:extLst>
      <p:ext uri="{BB962C8B-B14F-4D97-AF65-F5344CB8AC3E}">
        <p14:creationId xmlns:p14="http://schemas.microsoft.com/office/powerpoint/2010/main" val="411803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11"/>
          <p:cNvSpPr txBox="1">
            <a:spLocks noGrp="1"/>
          </p:cNvSpPr>
          <p:nvPr>
            <p:ph type="title"/>
          </p:nvPr>
        </p:nvSpPr>
        <p:spPr>
          <a:xfrm>
            <a:off x="323850" y="533400"/>
            <a:ext cx="7391400" cy="10683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Calibri"/>
              <a:buNone/>
            </a:pPr>
            <a:r>
              <a:rPr lang="en-US" sz="3200" b="1" i="0" u="none" strike="noStrike" cap="none" dirty="0">
                <a:solidFill>
                  <a:schemeClr val="dk1"/>
                </a:solidFill>
                <a:latin typeface="Calibri"/>
                <a:ea typeface="Calibri"/>
                <a:cs typeface="Calibri"/>
                <a:sym typeface="Calibri"/>
              </a:rPr>
              <a:t>Why are language technologies needed</a:t>
            </a:r>
            <a:r>
              <a:rPr lang="en-US" sz="3200" b="0" i="0" u="none" strike="noStrike" cap="none" dirty="0">
                <a:solidFill>
                  <a:schemeClr val="dk1"/>
                </a:solidFill>
                <a:latin typeface="Calibri"/>
                <a:ea typeface="Calibri"/>
                <a:cs typeface="Calibri"/>
                <a:sym typeface="Calibri"/>
              </a:rPr>
              <a:t>?</a:t>
            </a:r>
            <a:endParaRPr dirty="0"/>
          </a:p>
        </p:txBody>
      </p:sp>
      <p:sp>
        <p:nvSpPr>
          <p:cNvPr id="397" name="Google Shape;397;p11"/>
          <p:cNvSpPr txBox="1">
            <a:spLocks noGrp="1"/>
          </p:cNvSpPr>
          <p:nvPr>
            <p:ph type="body" idx="4294967295"/>
          </p:nvPr>
        </p:nvSpPr>
        <p:spPr>
          <a:xfrm>
            <a:off x="228600" y="1569308"/>
            <a:ext cx="8640763" cy="5021263"/>
          </a:xfrm>
          <a:prstGeom prst="rect">
            <a:avLst/>
          </a:prstGeom>
          <a:noFill/>
          <a:ln>
            <a:noFill/>
          </a:ln>
        </p:spPr>
        <p:txBody>
          <a:bodyPr spcFirstLastPara="1" wrap="square" lIns="91425" tIns="45700" rIns="91425" bIns="45700" anchor="t" anchorCtr="0">
            <a:normAutofit/>
          </a:bodyPr>
          <a:lstStyle/>
          <a:p>
            <a:pPr marL="339725" lvl="0" indent="-339725" algn="l" rtl="0">
              <a:lnSpc>
                <a:spcPct val="100000"/>
              </a:lnSpc>
              <a:spcBef>
                <a:spcPts val="0"/>
              </a:spcBef>
              <a:spcAft>
                <a:spcPts val="0"/>
              </a:spcAft>
              <a:buClr>
                <a:srgbClr val="A50021"/>
              </a:buClr>
              <a:buSzPts val="1920"/>
              <a:buFont typeface="Noto Sans Symbols"/>
              <a:buChar char="■"/>
            </a:pPr>
            <a:r>
              <a:rPr lang="en-US" dirty="0"/>
              <a:t>Many companies make a lot of money if they could use computer </a:t>
            </a:r>
            <a:r>
              <a:rPr lang="en-US" dirty="0" err="1"/>
              <a:t>programmes</a:t>
            </a:r>
            <a:r>
              <a:rPr lang="en-US" dirty="0"/>
              <a:t> that understood text or speech. </a:t>
            </a:r>
            <a:endParaRPr dirty="0"/>
          </a:p>
          <a:p>
            <a:pPr marL="739775" lvl="1" indent="-339724" algn="l" rtl="0">
              <a:lnSpc>
                <a:spcPct val="100000"/>
              </a:lnSpc>
              <a:spcBef>
                <a:spcPts val="560"/>
              </a:spcBef>
              <a:spcAft>
                <a:spcPts val="0"/>
              </a:spcAft>
              <a:buClr>
                <a:srgbClr val="A50021"/>
              </a:buClr>
              <a:buSzPts val="1680"/>
              <a:buFont typeface="Noto Sans Symbols"/>
              <a:buChar char="■"/>
            </a:pPr>
            <a:r>
              <a:rPr lang="en-US" dirty="0"/>
              <a:t>answering the phone, and replying to a question </a:t>
            </a:r>
            <a:endParaRPr dirty="0"/>
          </a:p>
          <a:p>
            <a:pPr marL="739775" lvl="1" indent="-282575" algn="l" rtl="0">
              <a:lnSpc>
                <a:spcPct val="100000"/>
              </a:lnSpc>
              <a:spcBef>
                <a:spcPts val="560"/>
              </a:spcBef>
              <a:spcAft>
                <a:spcPts val="0"/>
              </a:spcAft>
              <a:buClr>
                <a:schemeClr val="dk1"/>
              </a:buClr>
              <a:buSzPts val="1540"/>
              <a:buFont typeface="Noto Sans Symbols"/>
              <a:buChar char="■"/>
            </a:pPr>
            <a:r>
              <a:rPr lang="en-US" dirty="0"/>
              <a:t>understanding the text on a Web page to decide who it might be of interest to </a:t>
            </a:r>
            <a:endParaRPr dirty="0"/>
          </a:p>
          <a:p>
            <a:pPr marL="739775" lvl="1" indent="-282575" algn="l" rtl="0">
              <a:lnSpc>
                <a:spcPct val="100000"/>
              </a:lnSpc>
              <a:spcBef>
                <a:spcPts val="560"/>
              </a:spcBef>
              <a:spcAft>
                <a:spcPts val="0"/>
              </a:spcAft>
              <a:buClr>
                <a:schemeClr val="dk1"/>
              </a:buClr>
              <a:buSzPts val="1540"/>
              <a:buFont typeface="Noto Sans Symbols"/>
              <a:buChar char="■"/>
            </a:pPr>
            <a:r>
              <a:rPr lang="en-US" dirty="0"/>
              <a:t>translating a daily newspaper from Japanese to English</a:t>
            </a:r>
            <a:endParaRPr dirty="0"/>
          </a:p>
          <a:p>
            <a:pPr marL="739775" lvl="1" indent="-282575" algn="l" rtl="0">
              <a:lnSpc>
                <a:spcPct val="100000"/>
              </a:lnSpc>
              <a:spcBef>
                <a:spcPts val="560"/>
              </a:spcBef>
              <a:spcAft>
                <a:spcPts val="0"/>
              </a:spcAft>
              <a:buClr>
                <a:schemeClr val="dk1"/>
              </a:buClr>
              <a:buSzPts val="1540"/>
              <a:buFont typeface="Noto Sans Symbols"/>
              <a:buChar char="■"/>
            </a:pPr>
            <a:r>
              <a:rPr lang="en-US" dirty="0"/>
              <a:t>understanding text in journals / books and building an expert systems based on that understanding </a:t>
            </a:r>
            <a:endParaRPr dirty="0"/>
          </a:p>
          <a:p>
            <a:pPr marL="339725" lvl="0" indent="-339725" algn="l" rtl="0">
              <a:lnSpc>
                <a:spcPct val="100000"/>
              </a:lnSpc>
              <a:spcBef>
                <a:spcPts val="640"/>
              </a:spcBef>
              <a:spcAft>
                <a:spcPts val="0"/>
              </a:spcAft>
              <a:buClr>
                <a:schemeClr val="dk1"/>
              </a:buClr>
              <a:buSzPts val="1920"/>
              <a:buFont typeface="Calibri"/>
              <a:buNone/>
            </a:pPr>
            <a:endParaRPr dirty="0"/>
          </a:p>
        </p:txBody>
      </p:sp>
    </p:spTree>
    <p:extLst>
      <p:ext uri="{BB962C8B-B14F-4D97-AF65-F5344CB8AC3E}">
        <p14:creationId xmlns:p14="http://schemas.microsoft.com/office/powerpoint/2010/main" val="1031671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12"/>
          <p:cNvSpPr txBox="1">
            <a:spLocks noGrp="1"/>
          </p:cNvSpPr>
          <p:nvPr>
            <p:ph type="title"/>
          </p:nvPr>
        </p:nvSpPr>
        <p:spPr>
          <a:xfrm>
            <a:off x="152400" y="381000"/>
            <a:ext cx="7391400" cy="99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4400"/>
              <a:buFont typeface="Calibri"/>
              <a:buNone/>
            </a:pPr>
            <a:r>
              <a:rPr lang="en-US" sz="4400" b="1" i="0" u="none" strike="noStrike" cap="none">
                <a:solidFill>
                  <a:schemeClr val="dk1"/>
                </a:solidFill>
                <a:latin typeface="Calibri"/>
                <a:ea typeface="Calibri"/>
                <a:cs typeface="Calibri"/>
                <a:sym typeface="Calibri"/>
              </a:rPr>
              <a:t>Dreams or reality??</a:t>
            </a:r>
            <a:endParaRPr/>
          </a:p>
        </p:txBody>
      </p:sp>
      <p:sp>
        <p:nvSpPr>
          <p:cNvPr id="404" name="Google Shape;404;p12"/>
          <p:cNvSpPr txBox="1">
            <a:spLocks noGrp="1"/>
          </p:cNvSpPr>
          <p:nvPr>
            <p:ph type="body" idx="4294967295"/>
          </p:nvPr>
        </p:nvSpPr>
        <p:spPr>
          <a:xfrm>
            <a:off x="152400" y="1676400"/>
            <a:ext cx="8991600" cy="4876800"/>
          </a:xfrm>
          <a:prstGeom prst="rect">
            <a:avLst/>
          </a:prstGeom>
          <a:noFill/>
          <a:ln>
            <a:noFill/>
          </a:ln>
        </p:spPr>
        <p:txBody>
          <a:bodyPr spcFirstLastPara="1" wrap="square" lIns="91425" tIns="45700" rIns="91425" bIns="45700" anchor="t" anchorCtr="0">
            <a:normAutofit/>
          </a:bodyPr>
          <a:lstStyle/>
          <a:p>
            <a:pPr marL="339725" lvl="0" indent="-339725" algn="l" rtl="0">
              <a:lnSpc>
                <a:spcPct val="100000"/>
              </a:lnSpc>
              <a:spcBef>
                <a:spcPts val="0"/>
              </a:spcBef>
              <a:spcAft>
                <a:spcPts val="0"/>
              </a:spcAft>
              <a:buClr>
                <a:srgbClr val="A50021"/>
              </a:buClr>
              <a:buSzPts val="1320"/>
              <a:buFont typeface="Noto Sans Symbols"/>
              <a:buChar char="■"/>
            </a:pPr>
            <a:r>
              <a:rPr lang="en-US" sz="2200" b="1" dirty="0"/>
              <a:t>Will my computer talk to me like another human ??</a:t>
            </a:r>
            <a:endParaRPr dirty="0"/>
          </a:p>
          <a:p>
            <a:pPr marL="339725" lvl="0" indent="-339725" algn="l" rtl="0">
              <a:lnSpc>
                <a:spcPct val="100000"/>
              </a:lnSpc>
              <a:spcBef>
                <a:spcPts val="550"/>
              </a:spcBef>
              <a:spcAft>
                <a:spcPts val="0"/>
              </a:spcAft>
              <a:buClr>
                <a:srgbClr val="A50021"/>
              </a:buClr>
              <a:buSzPts val="1320"/>
              <a:buFont typeface="Noto Sans Symbols"/>
              <a:buChar char="■"/>
            </a:pPr>
            <a:r>
              <a:rPr lang="en-US" sz="2200" b="1" dirty="0"/>
              <a:t>Will the search engine get me exactly what I am looking for??</a:t>
            </a:r>
            <a:endParaRPr dirty="0"/>
          </a:p>
          <a:p>
            <a:pPr marL="339725" lvl="0" indent="-339725" algn="l" rtl="0">
              <a:lnSpc>
                <a:spcPct val="100000"/>
              </a:lnSpc>
              <a:spcBef>
                <a:spcPts val="550"/>
              </a:spcBef>
              <a:spcAft>
                <a:spcPts val="0"/>
              </a:spcAft>
              <a:buClr>
                <a:srgbClr val="A50021"/>
              </a:buClr>
              <a:buSzPts val="1320"/>
              <a:buFont typeface="Noto Sans Symbols"/>
              <a:buChar char="■"/>
            </a:pPr>
            <a:r>
              <a:rPr lang="en-US" sz="2200" b="1" dirty="0"/>
              <a:t>Can my PC read the whole newspaper and tell me the important news only..??</a:t>
            </a:r>
            <a:endParaRPr dirty="0"/>
          </a:p>
          <a:p>
            <a:pPr marL="339725" lvl="0" indent="-339725" algn="l" rtl="0">
              <a:lnSpc>
                <a:spcPct val="100000"/>
              </a:lnSpc>
              <a:spcBef>
                <a:spcPts val="550"/>
              </a:spcBef>
              <a:spcAft>
                <a:spcPts val="0"/>
              </a:spcAft>
              <a:buClr>
                <a:srgbClr val="A50021"/>
              </a:buClr>
              <a:buSzPts val="1320"/>
              <a:buFont typeface="Noto Sans Symbols"/>
              <a:buChar char="■"/>
            </a:pPr>
            <a:r>
              <a:rPr lang="en-US" sz="2200" b="1" dirty="0"/>
              <a:t>Can my palmtop translate what that Japanese lady is telling me.. ??</a:t>
            </a:r>
            <a:endParaRPr dirty="0"/>
          </a:p>
          <a:p>
            <a:pPr marL="339725" lvl="0" indent="-339725" algn="l" rtl="0">
              <a:lnSpc>
                <a:spcPct val="100000"/>
              </a:lnSpc>
              <a:spcBef>
                <a:spcPts val="550"/>
              </a:spcBef>
              <a:spcAft>
                <a:spcPts val="0"/>
              </a:spcAft>
              <a:buClr>
                <a:srgbClr val="A50021"/>
              </a:buClr>
              <a:buSzPts val="1320"/>
              <a:buFont typeface="Noto Sans Symbols"/>
              <a:buChar char="■"/>
            </a:pPr>
            <a:r>
              <a:rPr lang="en-US" sz="2200" b="1" dirty="0" err="1"/>
              <a:t>Ahhh</a:t>
            </a:r>
            <a:r>
              <a:rPr lang="en-US" sz="2200" b="1" dirty="0"/>
              <a:t>.. Can my PC do my NLP assignments ??</a:t>
            </a:r>
            <a:endParaRPr dirty="0"/>
          </a:p>
          <a:p>
            <a:pPr marL="339725" lvl="0" indent="-339725" algn="l" rtl="0">
              <a:lnSpc>
                <a:spcPct val="100000"/>
              </a:lnSpc>
              <a:spcBef>
                <a:spcPts val="550"/>
              </a:spcBef>
              <a:spcAft>
                <a:spcPts val="0"/>
              </a:spcAft>
              <a:buClr>
                <a:srgbClr val="A50021"/>
              </a:buClr>
              <a:buSzPts val="1320"/>
              <a:buFont typeface="Noto Sans Symbols"/>
              <a:buChar char="■"/>
            </a:pPr>
            <a:r>
              <a:rPr lang="en-US" sz="2200" b="1" dirty="0"/>
              <a:t>Do you know how our brain processes language ??</a:t>
            </a:r>
            <a:endParaRPr dirty="0"/>
          </a:p>
        </p:txBody>
      </p:sp>
    </p:spTree>
    <p:extLst>
      <p:ext uri="{BB962C8B-B14F-4D97-AF65-F5344CB8AC3E}">
        <p14:creationId xmlns:p14="http://schemas.microsoft.com/office/powerpoint/2010/main" val="4203441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15"/>
          <p:cNvSpPr txBox="1">
            <a:spLocks noGrp="1"/>
          </p:cNvSpPr>
          <p:nvPr>
            <p:ph type="title"/>
          </p:nvPr>
        </p:nvSpPr>
        <p:spPr>
          <a:xfrm>
            <a:off x="17489" y="304800"/>
            <a:ext cx="7391400" cy="99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4400"/>
              <a:buFont typeface="Calibri"/>
              <a:buNone/>
            </a:pPr>
            <a:r>
              <a:rPr lang="en-US" sz="4400" b="1" i="0" u="none" strike="noStrike" cap="none">
                <a:solidFill>
                  <a:schemeClr val="dk1"/>
                </a:solidFill>
                <a:latin typeface="Calibri"/>
                <a:ea typeface="Calibri"/>
                <a:cs typeface="Calibri"/>
                <a:sym typeface="Calibri"/>
              </a:rPr>
              <a:t>Dream come true</a:t>
            </a:r>
            <a:r>
              <a:rPr lang="en-US" sz="4400" b="0" i="0" u="none" strike="noStrike" cap="none">
                <a:solidFill>
                  <a:schemeClr val="dk1"/>
                </a:solidFill>
                <a:latin typeface="Calibri"/>
                <a:ea typeface="Calibri"/>
                <a:cs typeface="Calibri"/>
                <a:sym typeface="Calibri"/>
              </a:rPr>
              <a:t>?</a:t>
            </a:r>
            <a:endParaRPr/>
          </a:p>
        </p:txBody>
      </p:sp>
      <p:pic>
        <p:nvPicPr>
          <p:cNvPr id="411" name="Google Shape;411;p15"/>
          <p:cNvPicPr preferRelativeResize="0"/>
          <p:nvPr/>
        </p:nvPicPr>
        <p:blipFill rotWithShape="1">
          <a:blip r:embed="rId3">
            <a:alphaModFix/>
          </a:blip>
          <a:srcRect/>
          <a:stretch/>
        </p:blipFill>
        <p:spPr>
          <a:xfrm>
            <a:off x="685800" y="1447800"/>
            <a:ext cx="7662472" cy="4918327"/>
          </a:xfrm>
          <a:prstGeom prst="rect">
            <a:avLst/>
          </a:prstGeom>
          <a:noFill/>
          <a:ln>
            <a:noFill/>
          </a:ln>
        </p:spPr>
      </p:pic>
    </p:spTree>
    <p:extLst>
      <p:ext uri="{BB962C8B-B14F-4D97-AF65-F5344CB8AC3E}">
        <p14:creationId xmlns:p14="http://schemas.microsoft.com/office/powerpoint/2010/main" val="2626836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16"/>
          <p:cNvSpPr txBox="1">
            <a:spLocks noGrp="1"/>
          </p:cNvSpPr>
          <p:nvPr>
            <p:ph type="title"/>
          </p:nvPr>
        </p:nvSpPr>
        <p:spPr>
          <a:xfrm>
            <a:off x="152400" y="-49213"/>
            <a:ext cx="8153400" cy="11906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4400"/>
              <a:buFont typeface="Calibri"/>
              <a:buNone/>
            </a:pPr>
            <a:r>
              <a:rPr lang="en-US" sz="4400" b="1" i="0" u="none" strike="noStrike" cap="none">
                <a:solidFill>
                  <a:schemeClr val="dk1"/>
                </a:solidFill>
                <a:latin typeface="Calibri"/>
                <a:ea typeface="Calibri"/>
                <a:cs typeface="Calibri"/>
                <a:sym typeface="Calibri"/>
              </a:rPr>
              <a:t>Where does it fit in the  CS taxonomy?</a:t>
            </a:r>
            <a:endParaRPr/>
          </a:p>
        </p:txBody>
      </p:sp>
      <p:sp>
        <p:nvSpPr>
          <p:cNvPr id="418" name="Google Shape;418;p16"/>
          <p:cNvSpPr txBox="1"/>
          <p:nvPr/>
        </p:nvSpPr>
        <p:spPr>
          <a:xfrm>
            <a:off x="3262326" y="1260475"/>
            <a:ext cx="1636800" cy="464100"/>
          </a:xfrm>
          <a:prstGeom prst="rect">
            <a:avLst/>
          </a:prstGeom>
          <a:solidFill>
            <a:srgbClr val="99CCFF"/>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Computers</a:t>
            </a:r>
            <a:endParaRPr sz="1400" b="0" i="0" u="none" strike="noStrike" cap="none">
              <a:solidFill>
                <a:srgbClr val="000000"/>
              </a:solidFill>
              <a:latin typeface="Arial"/>
              <a:ea typeface="Arial"/>
              <a:cs typeface="Arial"/>
              <a:sym typeface="Arial"/>
            </a:endParaRPr>
          </a:p>
        </p:txBody>
      </p:sp>
      <p:sp>
        <p:nvSpPr>
          <p:cNvPr id="419" name="Google Shape;419;p16"/>
          <p:cNvSpPr txBox="1"/>
          <p:nvPr/>
        </p:nvSpPr>
        <p:spPr>
          <a:xfrm>
            <a:off x="2052638" y="1981200"/>
            <a:ext cx="2820987" cy="460375"/>
          </a:xfrm>
          <a:prstGeom prst="rect">
            <a:avLst/>
          </a:prstGeom>
          <a:solidFill>
            <a:srgbClr val="FF9900"/>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Artificial Intelligence</a:t>
            </a:r>
            <a:endParaRPr sz="1400" b="0" i="0" u="none" strike="noStrike" cap="none">
              <a:solidFill>
                <a:srgbClr val="000000"/>
              </a:solidFill>
              <a:latin typeface="Arial"/>
              <a:ea typeface="Arial"/>
              <a:cs typeface="Arial"/>
              <a:sym typeface="Arial"/>
            </a:endParaRPr>
          </a:p>
        </p:txBody>
      </p:sp>
      <p:sp>
        <p:nvSpPr>
          <p:cNvPr id="420" name="Google Shape;420;p16"/>
          <p:cNvSpPr txBox="1"/>
          <p:nvPr/>
        </p:nvSpPr>
        <p:spPr>
          <a:xfrm>
            <a:off x="5416550" y="1981200"/>
            <a:ext cx="1673100" cy="464100"/>
          </a:xfrm>
          <a:prstGeom prst="rect">
            <a:avLst/>
          </a:prstGeom>
          <a:noFill/>
          <a:ln w="9525" cap="sq" cmpd="sng">
            <a:solidFill>
              <a:srgbClr val="008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Algorithms</a:t>
            </a:r>
            <a:endParaRPr sz="1400" b="0" i="0" u="none" strike="noStrike" cap="none">
              <a:solidFill>
                <a:srgbClr val="000000"/>
              </a:solidFill>
              <a:latin typeface="Arial"/>
              <a:ea typeface="Arial"/>
              <a:cs typeface="Arial"/>
              <a:sym typeface="Arial"/>
            </a:endParaRPr>
          </a:p>
        </p:txBody>
      </p:sp>
      <p:sp>
        <p:nvSpPr>
          <p:cNvPr id="421" name="Google Shape;421;p16"/>
          <p:cNvSpPr txBox="1"/>
          <p:nvPr/>
        </p:nvSpPr>
        <p:spPr>
          <a:xfrm>
            <a:off x="80963" y="1981200"/>
            <a:ext cx="1417637" cy="460375"/>
          </a:xfrm>
          <a:prstGeom prst="rect">
            <a:avLst/>
          </a:prstGeom>
          <a:noFill/>
          <a:ln w="9525" cap="sq" cmpd="sng">
            <a:solidFill>
              <a:srgbClr val="008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Databases</a:t>
            </a:r>
            <a:endParaRPr sz="1400" b="0" i="0" u="none" strike="noStrike" cap="none">
              <a:solidFill>
                <a:srgbClr val="000000"/>
              </a:solidFill>
              <a:latin typeface="Arial"/>
              <a:ea typeface="Arial"/>
              <a:cs typeface="Arial"/>
              <a:sym typeface="Arial"/>
            </a:endParaRPr>
          </a:p>
        </p:txBody>
      </p:sp>
      <p:sp>
        <p:nvSpPr>
          <p:cNvPr id="422" name="Google Shape;422;p16"/>
          <p:cNvSpPr txBox="1"/>
          <p:nvPr/>
        </p:nvSpPr>
        <p:spPr>
          <a:xfrm>
            <a:off x="7321550" y="1981200"/>
            <a:ext cx="1638300" cy="460375"/>
          </a:xfrm>
          <a:prstGeom prst="rect">
            <a:avLst/>
          </a:prstGeom>
          <a:noFill/>
          <a:ln w="9525" cap="sq" cmpd="sng">
            <a:solidFill>
              <a:srgbClr val="008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Networking</a:t>
            </a:r>
            <a:endParaRPr sz="1400" b="0" i="0" u="none" strike="noStrike" cap="none">
              <a:solidFill>
                <a:srgbClr val="000000"/>
              </a:solidFill>
              <a:latin typeface="Arial"/>
              <a:ea typeface="Arial"/>
              <a:cs typeface="Arial"/>
              <a:sym typeface="Arial"/>
            </a:endParaRPr>
          </a:p>
        </p:txBody>
      </p:sp>
      <p:sp>
        <p:nvSpPr>
          <p:cNvPr id="423" name="Google Shape;423;p16"/>
          <p:cNvSpPr txBox="1"/>
          <p:nvPr/>
        </p:nvSpPr>
        <p:spPr>
          <a:xfrm>
            <a:off x="522288" y="3165475"/>
            <a:ext cx="1265237" cy="460375"/>
          </a:xfrm>
          <a:prstGeom prst="rect">
            <a:avLst/>
          </a:prstGeom>
          <a:noFill/>
          <a:ln w="9525" cap="sq" cmpd="sng">
            <a:solidFill>
              <a:srgbClr val="FF66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Robotics</a:t>
            </a:r>
            <a:endParaRPr sz="1400" b="0" i="0" u="none" strike="noStrike" cap="none">
              <a:solidFill>
                <a:srgbClr val="000000"/>
              </a:solidFill>
              <a:latin typeface="Arial"/>
              <a:ea typeface="Arial"/>
              <a:cs typeface="Arial"/>
              <a:sym typeface="Arial"/>
            </a:endParaRPr>
          </a:p>
        </p:txBody>
      </p:sp>
      <p:sp>
        <p:nvSpPr>
          <p:cNvPr id="424" name="Google Shape;424;p16"/>
          <p:cNvSpPr txBox="1"/>
          <p:nvPr/>
        </p:nvSpPr>
        <p:spPr>
          <a:xfrm>
            <a:off x="7167563" y="3124200"/>
            <a:ext cx="1011237" cy="460375"/>
          </a:xfrm>
          <a:prstGeom prst="rect">
            <a:avLst/>
          </a:prstGeom>
          <a:noFill/>
          <a:ln w="9525" cap="sq" cmpd="sng">
            <a:solidFill>
              <a:srgbClr val="FF66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Search</a:t>
            </a:r>
            <a:endParaRPr sz="1400" b="0" i="0" u="none" strike="noStrike" cap="none">
              <a:solidFill>
                <a:srgbClr val="000000"/>
              </a:solidFill>
              <a:latin typeface="Arial"/>
              <a:ea typeface="Arial"/>
              <a:cs typeface="Arial"/>
              <a:sym typeface="Arial"/>
            </a:endParaRPr>
          </a:p>
        </p:txBody>
      </p:sp>
      <p:sp>
        <p:nvSpPr>
          <p:cNvPr id="425" name="Google Shape;425;p16"/>
          <p:cNvSpPr txBox="1"/>
          <p:nvPr/>
        </p:nvSpPr>
        <p:spPr>
          <a:xfrm>
            <a:off x="2420938" y="3165475"/>
            <a:ext cx="3773487" cy="460375"/>
          </a:xfrm>
          <a:prstGeom prst="rect">
            <a:avLst/>
          </a:prstGeom>
          <a:solidFill>
            <a:srgbClr val="FF0000"/>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Natural Language Processing</a:t>
            </a:r>
            <a:endParaRPr sz="1400" b="0" i="0" u="none" strike="noStrike" cap="none">
              <a:solidFill>
                <a:srgbClr val="000000"/>
              </a:solidFill>
              <a:latin typeface="Arial"/>
              <a:ea typeface="Arial"/>
              <a:cs typeface="Arial"/>
              <a:sym typeface="Arial"/>
            </a:endParaRPr>
          </a:p>
        </p:txBody>
      </p:sp>
      <p:sp>
        <p:nvSpPr>
          <p:cNvPr id="426" name="Google Shape;426;p16"/>
          <p:cNvSpPr txBox="1"/>
          <p:nvPr/>
        </p:nvSpPr>
        <p:spPr>
          <a:xfrm>
            <a:off x="763588" y="4191000"/>
            <a:ext cx="1636712" cy="825500"/>
          </a:xfrm>
          <a:prstGeom prst="rect">
            <a:avLst/>
          </a:prstGeom>
          <a:solidFill>
            <a:srgbClr val="CCFFC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Information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Retrieval</a:t>
            </a:r>
            <a:endParaRPr sz="1400" b="0" i="0" u="none" strike="noStrike" cap="none">
              <a:solidFill>
                <a:srgbClr val="000000"/>
              </a:solidFill>
              <a:latin typeface="Arial"/>
              <a:ea typeface="Arial"/>
              <a:cs typeface="Arial"/>
              <a:sym typeface="Arial"/>
            </a:endParaRPr>
          </a:p>
        </p:txBody>
      </p:sp>
      <p:sp>
        <p:nvSpPr>
          <p:cNvPr id="427" name="Google Shape;427;p16"/>
          <p:cNvSpPr txBox="1"/>
          <p:nvPr/>
        </p:nvSpPr>
        <p:spPr>
          <a:xfrm>
            <a:off x="3198813" y="4191000"/>
            <a:ext cx="1571625" cy="825500"/>
          </a:xfrm>
          <a:prstGeom prst="rect">
            <a:avLst/>
          </a:prstGeom>
          <a:solidFill>
            <a:srgbClr val="FFFF99"/>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Machine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Translation</a:t>
            </a:r>
            <a:endParaRPr sz="1400" b="0" i="0" u="none" strike="noStrike" cap="none">
              <a:solidFill>
                <a:srgbClr val="000000"/>
              </a:solidFill>
              <a:latin typeface="Arial"/>
              <a:ea typeface="Arial"/>
              <a:cs typeface="Arial"/>
              <a:sym typeface="Arial"/>
            </a:endParaRPr>
          </a:p>
        </p:txBody>
      </p:sp>
      <p:sp>
        <p:nvSpPr>
          <p:cNvPr id="428" name="Google Shape;428;p16"/>
          <p:cNvSpPr txBox="1"/>
          <p:nvPr/>
        </p:nvSpPr>
        <p:spPr>
          <a:xfrm>
            <a:off x="5815013" y="4267200"/>
            <a:ext cx="1458912" cy="825500"/>
          </a:xfrm>
          <a:prstGeom prst="rect">
            <a:avLst/>
          </a:prstGeom>
          <a:solidFill>
            <a:srgbClr val="CC99FF"/>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Language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Analysis</a:t>
            </a:r>
            <a:endParaRPr sz="1400" b="0" i="0" u="none" strike="noStrike" cap="none">
              <a:solidFill>
                <a:srgbClr val="000000"/>
              </a:solidFill>
              <a:latin typeface="Arial"/>
              <a:ea typeface="Arial"/>
              <a:cs typeface="Arial"/>
              <a:sym typeface="Arial"/>
            </a:endParaRPr>
          </a:p>
        </p:txBody>
      </p:sp>
      <p:sp>
        <p:nvSpPr>
          <p:cNvPr id="429" name="Google Shape;429;p16"/>
          <p:cNvSpPr txBox="1"/>
          <p:nvPr/>
        </p:nvSpPr>
        <p:spPr>
          <a:xfrm>
            <a:off x="4800600" y="5715000"/>
            <a:ext cx="1433513" cy="460375"/>
          </a:xfrm>
          <a:prstGeom prst="rect">
            <a:avLst/>
          </a:prstGeom>
          <a:solidFill>
            <a:srgbClr val="C0C0C0"/>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Semantics</a:t>
            </a:r>
            <a:endParaRPr sz="1400" b="0" i="0" u="none" strike="noStrike" cap="none">
              <a:solidFill>
                <a:srgbClr val="000000"/>
              </a:solidFill>
              <a:latin typeface="Arial"/>
              <a:ea typeface="Arial"/>
              <a:cs typeface="Arial"/>
              <a:sym typeface="Arial"/>
            </a:endParaRPr>
          </a:p>
        </p:txBody>
      </p:sp>
      <p:sp>
        <p:nvSpPr>
          <p:cNvPr id="430" name="Google Shape;430;p16"/>
          <p:cNvSpPr txBox="1"/>
          <p:nvPr/>
        </p:nvSpPr>
        <p:spPr>
          <a:xfrm>
            <a:off x="6324600" y="5715000"/>
            <a:ext cx="18415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ahoma"/>
              <a:ea typeface="Tahoma"/>
              <a:cs typeface="Tahoma"/>
              <a:sym typeface="Tahoma"/>
            </a:endParaRPr>
          </a:p>
        </p:txBody>
      </p:sp>
      <p:sp>
        <p:nvSpPr>
          <p:cNvPr id="431" name="Google Shape;431;p16"/>
          <p:cNvSpPr txBox="1"/>
          <p:nvPr/>
        </p:nvSpPr>
        <p:spPr>
          <a:xfrm>
            <a:off x="6554788" y="5715000"/>
            <a:ext cx="1096962" cy="460375"/>
          </a:xfrm>
          <a:prstGeom prst="rect">
            <a:avLst/>
          </a:prstGeom>
          <a:solidFill>
            <a:srgbClr val="99CCFF"/>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Parsing</a:t>
            </a:r>
            <a:endParaRPr sz="1400" b="0" i="0" u="none" strike="noStrike" cap="none">
              <a:solidFill>
                <a:srgbClr val="000000"/>
              </a:solidFill>
              <a:latin typeface="Arial"/>
              <a:ea typeface="Arial"/>
              <a:cs typeface="Arial"/>
              <a:sym typeface="Arial"/>
            </a:endParaRPr>
          </a:p>
        </p:txBody>
      </p:sp>
      <p:cxnSp>
        <p:nvCxnSpPr>
          <p:cNvPr id="432" name="Google Shape;432;p16"/>
          <p:cNvCxnSpPr/>
          <p:nvPr/>
        </p:nvCxnSpPr>
        <p:spPr>
          <a:xfrm rot="10800000" flipH="1">
            <a:off x="5562600" y="5102225"/>
            <a:ext cx="914400" cy="615950"/>
          </a:xfrm>
          <a:prstGeom prst="straightConnector1">
            <a:avLst/>
          </a:prstGeom>
          <a:noFill/>
          <a:ln w="9525" cap="sq" cmpd="sng">
            <a:solidFill>
              <a:srgbClr val="000000"/>
            </a:solidFill>
            <a:prstDash val="solid"/>
            <a:miter lim="800000"/>
            <a:headEnd type="none" w="sm" len="sm"/>
            <a:tailEnd type="triangle" w="med" len="med"/>
          </a:ln>
        </p:spPr>
      </p:cxnSp>
      <p:cxnSp>
        <p:nvCxnSpPr>
          <p:cNvPr id="433" name="Google Shape;433;p16"/>
          <p:cNvCxnSpPr/>
          <p:nvPr/>
        </p:nvCxnSpPr>
        <p:spPr>
          <a:xfrm rot="10800000">
            <a:off x="6550025" y="5102225"/>
            <a:ext cx="539750" cy="615950"/>
          </a:xfrm>
          <a:prstGeom prst="straightConnector1">
            <a:avLst/>
          </a:prstGeom>
          <a:noFill/>
          <a:ln w="9525" cap="sq" cmpd="sng">
            <a:solidFill>
              <a:srgbClr val="000000"/>
            </a:solidFill>
            <a:prstDash val="solid"/>
            <a:miter lim="800000"/>
            <a:headEnd type="none" w="sm" len="sm"/>
            <a:tailEnd type="triangle" w="med" len="med"/>
          </a:ln>
        </p:spPr>
      </p:cxnSp>
      <p:cxnSp>
        <p:nvCxnSpPr>
          <p:cNvPr id="434" name="Google Shape;434;p16"/>
          <p:cNvCxnSpPr/>
          <p:nvPr/>
        </p:nvCxnSpPr>
        <p:spPr>
          <a:xfrm rot="10800000" flipH="1">
            <a:off x="1752600" y="3578225"/>
            <a:ext cx="1219200" cy="615950"/>
          </a:xfrm>
          <a:prstGeom prst="straightConnector1">
            <a:avLst/>
          </a:prstGeom>
          <a:noFill/>
          <a:ln w="9525" cap="sq" cmpd="sng">
            <a:solidFill>
              <a:srgbClr val="000000"/>
            </a:solidFill>
            <a:prstDash val="solid"/>
            <a:miter lim="800000"/>
            <a:headEnd type="none" w="sm" len="sm"/>
            <a:tailEnd type="triangle" w="med" len="med"/>
          </a:ln>
        </p:spPr>
      </p:cxnSp>
      <p:cxnSp>
        <p:nvCxnSpPr>
          <p:cNvPr id="435" name="Google Shape;435;p16"/>
          <p:cNvCxnSpPr/>
          <p:nvPr/>
        </p:nvCxnSpPr>
        <p:spPr>
          <a:xfrm rot="10800000" flipH="1">
            <a:off x="3962400" y="3654425"/>
            <a:ext cx="1588" cy="539750"/>
          </a:xfrm>
          <a:prstGeom prst="straightConnector1">
            <a:avLst/>
          </a:prstGeom>
          <a:noFill/>
          <a:ln w="9525" cap="sq" cmpd="sng">
            <a:solidFill>
              <a:srgbClr val="000000"/>
            </a:solidFill>
            <a:prstDash val="solid"/>
            <a:miter lim="800000"/>
            <a:headEnd type="none" w="sm" len="sm"/>
            <a:tailEnd type="triangle" w="med" len="med"/>
          </a:ln>
        </p:spPr>
      </p:cxnSp>
      <p:cxnSp>
        <p:nvCxnSpPr>
          <p:cNvPr id="436" name="Google Shape;436;p16"/>
          <p:cNvCxnSpPr/>
          <p:nvPr/>
        </p:nvCxnSpPr>
        <p:spPr>
          <a:xfrm rot="10800000">
            <a:off x="5102225" y="3654425"/>
            <a:ext cx="1301750" cy="615950"/>
          </a:xfrm>
          <a:prstGeom prst="straightConnector1">
            <a:avLst/>
          </a:prstGeom>
          <a:noFill/>
          <a:ln w="9525" cap="sq" cmpd="sng">
            <a:solidFill>
              <a:srgbClr val="000000"/>
            </a:solidFill>
            <a:prstDash val="solid"/>
            <a:miter lim="800000"/>
            <a:headEnd type="none" w="sm" len="sm"/>
            <a:tailEnd type="triangle" w="med" len="med"/>
          </a:ln>
        </p:spPr>
      </p:cxnSp>
      <p:cxnSp>
        <p:nvCxnSpPr>
          <p:cNvPr id="437" name="Google Shape;437;p16"/>
          <p:cNvCxnSpPr/>
          <p:nvPr/>
        </p:nvCxnSpPr>
        <p:spPr>
          <a:xfrm rot="10800000" flipH="1">
            <a:off x="1066800" y="2435225"/>
            <a:ext cx="1981200" cy="692150"/>
          </a:xfrm>
          <a:prstGeom prst="straightConnector1">
            <a:avLst/>
          </a:prstGeom>
          <a:noFill/>
          <a:ln w="9525" cap="sq" cmpd="sng">
            <a:solidFill>
              <a:srgbClr val="000000"/>
            </a:solidFill>
            <a:prstDash val="solid"/>
            <a:miter lim="800000"/>
            <a:headEnd type="none" w="sm" len="sm"/>
            <a:tailEnd type="triangle" w="med" len="med"/>
          </a:ln>
        </p:spPr>
      </p:cxnSp>
      <p:cxnSp>
        <p:nvCxnSpPr>
          <p:cNvPr id="438" name="Google Shape;438;p16"/>
          <p:cNvCxnSpPr/>
          <p:nvPr/>
        </p:nvCxnSpPr>
        <p:spPr>
          <a:xfrm rot="10800000" flipH="1">
            <a:off x="4114800" y="2435225"/>
            <a:ext cx="1588" cy="692150"/>
          </a:xfrm>
          <a:prstGeom prst="straightConnector1">
            <a:avLst/>
          </a:prstGeom>
          <a:noFill/>
          <a:ln w="9525" cap="sq" cmpd="sng">
            <a:solidFill>
              <a:srgbClr val="000000"/>
            </a:solidFill>
            <a:prstDash val="solid"/>
            <a:miter lim="800000"/>
            <a:headEnd type="none" w="sm" len="sm"/>
            <a:tailEnd type="triangle" w="med" len="med"/>
          </a:ln>
        </p:spPr>
      </p:cxnSp>
      <p:cxnSp>
        <p:nvCxnSpPr>
          <p:cNvPr id="439" name="Google Shape;439;p16"/>
          <p:cNvCxnSpPr/>
          <p:nvPr/>
        </p:nvCxnSpPr>
        <p:spPr>
          <a:xfrm rot="10800000">
            <a:off x="4645025" y="2435225"/>
            <a:ext cx="3054350" cy="692150"/>
          </a:xfrm>
          <a:prstGeom prst="straightConnector1">
            <a:avLst/>
          </a:prstGeom>
          <a:noFill/>
          <a:ln w="9525" cap="sq" cmpd="sng">
            <a:solidFill>
              <a:srgbClr val="000000"/>
            </a:solidFill>
            <a:prstDash val="solid"/>
            <a:miter lim="800000"/>
            <a:headEnd type="none" w="sm" len="sm"/>
            <a:tailEnd type="triangle" w="med" len="med"/>
          </a:ln>
        </p:spPr>
      </p:cxnSp>
      <p:cxnSp>
        <p:nvCxnSpPr>
          <p:cNvPr id="440" name="Google Shape;440;p16"/>
          <p:cNvCxnSpPr/>
          <p:nvPr/>
        </p:nvCxnSpPr>
        <p:spPr>
          <a:xfrm rot="10800000" flipH="1">
            <a:off x="762000" y="1749425"/>
            <a:ext cx="2819400" cy="234950"/>
          </a:xfrm>
          <a:prstGeom prst="straightConnector1">
            <a:avLst/>
          </a:prstGeom>
          <a:noFill/>
          <a:ln w="9525" cap="sq" cmpd="sng">
            <a:solidFill>
              <a:srgbClr val="000000"/>
            </a:solidFill>
            <a:prstDash val="solid"/>
            <a:miter lim="800000"/>
            <a:headEnd type="none" w="sm" len="sm"/>
            <a:tailEnd type="triangle" w="med" len="med"/>
          </a:ln>
        </p:spPr>
      </p:cxnSp>
      <p:cxnSp>
        <p:nvCxnSpPr>
          <p:cNvPr id="441" name="Google Shape;441;p16"/>
          <p:cNvCxnSpPr/>
          <p:nvPr/>
        </p:nvCxnSpPr>
        <p:spPr>
          <a:xfrm rot="10800000" flipH="1">
            <a:off x="3733800" y="1749425"/>
            <a:ext cx="152400" cy="234950"/>
          </a:xfrm>
          <a:prstGeom prst="straightConnector1">
            <a:avLst/>
          </a:prstGeom>
          <a:noFill/>
          <a:ln w="9525" cap="sq" cmpd="sng">
            <a:solidFill>
              <a:srgbClr val="000000"/>
            </a:solidFill>
            <a:prstDash val="solid"/>
            <a:miter lim="800000"/>
            <a:headEnd type="none" w="sm" len="sm"/>
            <a:tailEnd type="triangle" w="med" len="med"/>
          </a:ln>
        </p:spPr>
      </p:cxnSp>
      <p:cxnSp>
        <p:nvCxnSpPr>
          <p:cNvPr id="442" name="Google Shape;442;p16"/>
          <p:cNvCxnSpPr/>
          <p:nvPr/>
        </p:nvCxnSpPr>
        <p:spPr>
          <a:xfrm rot="10800000">
            <a:off x="4111625" y="1749425"/>
            <a:ext cx="2139950" cy="234950"/>
          </a:xfrm>
          <a:prstGeom prst="straightConnector1">
            <a:avLst/>
          </a:prstGeom>
          <a:noFill/>
          <a:ln w="9525" cap="sq" cmpd="sng">
            <a:solidFill>
              <a:srgbClr val="000000"/>
            </a:solidFill>
            <a:prstDash val="solid"/>
            <a:miter lim="800000"/>
            <a:headEnd type="none" w="sm" len="sm"/>
            <a:tailEnd type="triangle" w="med" len="med"/>
          </a:ln>
        </p:spPr>
      </p:cxnSp>
      <p:cxnSp>
        <p:nvCxnSpPr>
          <p:cNvPr id="443" name="Google Shape;443;p16"/>
          <p:cNvCxnSpPr/>
          <p:nvPr/>
        </p:nvCxnSpPr>
        <p:spPr>
          <a:xfrm rot="10800000">
            <a:off x="4568825" y="1673225"/>
            <a:ext cx="3663950" cy="311150"/>
          </a:xfrm>
          <a:prstGeom prst="straightConnector1">
            <a:avLst/>
          </a:prstGeom>
          <a:noFill/>
          <a:ln w="9525" cap="sq" cmpd="sng">
            <a:solidFill>
              <a:srgbClr val="000000"/>
            </a:solidFill>
            <a:prstDash val="solid"/>
            <a:miter lim="800000"/>
            <a:headEnd type="none" w="sm" len="sm"/>
            <a:tailEnd type="triangle" w="med" len="med"/>
          </a:ln>
        </p:spPr>
      </p:cxnSp>
    </p:spTree>
    <p:extLst>
      <p:ext uri="{BB962C8B-B14F-4D97-AF65-F5344CB8AC3E}">
        <p14:creationId xmlns:p14="http://schemas.microsoft.com/office/powerpoint/2010/main" val="341657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0"/>
                                        </p:tgtEl>
                                        <p:attrNameLst>
                                          <p:attrName>style.visibility</p:attrName>
                                        </p:attrNameLst>
                                      </p:cBhvr>
                                      <p:to>
                                        <p:strVal val="visible"/>
                                      </p:to>
                                    </p:set>
                                    <p:anim calcmode="lin" valueType="num">
                                      <p:cBhvr additive="base">
                                        <p:cTn id="7" dur="500"/>
                                        <p:tgtEl>
                                          <p:spTgt spid="420"/>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42"/>
                                        </p:tgtEl>
                                        <p:attrNameLst>
                                          <p:attrName>style.visibility</p:attrName>
                                        </p:attrNameLst>
                                      </p:cBhvr>
                                      <p:to>
                                        <p:strVal val="visible"/>
                                      </p:to>
                                    </p:set>
                                  </p:childTnLst>
                                </p:cTn>
                              </p:par>
                            </p:childTnLst>
                          </p:cTn>
                        </p:par>
                        <p:par>
                          <p:cTn id="11" fill="hold">
                            <p:stCondLst>
                              <p:cond delay="501"/>
                            </p:stCondLst>
                            <p:childTnLst>
                              <p:par>
                                <p:cTn id="12" presetID="2" presetClass="entr" presetSubtype="8" fill="hold" nodeType="afterEffect">
                                  <p:stCondLst>
                                    <p:cond delay="0"/>
                                  </p:stCondLst>
                                  <p:childTnLst>
                                    <p:set>
                                      <p:cBhvr>
                                        <p:cTn id="13" dur="1" fill="hold">
                                          <p:stCondLst>
                                            <p:cond delay="0"/>
                                          </p:stCondLst>
                                        </p:cTn>
                                        <p:tgtEl>
                                          <p:spTgt spid="421"/>
                                        </p:tgtEl>
                                        <p:attrNameLst>
                                          <p:attrName>style.visibility</p:attrName>
                                        </p:attrNameLst>
                                      </p:cBhvr>
                                      <p:to>
                                        <p:strVal val="visible"/>
                                      </p:to>
                                    </p:set>
                                    <p:anim calcmode="lin" valueType="num">
                                      <p:cBhvr additive="base">
                                        <p:cTn id="14" dur="500"/>
                                        <p:tgtEl>
                                          <p:spTgt spid="421"/>
                                        </p:tgtEl>
                                        <p:attrNameLst>
                                          <p:attrName>ppt_x</p:attrName>
                                        </p:attrNameLst>
                                      </p:cBhvr>
                                      <p:tavLst>
                                        <p:tav tm="0">
                                          <p:val>
                                            <p:strVal val="#ppt_x-1"/>
                                          </p:val>
                                        </p:tav>
                                        <p:tav tm="100000">
                                          <p:val>
                                            <p:strVal val="#ppt_x"/>
                                          </p:val>
                                        </p:tav>
                                      </p:tavLst>
                                    </p:anim>
                                  </p:childTnLst>
                                </p:cTn>
                              </p:par>
                            </p:childTnLst>
                          </p:cTn>
                        </p:par>
                        <p:par>
                          <p:cTn id="15" fill="hold">
                            <p:stCondLst>
                              <p:cond delay="1001"/>
                            </p:stCondLst>
                            <p:childTnLst>
                              <p:par>
                                <p:cTn id="16" presetID="1" presetClass="entr" presetSubtype="0" fill="hold" nodeType="afterEffect">
                                  <p:stCondLst>
                                    <p:cond delay="0"/>
                                  </p:stCondLst>
                                  <p:childTnLst>
                                    <p:set>
                                      <p:cBhvr>
                                        <p:cTn id="17" dur="1" fill="hold">
                                          <p:stCondLst>
                                            <p:cond delay="0"/>
                                          </p:stCondLst>
                                        </p:cTn>
                                        <p:tgtEl>
                                          <p:spTgt spid="440"/>
                                        </p:tgtEl>
                                        <p:attrNameLst>
                                          <p:attrName>style.visibility</p:attrName>
                                        </p:attrNameLst>
                                      </p:cBhvr>
                                      <p:to>
                                        <p:strVal val="visible"/>
                                      </p:to>
                                    </p:set>
                                  </p:childTnLst>
                                </p:cTn>
                              </p:par>
                            </p:childTnLst>
                          </p:cTn>
                        </p:par>
                        <p:par>
                          <p:cTn id="18" fill="hold">
                            <p:stCondLst>
                              <p:cond delay="1002"/>
                            </p:stCondLst>
                            <p:childTnLst>
                              <p:par>
                                <p:cTn id="19" presetID="2" presetClass="entr" presetSubtype="8" fill="hold" nodeType="afterEffect">
                                  <p:stCondLst>
                                    <p:cond delay="0"/>
                                  </p:stCondLst>
                                  <p:childTnLst>
                                    <p:set>
                                      <p:cBhvr>
                                        <p:cTn id="20" dur="1" fill="hold">
                                          <p:stCondLst>
                                            <p:cond delay="0"/>
                                          </p:stCondLst>
                                        </p:cTn>
                                        <p:tgtEl>
                                          <p:spTgt spid="422"/>
                                        </p:tgtEl>
                                        <p:attrNameLst>
                                          <p:attrName>style.visibility</p:attrName>
                                        </p:attrNameLst>
                                      </p:cBhvr>
                                      <p:to>
                                        <p:strVal val="visible"/>
                                      </p:to>
                                    </p:set>
                                    <p:anim calcmode="lin" valueType="num">
                                      <p:cBhvr additive="base">
                                        <p:cTn id="21" dur="500"/>
                                        <p:tgtEl>
                                          <p:spTgt spid="422"/>
                                        </p:tgtEl>
                                        <p:attrNameLst>
                                          <p:attrName>ppt_x</p:attrName>
                                        </p:attrNameLst>
                                      </p:cBhvr>
                                      <p:tavLst>
                                        <p:tav tm="0">
                                          <p:val>
                                            <p:strVal val="#ppt_x-1"/>
                                          </p:val>
                                        </p:tav>
                                        <p:tav tm="100000">
                                          <p:val>
                                            <p:strVal val="#ppt_x"/>
                                          </p:val>
                                        </p:tav>
                                      </p:tavLst>
                                    </p:anim>
                                  </p:childTnLst>
                                </p:cTn>
                              </p:par>
                            </p:childTnLst>
                          </p:cTn>
                        </p:par>
                        <p:par>
                          <p:cTn id="22" fill="hold">
                            <p:stCondLst>
                              <p:cond delay="1502"/>
                            </p:stCondLst>
                            <p:childTnLst>
                              <p:par>
                                <p:cTn id="23" presetID="1" presetClass="entr" presetSubtype="0" fill="hold" nodeType="afterEffect">
                                  <p:stCondLst>
                                    <p:cond delay="0"/>
                                  </p:stCondLst>
                                  <p:childTnLst>
                                    <p:set>
                                      <p:cBhvr>
                                        <p:cTn id="24" dur="1" fill="hold">
                                          <p:stCondLst>
                                            <p:cond delay="0"/>
                                          </p:stCondLst>
                                        </p:cTn>
                                        <p:tgtEl>
                                          <p:spTgt spid="4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19"/>
                                        </p:tgtEl>
                                        <p:attrNameLst>
                                          <p:attrName>style.visibility</p:attrName>
                                        </p:attrNameLst>
                                      </p:cBhvr>
                                      <p:to>
                                        <p:strVal val="visible"/>
                                      </p:to>
                                    </p:set>
                                    <p:anim calcmode="lin" valueType="num">
                                      <p:cBhvr additive="base">
                                        <p:cTn id="29" dur="500"/>
                                        <p:tgtEl>
                                          <p:spTgt spid="419"/>
                                        </p:tgtEl>
                                        <p:attrNameLst>
                                          <p:attrName>ppt_x</p:attrName>
                                        </p:attrNameLst>
                                      </p:cBhvr>
                                      <p:tavLst>
                                        <p:tav tm="0">
                                          <p:val>
                                            <p:strVal val="#ppt_x-1"/>
                                          </p:val>
                                        </p:tav>
                                        <p:tav tm="100000">
                                          <p:val>
                                            <p:strVal val="#ppt_x"/>
                                          </p:val>
                                        </p:tav>
                                      </p:tavLst>
                                    </p:anim>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441"/>
                                        </p:tgtEl>
                                        <p:attrNameLst>
                                          <p:attrName>style.visibility</p:attrName>
                                        </p:attrNameLst>
                                      </p:cBhvr>
                                      <p:to>
                                        <p:strVal val="visible"/>
                                      </p:to>
                                    </p:set>
                                  </p:childTnLst>
                                </p:cTn>
                              </p:par>
                            </p:childTnLst>
                          </p:cTn>
                        </p:par>
                        <p:par>
                          <p:cTn id="33" fill="hold">
                            <p:stCondLst>
                              <p:cond delay="501"/>
                            </p:stCondLst>
                            <p:childTnLst>
                              <p:par>
                                <p:cTn id="34" presetID="2" presetClass="entr" presetSubtype="8" fill="hold" nodeType="afterEffect">
                                  <p:stCondLst>
                                    <p:cond delay="0"/>
                                  </p:stCondLst>
                                  <p:childTnLst>
                                    <p:set>
                                      <p:cBhvr>
                                        <p:cTn id="35" dur="1" fill="hold">
                                          <p:stCondLst>
                                            <p:cond delay="0"/>
                                          </p:stCondLst>
                                        </p:cTn>
                                        <p:tgtEl>
                                          <p:spTgt spid="423"/>
                                        </p:tgtEl>
                                        <p:attrNameLst>
                                          <p:attrName>style.visibility</p:attrName>
                                        </p:attrNameLst>
                                      </p:cBhvr>
                                      <p:to>
                                        <p:strVal val="visible"/>
                                      </p:to>
                                    </p:set>
                                    <p:anim calcmode="lin" valueType="num">
                                      <p:cBhvr additive="base">
                                        <p:cTn id="36" dur="500"/>
                                        <p:tgtEl>
                                          <p:spTgt spid="423"/>
                                        </p:tgtEl>
                                        <p:attrNameLst>
                                          <p:attrName>ppt_x</p:attrName>
                                        </p:attrNameLst>
                                      </p:cBhvr>
                                      <p:tavLst>
                                        <p:tav tm="0">
                                          <p:val>
                                            <p:strVal val="#ppt_x-1"/>
                                          </p:val>
                                        </p:tav>
                                        <p:tav tm="100000">
                                          <p:val>
                                            <p:strVal val="#ppt_x"/>
                                          </p:val>
                                        </p:tav>
                                      </p:tavLst>
                                    </p:anim>
                                  </p:childTnLst>
                                </p:cTn>
                              </p:par>
                            </p:childTnLst>
                          </p:cTn>
                        </p:par>
                        <p:par>
                          <p:cTn id="37" fill="hold">
                            <p:stCondLst>
                              <p:cond delay="1001"/>
                            </p:stCondLst>
                            <p:childTnLst>
                              <p:par>
                                <p:cTn id="38" presetID="1" presetClass="entr" presetSubtype="0" fill="hold" nodeType="afterEffect">
                                  <p:stCondLst>
                                    <p:cond delay="0"/>
                                  </p:stCondLst>
                                  <p:childTnLst>
                                    <p:set>
                                      <p:cBhvr>
                                        <p:cTn id="39" dur="1" fill="hold">
                                          <p:stCondLst>
                                            <p:cond delay="0"/>
                                          </p:stCondLst>
                                        </p:cTn>
                                        <p:tgtEl>
                                          <p:spTgt spid="437"/>
                                        </p:tgtEl>
                                        <p:attrNameLst>
                                          <p:attrName>style.visibility</p:attrName>
                                        </p:attrNameLst>
                                      </p:cBhvr>
                                      <p:to>
                                        <p:strVal val="visible"/>
                                      </p:to>
                                    </p:set>
                                  </p:childTnLst>
                                </p:cTn>
                              </p:par>
                            </p:childTnLst>
                          </p:cTn>
                        </p:par>
                        <p:par>
                          <p:cTn id="40" fill="hold">
                            <p:stCondLst>
                              <p:cond delay="1002"/>
                            </p:stCondLst>
                            <p:childTnLst>
                              <p:par>
                                <p:cTn id="41" presetID="2" presetClass="entr" presetSubtype="8" fill="hold" nodeType="afterEffect">
                                  <p:stCondLst>
                                    <p:cond delay="0"/>
                                  </p:stCondLst>
                                  <p:childTnLst>
                                    <p:set>
                                      <p:cBhvr>
                                        <p:cTn id="42" dur="1" fill="hold">
                                          <p:stCondLst>
                                            <p:cond delay="0"/>
                                          </p:stCondLst>
                                        </p:cTn>
                                        <p:tgtEl>
                                          <p:spTgt spid="424"/>
                                        </p:tgtEl>
                                        <p:attrNameLst>
                                          <p:attrName>style.visibility</p:attrName>
                                        </p:attrNameLst>
                                      </p:cBhvr>
                                      <p:to>
                                        <p:strVal val="visible"/>
                                      </p:to>
                                    </p:set>
                                    <p:anim calcmode="lin" valueType="num">
                                      <p:cBhvr additive="base">
                                        <p:cTn id="43" dur="500"/>
                                        <p:tgtEl>
                                          <p:spTgt spid="424"/>
                                        </p:tgtEl>
                                        <p:attrNameLst>
                                          <p:attrName>ppt_x</p:attrName>
                                        </p:attrNameLst>
                                      </p:cBhvr>
                                      <p:tavLst>
                                        <p:tav tm="0">
                                          <p:val>
                                            <p:strVal val="#ppt_x-1"/>
                                          </p:val>
                                        </p:tav>
                                        <p:tav tm="100000">
                                          <p:val>
                                            <p:strVal val="#ppt_x"/>
                                          </p:val>
                                        </p:tav>
                                      </p:tavLst>
                                    </p:anim>
                                  </p:childTnLst>
                                </p:cTn>
                              </p:par>
                            </p:childTnLst>
                          </p:cTn>
                        </p:par>
                        <p:par>
                          <p:cTn id="44" fill="hold">
                            <p:stCondLst>
                              <p:cond delay="1502"/>
                            </p:stCondLst>
                            <p:childTnLst>
                              <p:par>
                                <p:cTn id="45" presetID="1" presetClass="entr" presetSubtype="0" fill="hold" nodeType="afterEffect">
                                  <p:stCondLst>
                                    <p:cond delay="0"/>
                                  </p:stCondLst>
                                  <p:childTnLst>
                                    <p:set>
                                      <p:cBhvr>
                                        <p:cTn id="46" dur="1" fill="hold">
                                          <p:stCondLst>
                                            <p:cond delay="0"/>
                                          </p:stCondLst>
                                        </p:cTn>
                                        <p:tgtEl>
                                          <p:spTgt spid="4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425"/>
                                        </p:tgtEl>
                                        <p:attrNameLst>
                                          <p:attrName>style.visibility</p:attrName>
                                        </p:attrNameLst>
                                      </p:cBhvr>
                                      <p:to>
                                        <p:strVal val="visible"/>
                                      </p:to>
                                    </p:set>
                                    <p:anim calcmode="lin" valueType="num">
                                      <p:cBhvr additive="base">
                                        <p:cTn id="51" dur="500"/>
                                        <p:tgtEl>
                                          <p:spTgt spid="425"/>
                                        </p:tgtEl>
                                        <p:attrNameLst>
                                          <p:attrName>ppt_x</p:attrName>
                                        </p:attrNameLst>
                                      </p:cBhvr>
                                      <p:tavLst>
                                        <p:tav tm="0">
                                          <p:val>
                                            <p:strVal val="#ppt_x-1"/>
                                          </p:val>
                                        </p:tav>
                                        <p:tav tm="100000">
                                          <p:val>
                                            <p:strVal val="#ppt_x"/>
                                          </p:val>
                                        </p:tav>
                                      </p:tavLst>
                                    </p:anim>
                                  </p:childTnLst>
                                </p:cTn>
                              </p:par>
                            </p:childTnLst>
                          </p:cTn>
                        </p:par>
                        <p:par>
                          <p:cTn id="52" fill="hold">
                            <p:stCondLst>
                              <p:cond delay="500"/>
                            </p:stCondLst>
                            <p:childTnLst>
                              <p:par>
                                <p:cTn id="53" presetID="1" presetClass="entr" presetSubtype="0" fill="hold" nodeType="afterEffect">
                                  <p:stCondLst>
                                    <p:cond delay="0"/>
                                  </p:stCondLst>
                                  <p:childTnLst>
                                    <p:set>
                                      <p:cBhvr>
                                        <p:cTn id="54" dur="1" fill="hold">
                                          <p:stCondLst>
                                            <p:cond delay="0"/>
                                          </p:stCondLst>
                                        </p:cTn>
                                        <p:tgtEl>
                                          <p:spTgt spid="4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nodeType="clickEffect">
                                  <p:stCondLst>
                                    <p:cond delay="0"/>
                                  </p:stCondLst>
                                  <p:childTnLst>
                                    <p:set>
                                      <p:cBhvr>
                                        <p:cTn id="58" dur="1" fill="hold">
                                          <p:stCondLst>
                                            <p:cond delay="0"/>
                                          </p:stCondLst>
                                        </p:cTn>
                                        <p:tgtEl>
                                          <p:spTgt spid="426"/>
                                        </p:tgtEl>
                                        <p:attrNameLst>
                                          <p:attrName>style.visibility</p:attrName>
                                        </p:attrNameLst>
                                      </p:cBhvr>
                                      <p:to>
                                        <p:strVal val="visible"/>
                                      </p:to>
                                    </p:set>
                                    <p:anim calcmode="lin" valueType="num">
                                      <p:cBhvr additive="base">
                                        <p:cTn id="59" dur="500"/>
                                        <p:tgtEl>
                                          <p:spTgt spid="426"/>
                                        </p:tgtEl>
                                        <p:attrNameLst>
                                          <p:attrName>ppt_x</p:attrName>
                                        </p:attrNameLst>
                                      </p:cBhvr>
                                      <p:tavLst>
                                        <p:tav tm="0">
                                          <p:val>
                                            <p:strVal val="#ppt_x-1"/>
                                          </p:val>
                                        </p:tav>
                                        <p:tav tm="100000">
                                          <p:val>
                                            <p:strVal val="#ppt_x"/>
                                          </p:val>
                                        </p:tav>
                                      </p:tavLst>
                                    </p:anim>
                                  </p:childTnLst>
                                </p:cTn>
                              </p:par>
                            </p:childTnLst>
                          </p:cTn>
                        </p:par>
                        <p:par>
                          <p:cTn id="60" fill="hold">
                            <p:stCondLst>
                              <p:cond delay="500"/>
                            </p:stCondLst>
                            <p:childTnLst>
                              <p:par>
                                <p:cTn id="61" presetID="1" presetClass="entr" presetSubtype="0" fill="hold" nodeType="afterEffect">
                                  <p:stCondLst>
                                    <p:cond delay="0"/>
                                  </p:stCondLst>
                                  <p:childTnLst>
                                    <p:set>
                                      <p:cBhvr>
                                        <p:cTn id="62" dur="1" fill="hold">
                                          <p:stCondLst>
                                            <p:cond delay="0"/>
                                          </p:stCondLst>
                                        </p:cTn>
                                        <p:tgtEl>
                                          <p:spTgt spid="4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427"/>
                                        </p:tgtEl>
                                        <p:attrNameLst>
                                          <p:attrName>style.visibility</p:attrName>
                                        </p:attrNameLst>
                                      </p:cBhvr>
                                      <p:to>
                                        <p:strVal val="visible"/>
                                      </p:to>
                                    </p:set>
                                    <p:anim calcmode="lin" valueType="num">
                                      <p:cBhvr additive="base">
                                        <p:cTn id="67" dur="500"/>
                                        <p:tgtEl>
                                          <p:spTgt spid="427"/>
                                        </p:tgtEl>
                                        <p:attrNameLst>
                                          <p:attrName>ppt_x</p:attrName>
                                        </p:attrNameLst>
                                      </p:cBhvr>
                                      <p:tavLst>
                                        <p:tav tm="0">
                                          <p:val>
                                            <p:strVal val="#ppt_x-1"/>
                                          </p:val>
                                        </p:tav>
                                        <p:tav tm="100000">
                                          <p:val>
                                            <p:strVal val="#ppt_x"/>
                                          </p:val>
                                        </p:tav>
                                      </p:tavLst>
                                    </p:anim>
                                  </p:childTnLst>
                                </p:cTn>
                              </p:par>
                            </p:childTnLst>
                          </p:cTn>
                        </p:par>
                        <p:par>
                          <p:cTn id="68" fill="hold">
                            <p:stCondLst>
                              <p:cond delay="500"/>
                            </p:stCondLst>
                            <p:childTnLst>
                              <p:par>
                                <p:cTn id="69" presetID="1" presetClass="entr" presetSubtype="0" fill="hold" nodeType="afterEffect">
                                  <p:stCondLst>
                                    <p:cond delay="0"/>
                                  </p:stCondLst>
                                  <p:childTnLst>
                                    <p:set>
                                      <p:cBhvr>
                                        <p:cTn id="70" dur="1" fill="hold">
                                          <p:stCondLst>
                                            <p:cond delay="0"/>
                                          </p:stCondLst>
                                        </p:cTn>
                                        <p:tgtEl>
                                          <p:spTgt spid="43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nodeType="clickEffect">
                                  <p:stCondLst>
                                    <p:cond delay="0"/>
                                  </p:stCondLst>
                                  <p:childTnLst>
                                    <p:set>
                                      <p:cBhvr>
                                        <p:cTn id="74" dur="1" fill="hold">
                                          <p:stCondLst>
                                            <p:cond delay="0"/>
                                          </p:stCondLst>
                                        </p:cTn>
                                        <p:tgtEl>
                                          <p:spTgt spid="428"/>
                                        </p:tgtEl>
                                        <p:attrNameLst>
                                          <p:attrName>style.visibility</p:attrName>
                                        </p:attrNameLst>
                                      </p:cBhvr>
                                      <p:to>
                                        <p:strVal val="visible"/>
                                      </p:to>
                                    </p:set>
                                    <p:anim calcmode="lin" valueType="num">
                                      <p:cBhvr additive="base">
                                        <p:cTn id="75" dur="500"/>
                                        <p:tgtEl>
                                          <p:spTgt spid="428"/>
                                        </p:tgtEl>
                                        <p:attrNameLst>
                                          <p:attrName>ppt_x</p:attrName>
                                        </p:attrNameLst>
                                      </p:cBhvr>
                                      <p:tavLst>
                                        <p:tav tm="0">
                                          <p:val>
                                            <p:strVal val="#ppt_x-1"/>
                                          </p:val>
                                        </p:tav>
                                        <p:tav tm="100000">
                                          <p:val>
                                            <p:strVal val="#ppt_x"/>
                                          </p:val>
                                        </p:tav>
                                      </p:tavLst>
                                    </p:anim>
                                  </p:childTnLst>
                                </p:cTn>
                              </p:par>
                            </p:childTnLst>
                          </p:cTn>
                        </p:par>
                        <p:par>
                          <p:cTn id="76" fill="hold">
                            <p:stCondLst>
                              <p:cond delay="500"/>
                            </p:stCondLst>
                            <p:childTnLst>
                              <p:par>
                                <p:cTn id="77" presetID="1" presetClass="entr" presetSubtype="0" fill="hold" nodeType="afterEffect">
                                  <p:stCondLst>
                                    <p:cond delay="0"/>
                                  </p:stCondLst>
                                  <p:childTnLst>
                                    <p:set>
                                      <p:cBhvr>
                                        <p:cTn id="78" dur="1" fill="hold">
                                          <p:stCondLst>
                                            <p:cond delay="0"/>
                                          </p:stCondLst>
                                        </p:cTn>
                                        <p:tgtEl>
                                          <p:spTgt spid="436"/>
                                        </p:tgtEl>
                                        <p:attrNameLst>
                                          <p:attrName>style.visibility</p:attrName>
                                        </p:attrNameLst>
                                      </p:cBhvr>
                                      <p:to>
                                        <p:strVal val="visible"/>
                                      </p:to>
                                    </p:set>
                                  </p:childTnLst>
                                </p:cTn>
                              </p:par>
                            </p:childTnLst>
                          </p:cTn>
                        </p:par>
                        <p:par>
                          <p:cTn id="79" fill="hold">
                            <p:stCondLst>
                              <p:cond delay="501"/>
                            </p:stCondLst>
                            <p:childTnLst>
                              <p:par>
                                <p:cTn id="80" presetID="2" presetClass="entr" presetSubtype="8" fill="hold" nodeType="afterEffect">
                                  <p:stCondLst>
                                    <p:cond delay="0"/>
                                  </p:stCondLst>
                                  <p:childTnLst>
                                    <p:set>
                                      <p:cBhvr>
                                        <p:cTn id="81" dur="1" fill="hold">
                                          <p:stCondLst>
                                            <p:cond delay="0"/>
                                          </p:stCondLst>
                                        </p:cTn>
                                        <p:tgtEl>
                                          <p:spTgt spid="429"/>
                                        </p:tgtEl>
                                        <p:attrNameLst>
                                          <p:attrName>style.visibility</p:attrName>
                                        </p:attrNameLst>
                                      </p:cBhvr>
                                      <p:to>
                                        <p:strVal val="visible"/>
                                      </p:to>
                                    </p:set>
                                    <p:anim calcmode="lin" valueType="num">
                                      <p:cBhvr additive="base">
                                        <p:cTn id="82" dur="500"/>
                                        <p:tgtEl>
                                          <p:spTgt spid="429"/>
                                        </p:tgtEl>
                                        <p:attrNameLst>
                                          <p:attrName>ppt_x</p:attrName>
                                        </p:attrNameLst>
                                      </p:cBhvr>
                                      <p:tavLst>
                                        <p:tav tm="0">
                                          <p:val>
                                            <p:strVal val="#ppt_x-1"/>
                                          </p:val>
                                        </p:tav>
                                        <p:tav tm="100000">
                                          <p:val>
                                            <p:strVal val="#ppt_x"/>
                                          </p:val>
                                        </p:tav>
                                      </p:tavLst>
                                    </p:anim>
                                  </p:childTnLst>
                                </p:cTn>
                              </p:par>
                            </p:childTnLst>
                          </p:cTn>
                        </p:par>
                        <p:par>
                          <p:cTn id="83" fill="hold">
                            <p:stCondLst>
                              <p:cond delay="1001"/>
                            </p:stCondLst>
                            <p:childTnLst>
                              <p:par>
                                <p:cTn id="84" presetID="2" presetClass="entr" presetSubtype="8" fill="hold" nodeType="afterEffect">
                                  <p:stCondLst>
                                    <p:cond delay="0"/>
                                  </p:stCondLst>
                                  <p:childTnLst>
                                    <p:set>
                                      <p:cBhvr>
                                        <p:cTn id="85" dur="1" fill="hold">
                                          <p:stCondLst>
                                            <p:cond delay="0"/>
                                          </p:stCondLst>
                                        </p:cTn>
                                        <p:tgtEl>
                                          <p:spTgt spid="430"/>
                                        </p:tgtEl>
                                        <p:attrNameLst>
                                          <p:attrName>style.visibility</p:attrName>
                                        </p:attrNameLst>
                                      </p:cBhvr>
                                      <p:to>
                                        <p:strVal val="visible"/>
                                      </p:to>
                                    </p:set>
                                    <p:anim calcmode="lin" valueType="num">
                                      <p:cBhvr additive="base">
                                        <p:cTn id="86" dur="500"/>
                                        <p:tgtEl>
                                          <p:spTgt spid="430"/>
                                        </p:tgtEl>
                                        <p:attrNameLst>
                                          <p:attrName>ppt_x</p:attrName>
                                        </p:attrNameLst>
                                      </p:cBhvr>
                                      <p:tavLst>
                                        <p:tav tm="0">
                                          <p:val>
                                            <p:strVal val="#ppt_x-1"/>
                                          </p:val>
                                        </p:tav>
                                        <p:tav tm="100000">
                                          <p:val>
                                            <p:strVal val="#ppt_x"/>
                                          </p:val>
                                        </p:tav>
                                      </p:tavLst>
                                    </p:anim>
                                  </p:childTnLst>
                                </p:cTn>
                              </p:par>
                            </p:childTnLst>
                          </p:cTn>
                        </p:par>
                        <p:par>
                          <p:cTn id="87" fill="hold">
                            <p:stCondLst>
                              <p:cond delay="1501"/>
                            </p:stCondLst>
                            <p:childTnLst>
                              <p:par>
                                <p:cTn id="88" presetID="2" presetClass="entr" presetSubtype="8" fill="hold" nodeType="afterEffect">
                                  <p:stCondLst>
                                    <p:cond delay="0"/>
                                  </p:stCondLst>
                                  <p:childTnLst>
                                    <p:set>
                                      <p:cBhvr>
                                        <p:cTn id="89" dur="1" fill="hold">
                                          <p:stCondLst>
                                            <p:cond delay="0"/>
                                          </p:stCondLst>
                                        </p:cTn>
                                        <p:tgtEl>
                                          <p:spTgt spid="431"/>
                                        </p:tgtEl>
                                        <p:attrNameLst>
                                          <p:attrName>style.visibility</p:attrName>
                                        </p:attrNameLst>
                                      </p:cBhvr>
                                      <p:to>
                                        <p:strVal val="visible"/>
                                      </p:to>
                                    </p:set>
                                    <p:anim calcmode="lin" valueType="num">
                                      <p:cBhvr additive="base">
                                        <p:cTn id="90" dur="500"/>
                                        <p:tgtEl>
                                          <p:spTgt spid="431"/>
                                        </p:tgtEl>
                                        <p:attrNameLst>
                                          <p:attrName>ppt_x</p:attrName>
                                        </p:attrNameLst>
                                      </p:cBhvr>
                                      <p:tavLst>
                                        <p:tav tm="0">
                                          <p:val>
                                            <p:strVal val="#ppt_x-1"/>
                                          </p:val>
                                        </p:tav>
                                        <p:tav tm="100000">
                                          <p:val>
                                            <p:strVal val="#ppt_x"/>
                                          </p:val>
                                        </p:tav>
                                      </p:tavLst>
                                    </p:anim>
                                  </p:childTnLst>
                                </p:cTn>
                              </p:par>
                            </p:childTnLst>
                          </p:cTn>
                        </p:par>
                        <p:par>
                          <p:cTn id="91" fill="hold">
                            <p:stCondLst>
                              <p:cond delay="2001"/>
                            </p:stCondLst>
                            <p:childTnLst>
                              <p:par>
                                <p:cTn id="92" presetID="1" presetClass="entr" presetSubtype="0" fill="hold" nodeType="afterEffect">
                                  <p:stCondLst>
                                    <p:cond delay="0"/>
                                  </p:stCondLst>
                                  <p:childTnLst>
                                    <p:set>
                                      <p:cBhvr>
                                        <p:cTn id="93" dur="1" fill="hold">
                                          <p:stCondLst>
                                            <p:cond delay="0"/>
                                          </p:stCondLst>
                                        </p:cTn>
                                        <p:tgtEl>
                                          <p:spTgt spid="432"/>
                                        </p:tgtEl>
                                        <p:attrNameLst>
                                          <p:attrName>style.visibility</p:attrName>
                                        </p:attrNameLst>
                                      </p:cBhvr>
                                      <p:to>
                                        <p:strVal val="visible"/>
                                      </p:to>
                                    </p:set>
                                  </p:childTnLst>
                                </p:cTn>
                              </p:par>
                            </p:childTnLst>
                          </p:cTn>
                        </p:par>
                        <p:par>
                          <p:cTn id="94" fill="hold">
                            <p:stCondLst>
                              <p:cond delay="2002"/>
                            </p:stCondLst>
                            <p:childTnLst>
                              <p:par>
                                <p:cTn id="95" presetID="1" presetClass="entr" presetSubtype="0" fill="hold" nodeType="afterEffect">
                                  <p:stCondLst>
                                    <p:cond delay="0"/>
                                  </p:stCondLst>
                                  <p:childTnLst>
                                    <p:set>
                                      <p:cBhvr>
                                        <p:cTn id="96" dur="1" fill="hold">
                                          <p:stCondLst>
                                            <p:cond delay="0"/>
                                          </p:stCondLst>
                                        </p:cTn>
                                        <p:tgtEl>
                                          <p:spTgt spid="4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4400"/>
              <a:buFont typeface="Calibri"/>
              <a:buNone/>
            </a:pPr>
            <a:r>
              <a:rPr lang="en-US"/>
              <a:t>Brief history of NLP</a:t>
            </a:r>
            <a:endParaRPr/>
          </a:p>
        </p:txBody>
      </p:sp>
      <p:pic>
        <p:nvPicPr>
          <p:cNvPr id="449" name="Google Shape;449;p17"/>
          <p:cNvPicPr preferRelativeResize="0"/>
          <p:nvPr/>
        </p:nvPicPr>
        <p:blipFill rotWithShape="1">
          <a:blip r:embed="rId3">
            <a:alphaModFix/>
          </a:blip>
          <a:srcRect/>
          <a:stretch/>
        </p:blipFill>
        <p:spPr>
          <a:xfrm>
            <a:off x="990600" y="1600200"/>
            <a:ext cx="6794887" cy="3228975"/>
          </a:xfrm>
          <a:prstGeom prst="rect">
            <a:avLst/>
          </a:prstGeom>
          <a:noFill/>
          <a:ln>
            <a:noFill/>
          </a:ln>
        </p:spPr>
      </p:pic>
      <p:sp>
        <p:nvSpPr>
          <p:cNvPr id="450" name="Google Shape;450;p17"/>
          <p:cNvSpPr txBox="1"/>
          <p:nvPr/>
        </p:nvSpPr>
        <p:spPr>
          <a:xfrm>
            <a:off x="1219200" y="4829175"/>
            <a:ext cx="6705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ahoma"/>
                <a:ea typeface="Tahoma"/>
                <a:cs typeface="Tahoma"/>
                <a:sym typeface="Tahoma"/>
              </a:rPr>
              <a:t>2020 – Conversational Agents</a:t>
            </a:r>
            <a:endParaRPr sz="2400" b="1" i="0" u="none" strike="noStrike" cap="none">
              <a:solidFill>
                <a:schemeClr val="dk1"/>
              </a:solidFill>
              <a:latin typeface="Tahoma"/>
              <a:ea typeface="Tahoma"/>
              <a:cs typeface="Tahoma"/>
              <a:sym typeface="Tahoma"/>
            </a:endParaRPr>
          </a:p>
        </p:txBody>
      </p:sp>
    </p:spTree>
    <p:extLst>
      <p:ext uri="{BB962C8B-B14F-4D97-AF65-F5344CB8AC3E}">
        <p14:creationId xmlns:p14="http://schemas.microsoft.com/office/powerpoint/2010/main" val="191797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1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2400"/>
              <a:buFont typeface="Arial"/>
              <a:buChar char="•"/>
            </a:pPr>
            <a:r>
              <a:rPr lang="en-US" dirty="0"/>
              <a:t>The Study of Language.</a:t>
            </a:r>
            <a:endParaRPr dirty="0"/>
          </a:p>
          <a:p>
            <a:pPr marL="342900" lvl="0" indent="-342900" algn="l" rtl="0">
              <a:lnSpc>
                <a:spcPct val="100000"/>
              </a:lnSpc>
              <a:spcBef>
                <a:spcPts val="480"/>
              </a:spcBef>
              <a:spcAft>
                <a:spcPts val="0"/>
              </a:spcAft>
              <a:buSzPts val="2400"/>
              <a:buFont typeface="Arial"/>
              <a:buChar char="•"/>
            </a:pPr>
            <a:r>
              <a:rPr lang="en-US" dirty="0"/>
              <a:t>Applications of Natural Language Understanding.</a:t>
            </a:r>
            <a:endParaRPr dirty="0"/>
          </a:p>
          <a:p>
            <a:pPr marL="342900" lvl="0" indent="-342900" algn="l" rtl="0">
              <a:lnSpc>
                <a:spcPct val="100000"/>
              </a:lnSpc>
              <a:spcBef>
                <a:spcPts val="480"/>
              </a:spcBef>
              <a:spcAft>
                <a:spcPts val="0"/>
              </a:spcAft>
              <a:buSzPts val="2400"/>
              <a:buFont typeface="Arial"/>
              <a:buChar char="•"/>
            </a:pPr>
            <a:r>
              <a:rPr lang="en-US" dirty="0"/>
              <a:t>Evaluating Language Understanding Systems.</a:t>
            </a:r>
            <a:endParaRPr dirty="0"/>
          </a:p>
          <a:p>
            <a:pPr marL="342900" lvl="0" indent="-342900" algn="l" rtl="0">
              <a:lnSpc>
                <a:spcPct val="100000"/>
              </a:lnSpc>
              <a:spcBef>
                <a:spcPts val="480"/>
              </a:spcBef>
              <a:spcAft>
                <a:spcPts val="0"/>
              </a:spcAft>
              <a:buSzPts val="2400"/>
              <a:buFont typeface="Arial"/>
              <a:buChar char="•"/>
            </a:pPr>
            <a:r>
              <a:rPr lang="en-US" dirty="0"/>
              <a:t>The Different Levels of Language Analysis.</a:t>
            </a:r>
            <a:endParaRPr dirty="0"/>
          </a:p>
          <a:p>
            <a:pPr marL="342900" lvl="0" indent="-342900" algn="l" rtl="0">
              <a:lnSpc>
                <a:spcPct val="100000"/>
              </a:lnSpc>
              <a:spcBef>
                <a:spcPts val="480"/>
              </a:spcBef>
              <a:spcAft>
                <a:spcPts val="0"/>
              </a:spcAft>
              <a:buSzPts val="2400"/>
              <a:buFont typeface="Arial"/>
              <a:buChar char="•"/>
            </a:pPr>
            <a:r>
              <a:rPr lang="en-US" dirty="0"/>
              <a:t>Representations and Understanding.</a:t>
            </a:r>
            <a:endParaRPr dirty="0"/>
          </a:p>
          <a:p>
            <a:pPr marL="342900" lvl="0" indent="-342900" algn="l" rtl="0">
              <a:lnSpc>
                <a:spcPct val="100000"/>
              </a:lnSpc>
              <a:spcBef>
                <a:spcPts val="480"/>
              </a:spcBef>
              <a:spcAft>
                <a:spcPts val="0"/>
              </a:spcAft>
              <a:buSzPts val="2400"/>
              <a:buFont typeface="Arial"/>
              <a:buChar char="•"/>
            </a:pPr>
            <a:r>
              <a:rPr lang="en-US" dirty="0"/>
              <a:t>The Organization of Natural Language Processing Systems.</a:t>
            </a:r>
          </a:p>
          <a:p>
            <a:pPr marL="342900" lvl="0" indent="-342900" algn="l" rtl="0">
              <a:lnSpc>
                <a:spcPct val="100000"/>
              </a:lnSpc>
              <a:spcBef>
                <a:spcPts val="480"/>
              </a:spcBef>
              <a:spcAft>
                <a:spcPts val="0"/>
              </a:spcAft>
              <a:buSzPts val="2400"/>
              <a:buFont typeface="Arial"/>
              <a:buChar char="•"/>
            </a:pPr>
            <a:endParaRPr dirty="0"/>
          </a:p>
        </p:txBody>
      </p:sp>
      <p:sp>
        <p:nvSpPr>
          <p:cNvPr id="456" name="Google Shape;456;p1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00000"/>
              </a:lnSpc>
              <a:spcBef>
                <a:spcPts val="0"/>
              </a:spcBef>
              <a:spcAft>
                <a:spcPts val="0"/>
              </a:spcAft>
              <a:buClr>
                <a:schemeClr val="dk1"/>
              </a:buClr>
              <a:buSzPts val="3600"/>
              <a:buNone/>
            </a:pPr>
            <a:r>
              <a:rPr lang="en-US"/>
              <a:t>Introduction to Natural Language Processing</a:t>
            </a:r>
            <a:endParaRPr/>
          </a:p>
        </p:txBody>
      </p:sp>
    </p:spTree>
    <p:extLst>
      <p:ext uri="{BB962C8B-B14F-4D97-AF65-F5344CB8AC3E}">
        <p14:creationId xmlns:p14="http://schemas.microsoft.com/office/powerpoint/2010/main" val="2012656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461"/>
        <p:cNvGrpSpPr/>
        <p:nvPr/>
      </p:nvGrpSpPr>
      <p:grpSpPr>
        <a:xfrm>
          <a:off x="0" y="0"/>
          <a:ext cx="0" cy="0"/>
          <a:chOff x="0" y="0"/>
          <a:chExt cx="0" cy="0"/>
        </a:xfrm>
      </p:grpSpPr>
      <p:sp>
        <p:nvSpPr>
          <p:cNvPr id="462" name="Google Shape;462;p19"/>
          <p:cNvSpPr txBox="1"/>
          <p:nvPr/>
        </p:nvSpPr>
        <p:spPr>
          <a:xfrm>
            <a:off x="211862" y="911107"/>
            <a:ext cx="183342" cy="48891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369"/>
              <a:buFont typeface="Arial"/>
              <a:buNone/>
            </a:pPr>
            <a:endParaRPr sz="1369" b="0" i="0" u="none" strike="noStrike" cap="none">
              <a:solidFill>
                <a:schemeClr val="dk1"/>
              </a:solidFill>
              <a:latin typeface="Tahoma"/>
              <a:ea typeface="Tahoma"/>
              <a:cs typeface="Tahoma"/>
              <a:sym typeface="Tahoma"/>
            </a:endParaRPr>
          </a:p>
        </p:txBody>
      </p:sp>
      <p:graphicFrame>
        <p:nvGraphicFramePr>
          <p:cNvPr id="463" name="Google Shape;463;p19"/>
          <p:cNvGraphicFramePr/>
          <p:nvPr/>
        </p:nvGraphicFramePr>
        <p:xfrm>
          <a:off x="187341" y="1400018"/>
          <a:ext cx="8840475" cy="5044571"/>
        </p:xfrm>
        <a:graphic>
          <a:graphicData uri="http://schemas.openxmlformats.org/drawingml/2006/table">
            <a:tbl>
              <a:tblPr>
                <a:noFill/>
              </a:tblPr>
              <a:tblGrid>
                <a:gridCol w="2287275">
                  <a:extLst>
                    <a:ext uri="{9D8B030D-6E8A-4147-A177-3AD203B41FA5}">
                      <a16:colId xmlns:a16="http://schemas.microsoft.com/office/drawing/2014/main" val="20000"/>
                    </a:ext>
                  </a:extLst>
                </a:gridCol>
                <a:gridCol w="3605850">
                  <a:extLst>
                    <a:ext uri="{9D8B030D-6E8A-4147-A177-3AD203B41FA5}">
                      <a16:colId xmlns:a16="http://schemas.microsoft.com/office/drawing/2014/main" val="20001"/>
                    </a:ext>
                  </a:extLst>
                </a:gridCol>
                <a:gridCol w="2947350">
                  <a:extLst>
                    <a:ext uri="{9D8B030D-6E8A-4147-A177-3AD203B41FA5}">
                      <a16:colId xmlns:a16="http://schemas.microsoft.com/office/drawing/2014/main" val="20002"/>
                    </a:ext>
                  </a:extLst>
                </a:gridCol>
              </a:tblGrid>
              <a:tr h="421500">
                <a:tc>
                  <a:txBody>
                    <a:bodyPr/>
                    <a:lstStyle/>
                    <a:p>
                      <a:pPr marL="0" marR="0" lvl="0" indent="0" algn="l" rtl="0">
                        <a:lnSpc>
                          <a:spcPct val="71000"/>
                        </a:lnSpc>
                        <a:spcBef>
                          <a:spcPts val="0"/>
                        </a:spcBef>
                        <a:spcAft>
                          <a:spcPts val="0"/>
                        </a:spcAft>
                        <a:buClr>
                          <a:srgbClr val="212165"/>
                        </a:buClr>
                        <a:buSzPts val="1125"/>
                        <a:buFont typeface="Arial"/>
                        <a:buNone/>
                      </a:pPr>
                      <a:r>
                        <a:rPr lang="en-US" sz="1500" b="1" i="0" u="none" strike="noStrike" cap="none">
                          <a:solidFill>
                            <a:srgbClr val="212165"/>
                          </a:solidFill>
                          <a:latin typeface="Arial"/>
                          <a:ea typeface="Arial"/>
                          <a:cs typeface="Arial"/>
                          <a:sym typeface="Arial"/>
                        </a:rPr>
                        <a:t>Discipline</a:t>
                      </a:r>
                      <a:endParaRPr sz="1400" u="none" strike="noStrike" cap="none"/>
                    </a:p>
                  </a:txBody>
                  <a:tcPr marL="77000" marR="77000" marT="214850" marB="400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1" i="0" u="none" strike="noStrike" cap="none">
                          <a:solidFill>
                            <a:srgbClr val="212165"/>
                          </a:solidFill>
                          <a:latin typeface="Arial"/>
                          <a:ea typeface="Arial"/>
                          <a:cs typeface="Arial"/>
                          <a:sym typeface="Arial"/>
                        </a:rPr>
                        <a:t>Typical Problems</a:t>
                      </a:r>
                      <a:endParaRPr sz="1400" u="none" strike="noStrike" cap="none"/>
                    </a:p>
                  </a:txBody>
                  <a:tcPr marL="77000" marR="77000" marT="214850" marB="400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1" i="0" u="none" strike="noStrike" cap="none">
                          <a:solidFill>
                            <a:srgbClr val="212165"/>
                          </a:solidFill>
                          <a:latin typeface="Arial"/>
                          <a:ea typeface="Arial"/>
                          <a:cs typeface="Arial"/>
                          <a:sym typeface="Arial"/>
                        </a:rPr>
                        <a:t>Tools</a:t>
                      </a:r>
                      <a:endParaRPr sz="1400" u="none" strike="noStrike" cap="none"/>
                    </a:p>
                  </a:txBody>
                  <a:tcPr marL="77000" marR="77000" marT="214850" marB="400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37975">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Linguists</a:t>
                      </a:r>
                      <a:endParaRPr sz="1400" u="none" strike="noStrike" cap="none"/>
                    </a:p>
                    <a:p>
                      <a:pPr marL="0" marR="0" lvl="0" indent="0" algn="l" rtl="0">
                        <a:lnSpc>
                          <a:spcPct val="71000"/>
                        </a:lnSpc>
                        <a:spcBef>
                          <a:spcPts val="325"/>
                        </a:spcBef>
                        <a:spcAft>
                          <a:spcPts val="0"/>
                        </a:spcAft>
                        <a:buClr>
                          <a:schemeClr val="dk1"/>
                        </a:buClr>
                        <a:buSzPts val="1125"/>
                        <a:buFont typeface="Calibri"/>
                        <a:buNone/>
                      </a:pPr>
                      <a:endParaRPr sz="1500" b="0" i="0" u="none" strike="noStrike" cap="none">
                        <a:solidFill>
                          <a:srgbClr val="212165"/>
                        </a:solidFill>
                        <a:latin typeface="Arial"/>
                        <a:ea typeface="Arial"/>
                        <a:cs typeface="Arial"/>
                        <a:sym typeface="Arial"/>
                      </a:endParaRPr>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How do words form phrases and sentences? What constrains the possible meanings for a sentence?</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Intuitions about well-formedness and meaning; mathematical models of structure and meaning</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7975">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Psycholinguists</a:t>
                      </a:r>
                      <a:endParaRPr sz="1400" u="none" strike="noStrike" cap="none"/>
                    </a:p>
                    <a:p>
                      <a:pPr marL="0" marR="0" lvl="0" indent="0" algn="l" rtl="0">
                        <a:lnSpc>
                          <a:spcPct val="71000"/>
                        </a:lnSpc>
                        <a:spcBef>
                          <a:spcPts val="325"/>
                        </a:spcBef>
                        <a:spcAft>
                          <a:spcPts val="0"/>
                        </a:spcAft>
                        <a:buClr>
                          <a:schemeClr val="dk1"/>
                        </a:buClr>
                        <a:buSzPts val="1125"/>
                        <a:buFont typeface="Calibri"/>
                        <a:buNone/>
                      </a:pPr>
                      <a:endParaRPr sz="1500" b="0" i="0" u="none" strike="noStrike" cap="none">
                        <a:solidFill>
                          <a:srgbClr val="212165"/>
                        </a:solidFill>
                        <a:latin typeface="Arial"/>
                        <a:ea typeface="Arial"/>
                        <a:cs typeface="Arial"/>
                        <a:sym typeface="Arial"/>
                      </a:endParaRPr>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How do people identify the structure of sentences? How are word and text meanings identified? </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Experimental techniques based on measuring human performance; statistical analysis of observations</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296850">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Philosophers</a:t>
                      </a:r>
                      <a:endParaRPr sz="1400" u="none" strike="noStrike" cap="none"/>
                    </a:p>
                    <a:p>
                      <a:pPr marL="0" marR="0" lvl="0" indent="0" algn="l" rtl="0">
                        <a:lnSpc>
                          <a:spcPct val="71000"/>
                        </a:lnSpc>
                        <a:spcBef>
                          <a:spcPts val="325"/>
                        </a:spcBef>
                        <a:spcAft>
                          <a:spcPts val="0"/>
                        </a:spcAft>
                        <a:buClr>
                          <a:schemeClr val="dk1"/>
                        </a:buClr>
                        <a:buSzPts val="1125"/>
                        <a:buFont typeface="Calibri"/>
                        <a:buNone/>
                      </a:pPr>
                      <a:endParaRPr sz="1500" b="0" i="0" u="none" strike="noStrike" cap="none">
                        <a:solidFill>
                          <a:srgbClr val="212165"/>
                        </a:solidFill>
                        <a:latin typeface="Arial"/>
                        <a:ea typeface="Arial"/>
                        <a:cs typeface="Arial"/>
                        <a:sym typeface="Arial"/>
                      </a:endParaRPr>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What is meaning, and how do words and sentences acquire it? How do words identify objects in the world?</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Natural language argumentation using intuition about counter-examples; mathematical models (for example, logic and model theory)</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026475">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Computational Linguists</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How is the structure of sentences identified? How can knowledge and reasoning be modeled? How can language be used to accomplish specific tasks?</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71000"/>
                        </a:lnSpc>
                        <a:spcBef>
                          <a:spcPts val="0"/>
                        </a:spcBef>
                        <a:spcAft>
                          <a:spcPts val="0"/>
                        </a:spcAft>
                        <a:buClr>
                          <a:srgbClr val="212165"/>
                        </a:buClr>
                        <a:buSzPts val="1125"/>
                        <a:buFont typeface="Arial"/>
                        <a:buNone/>
                      </a:pPr>
                      <a:r>
                        <a:rPr lang="en-US" sz="1500" b="0" i="0" u="none" strike="noStrike" cap="none">
                          <a:solidFill>
                            <a:srgbClr val="212165"/>
                          </a:solidFill>
                          <a:latin typeface="Arial"/>
                          <a:ea typeface="Arial"/>
                          <a:cs typeface="Arial"/>
                          <a:sym typeface="Arial"/>
                        </a:rPr>
                        <a:t>Algorithms, data structures; formal models of representation and reasoning; AI techniques (search and representation methods)</a:t>
                      </a:r>
                      <a:endParaRPr sz="1400" u="none" strike="noStrike" cap="none"/>
                    </a:p>
                  </a:txBody>
                  <a:tcPr marL="30800" marR="30800" marT="195750" marB="308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64" name="Google Shape;464;p19"/>
          <p:cNvSpPr txBox="1"/>
          <p:nvPr/>
        </p:nvSpPr>
        <p:spPr>
          <a:xfrm>
            <a:off x="55324" y="533811"/>
            <a:ext cx="8581107" cy="1078321"/>
          </a:xfrm>
          <a:prstGeom prst="rect">
            <a:avLst/>
          </a:prstGeom>
          <a:noFill/>
          <a:ln>
            <a:noFill/>
          </a:ln>
        </p:spPr>
        <p:txBody>
          <a:bodyPr spcFirstLastPara="1" wrap="square" lIns="88375" tIns="43425" rIns="88375" bIns="43425" anchor="t" anchorCtr="0">
            <a:noAutofit/>
          </a:bodyPr>
          <a:lstStyle/>
          <a:p>
            <a:pPr marL="0" marR="0" lvl="0" indent="0" algn="l" rtl="0">
              <a:lnSpc>
                <a:spcPct val="100000"/>
              </a:lnSpc>
              <a:spcBef>
                <a:spcPts val="0"/>
              </a:spcBef>
              <a:spcAft>
                <a:spcPts val="0"/>
              </a:spcAft>
              <a:buClr>
                <a:srgbClr val="996600"/>
              </a:buClr>
              <a:buSzPts val="4400"/>
              <a:buFont typeface="Times New Roman"/>
              <a:buNone/>
            </a:pPr>
            <a:r>
              <a:rPr lang="en-US" sz="4400" b="0" i="0" u="none" strike="noStrike" cap="none">
                <a:solidFill>
                  <a:srgbClr val="996600"/>
                </a:solidFill>
                <a:latin typeface="Times New Roman"/>
                <a:ea typeface="Times New Roman"/>
                <a:cs typeface="Times New Roman"/>
                <a:sym typeface="Times New Roman"/>
              </a:rPr>
              <a:t>The study of language</a:t>
            </a:r>
            <a:endParaRPr sz="4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15978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20"/>
          <p:cNvSpPr txBox="1"/>
          <p:nvPr/>
        </p:nvSpPr>
        <p:spPr>
          <a:xfrm>
            <a:off x="493426" y="3886200"/>
            <a:ext cx="6983284" cy="1976375"/>
          </a:xfrm>
          <a:prstGeom prst="rect">
            <a:avLst/>
          </a:prstGeom>
          <a:noFill/>
          <a:ln>
            <a:noFill/>
          </a:ln>
        </p:spPr>
        <p:txBody>
          <a:bodyPr spcFirstLastPara="1" wrap="square" lIns="76975" tIns="40025" rIns="76975" bIns="40025" anchor="t" anchorCtr="0">
            <a:spAutoFit/>
          </a:bodyPr>
          <a:lstStyle/>
          <a:p>
            <a:pPr marL="0" marR="0" lvl="0" indent="0" algn="l" rtl="0">
              <a:lnSpc>
                <a:spcPct val="100000"/>
              </a:lnSpc>
              <a:spcBef>
                <a:spcPts val="0"/>
              </a:spcBef>
              <a:spcAft>
                <a:spcPts val="0"/>
              </a:spcAft>
              <a:buClr>
                <a:srgbClr val="000000"/>
              </a:buClr>
              <a:buSzPts val="2053"/>
              <a:buFont typeface="Times New Roman"/>
              <a:buNone/>
            </a:pPr>
            <a:r>
              <a:rPr lang="en-US" sz="2053" b="0" i="0" u="none" strike="noStrike" cap="none">
                <a:solidFill>
                  <a:srgbClr val="000000"/>
                </a:solidFill>
                <a:latin typeface="Times New Roman"/>
                <a:ea typeface="Times New Roman"/>
                <a:cs typeface="Times New Roman"/>
                <a:sym typeface="Times New Roman"/>
              </a:rPr>
              <a:t>General speech and language understanding and generation capabilities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53"/>
              <a:buFont typeface="Times New Roman"/>
              <a:buNone/>
            </a:pPr>
            <a:r>
              <a:rPr lang="en-US" sz="2053" b="0" i="0" u="none" strike="noStrike" cap="none">
                <a:solidFill>
                  <a:srgbClr val="000000"/>
                </a:solidFill>
                <a:latin typeface="Times New Roman"/>
                <a:ea typeface="Times New Roman"/>
                <a:cs typeface="Times New Roman"/>
                <a:sym typeface="Times New Roman"/>
              </a:rPr>
              <a:t>Politeness:		emotional intelligence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53"/>
              <a:buFont typeface="Times New Roman"/>
              <a:buNone/>
            </a:pPr>
            <a:r>
              <a:rPr lang="en-US" sz="2053" b="0" i="0" u="none" strike="noStrike" cap="none">
                <a:solidFill>
                  <a:srgbClr val="000000"/>
                </a:solidFill>
                <a:latin typeface="Times New Roman"/>
                <a:ea typeface="Times New Roman"/>
                <a:cs typeface="Times New Roman"/>
                <a:sym typeface="Times New Roman"/>
              </a:rPr>
              <a:t>Self-awareness:	a model of self, including goals and plans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53"/>
              <a:buFont typeface="Times New Roman"/>
              <a:buNone/>
            </a:pPr>
            <a:r>
              <a:rPr lang="en-US" sz="2053" b="0" i="0" u="none" strike="noStrike" cap="none">
                <a:solidFill>
                  <a:srgbClr val="000000"/>
                </a:solidFill>
                <a:latin typeface="Times New Roman"/>
                <a:ea typeface="Times New Roman"/>
                <a:cs typeface="Times New Roman"/>
                <a:sym typeface="Times New Roman"/>
              </a:rPr>
              <a:t>Belief ascription: 	modeling others; reasoning about their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53"/>
              <a:buFont typeface="Times New Roman"/>
              <a:buNone/>
            </a:pPr>
            <a:r>
              <a:rPr lang="en-US" sz="2053" b="0" i="0" u="none" strike="noStrike" cap="none">
                <a:solidFill>
                  <a:srgbClr val="000000"/>
                </a:solidFill>
                <a:latin typeface="Times New Roman"/>
                <a:ea typeface="Times New Roman"/>
                <a:cs typeface="Times New Roman"/>
                <a:sym typeface="Times New Roman"/>
              </a:rPr>
              <a:t>			goals and plans</a:t>
            </a:r>
            <a:endParaRPr sz="1400" b="0" i="0" u="none" strike="noStrike" cap="none">
              <a:solidFill>
                <a:srgbClr val="000000"/>
              </a:solidFill>
              <a:latin typeface="Arial"/>
              <a:ea typeface="Arial"/>
              <a:cs typeface="Arial"/>
              <a:sym typeface="Arial"/>
            </a:endParaRPr>
          </a:p>
        </p:txBody>
      </p:sp>
      <p:sp>
        <p:nvSpPr>
          <p:cNvPr id="471" name="Google Shape;471;p20"/>
          <p:cNvSpPr txBox="1"/>
          <p:nvPr/>
        </p:nvSpPr>
        <p:spPr>
          <a:xfrm>
            <a:off x="493426" y="1459539"/>
            <a:ext cx="7617471" cy="2292295"/>
          </a:xfrm>
          <a:prstGeom prst="rect">
            <a:avLst/>
          </a:prstGeom>
          <a:noFill/>
          <a:ln>
            <a:noFill/>
          </a:ln>
        </p:spPr>
        <p:txBody>
          <a:bodyPr spcFirstLastPara="1" wrap="square" lIns="76975" tIns="40025" rIns="76975" bIns="40025" anchor="t" anchorCtr="0">
            <a:spAutoFit/>
          </a:bodyPr>
          <a:lstStyle/>
          <a:p>
            <a:pPr marL="0" marR="0" lvl="0" indent="0" algn="l" rtl="0">
              <a:lnSpc>
                <a:spcPct val="100000"/>
              </a:lnSpc>
              <a:spcBef>
                <a:spcPts val="0"/>
              </a:spcBef>
              <a:spcAft>
                <a:spcPts val="0"/>
              </a:spcAft>
              <a:buClr>
                <a:srgbClr val="003366"/>
              </a:buClr>
              <a:buSzPts val="2053"/>
              <a:buFont typeface="Arial"/>
              <a:buNone/>
            </a:pPr>
            <a:r>
              <a:rPr lang="en-US" sz="2053" b="0" i="0" u="none" strike="noStrike" cap="none">
                <a:solidFill>
                  <a:srgbClr val="003366"/>
                </a:solidFill>
                <a:latin typeface="Arial"/>
                <a:ea typeface="Arial"/>
                <a:cs typeface="Arial"/>
                <a:sym typeface="Arial"/>
              </a:rPr>
              <a:t>Dave:	Open the pod bay doors, HAL.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666"/>
              </a:buClr>
              <a:buSzPts val="2053"/>
              <a:buFont typeface="Arial"/>
              <a:buNone/>
            </a:pPr>
            <a:r>
              <a:rPr lang="en-US" sz="2053" b="0" i="0" u="none" strike="noStrike" cap="none">
                <a:solidFill>
                  <a:srgbClr val="006666"/>
                </a:solidFill>
                <a:latin typeface="Arial"/>
                <a:ea typeface="Arial"/>
                <a:cs typeface="Arial"/>
                <a:sym typeface="Arial"/>
              </a:rPr>
              <a:t>HAL:	I am sorry, Dave.  I am afraid I can’t do that.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53"/>
              <a:buFont typeface="Arial"/>
              <a:buNone/>
            </a:pPr>
            <a:r>
              <a:rPr lang="en-US" sz="2053" b="0" i="0" u="none" strike="noStrike" cap="none">
                <a:solidFill>
                  <a:srgbClr val="003366"/>
                </a:solidFill>
                <a:latin typeface="Arial"/>
                <a:ea typeface="Arial"/>
                <a:cs typeface="Arial"/>
                <a:sym typeface="Arial"/>
              </a:rPr>
              <a:t>Dave:	What’s the problem.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666"/>
              </a:buClr>
              <a:buSzPts val="2053"/>
              <a:buFont typeface="Arial"/>
              <a:buNone/>
            </a:pPr>
            <a:r>
              <a:rPr lang="en-US" sz="2053" b="0" i="0" u="none" strike="noStrike" cap="none">
                <a:solidFill>
                  <a:srgbClr val="006666"/>
                </a:solidFill>
                <a:latin typeface="Arial"/>
                <a:ea typeface="Arial"/>
                <a:cs typeface="Arial"/>
                <a:sym typeface="Arial"/>
              </a:rPr>
              <a:t>HAL:	I think you know what the problem is just as well as I 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53"/>
              <a:buFont typeface="Arial"/>
              <a:buNone/>
            </a:pPr>
            <a:r>
              <a:rPr lang="en-US" sz="2053" b="0" i="0" u="none" strike="noStrike" cap="none">
                <a:solidFill>
                  <a:srgbClr val="003366"/>
                </a:solidFill>
                <a:latin typeface="Arial"/>
                <a:ea typeface="Arial"/>
                <a:cs typeface="Arial"/>
                <a:sym typeface="Arial"/>
              </a:rPr>
              <a:t>Dave:	I don’t know what you’re talking about.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666"/>
              </a:buClr>
              <a:buSzPts val="2053"/>
              <a:buFont typeface="Arial"/>
              <a:buNone/>
            </a:pPr>
            <a:r>
              <a:rPr lang="en-US" sz="2053" b="0" i="0" u="none" strike="noStrike" cap="none">
                <a:solidFill>
                  <a:srgbClr val="006666"/>
                </a:solidFill>
                <a:latin typeface="Arial"/>
                <a:ea typeface="Arial"/>
                <a:cs typeface="Arial"/>
                <a:sym typeface="Arial"/>
              </a:rPr>
              <a:t>HAL:	I know that you and Frank were planning to disconnect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666"/>
              </a:buClr>
              <a:buSzPts val="2053"/>
              <a:buFont typeface="Arial"/>
              <a:buNone/>
            </a:pPr>
            <a:r>
              <a:rPr lang="en-US" sz="2053" b="0" i="0" u="none" strike="noStrike" cap="none">
                <a:solidFill>
                  <a:srgbClr val="006666"/>
                </a:solidFill>
                <a:latin typeface="Arial"/>
                <a:ea typeface="Arial"/>
                <a:cs typeface="Arial"/>
                <a:sym typeface="Arial"/>
              </a:rPr>
              <a:t>me, and I’m afraid that’s something I cannot allow to happen.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30276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animEffect transition="in" filter="fade">
                                      <p:cBhvr>
                                        <p:cTn id="7" dur="1"/>
                                        <p:tgtEl>
                                          <p:spTgt spid="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21"/>
          <p:cNvSpPr txBox="1"/>
          <p:nvPr/>
        </p:nvSpPr>
        <p:spPr>
          <a:xfrm>
            <a:off x="685800" y="4572000"/>
            <a:ext cx="7481536" cy="1004186"/>
          </a:xfrm>
          <a:prstGeom prst="rect">
            <a:avLst/>
          </a:prstGeom>
          <a:noFill/>
          <a:ln>
            <a:noFill/>
          </a:ln>
        </p:spPr>
        <p:txBody>
          <a:bodyPr spcFirstLastPara="1" wrap="square" lIns="76975" tIns="40025" rIns="76975" bIns="40025" anchor="t" anchorCtr="0">
            <a:spAutoFit/>
          </a:bodyPr>
          <a:lstStyle/>
          <a:p>
            <a:pPr marL="0" marR="0" lvl="0" indent="0" algn="l" rtl="0">
              <a:lnSpc>
                <a:spcPct val="100000"/>
              </a:lnSpc>
              <a:spcBef>
                <a:spcPts val="0"/>
              </a:spcBef>
              <a:spcAft>
                <a:spcPts val="0"/>
              </a:spcAft>
              <a:buClr>
                <a:srgbClr val="000000"/>
              </a:buClr>
              <a:buSzPts val="2000"/>
              <a:buFont typeface="Times New Roman"/>
              <a:buNone/>
            </a:pPr>
            <a:r>
              <a:rPr lang="en-US" sz="2000" b="1" i="0" u="none" strike="noStrike" cap="none" dirty="0">
                <a:solidFill>
                  <a:srgbClr val="000000"/>
                </a:solidFill>
                <a:latin typeface="Times New Roman"/>
                <a:ea typeface="Times New Roman"/>
                <a:cs typeface="Times New Roman"/>
                <a:sym typeface="Times New Roman"/>
              </a:rPr>
              <a:t>Recognition of emotion from speech</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Times New Roman"/>
              <a:buNone/>
            </a:pPr>
            <a:r>
              <a:rPr lang="en-US" sz="2000" b="1" i="0" u="none" strike="noStrike" cap="none" dirty="0">
                <a:solidFill>
                  <a:srgbClr val="000000"/>
                </a:solidFill>
                <a:latin typeface="Times New Roman"/>
                <a:ea typeface="Times New Roman"/>
                <a:cs typeface="Times New Roman"/>
                <a:sym typeface="Times New Roman"/>
              </a:rPr>
              <a:t>Vision capability including visual recognition of emotions and faces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Times New Roman"/>
              <a:buNone/>
            </a:pPr>
            <a:r>
              <a:rPr lang="en-US" sz="2000" b="1" i="0" u="none" strike="noStrike" cap="none" dirty="0">
                <a:solidFill>
                  <a:srgbClr val="000000"/>
                </a:solidFill>
                <a:latin typeface="Times New Roman"/>
                <a:ea typeface="Times New Roman"/>
                <a:cs typeface="Times New Roman"/>
                <a:sym typeface="Times New Roman"/>
              </a:rPr>
              <a:t>Also: situational ambiguity</a:t>
            </a:r>
            <a:endParaRPr sz="1400" b="0" i="0" u="none" strike="noStrike" cap="none" dirty="0">
              <a:solidFill>
                <a:srgbClr val="000000"/>
              </a:solidFill>
              <a:latin typeface="Arial"/>
              <a:ea typeface="Arial"/>
              <a:cs typeface="Arial"/>
              <a:sym typeface="Arial"/>
            </a:endParaRPr>
          </a:p>
        </p:txBody>
      </p:sp>
      <p:sp>
        <p:nvSpPr>
          <p:cNvPr id="478" name="Google Shape;478;p21"/>
          <p:cNvSpPr txBox="1"/>
          <p:nvPr/>
        </p:nvSpPr>
        <p:spPr>
          <a:xfrm>
            <a:off x="685800" y="1524000"/>
            <a:ext cx="7652737" cy="2543068"/>
          </a:xfrm>
          <a:prstGeom prst="rect">
            <a:avLst/>
          </a:prstGeom>
          <a:noFill/>
          <a:ln>
            <a:noFill/>
          </a:ln>
        </p:spPr>
        <p:txBody>
          <a:bodyPr spcFirstLastPara="1" wrap="square" lIns="76975" tIns="40025" rIns="76975" bIns="40025" anchor="t" anchorCtr="0">
            <a:spAutoFit/>
          </a:bodyPr>
          <a:lstStyle/>
          <a:p>
            <a:pPr marL="0" marR="0" lvl="0" indent="0" algn="l" rtl="0">
              <a:lnSpc>
                <a:spcPct val="100000"/>
              </a:lnSpc>
              <a:spcBef>
                <a:spcPts val="0"/>
              </a:spcBef>
              <a:spcAft>
                <a:spcPts val="0"/>
              </a:spcAft>
              <a:buClr>
                <a:srgbClr val="003366"/>
              </a:buClr>
              <a:buSzPts val="2000"/>
              <a:buFont typeface="Arial"/>
              <a:buNone/>
            </a:pPr>
            <a:r>
              <a:rPr lang="en-US" sz="2000" b="0" i="0" u="none" strike="noStrike" cap="none">
                <a:solidFill>
                  <a:srgbClr val="003366"/>
                </a:solidFill>
                <a:latin typeface="Arial"/>
                <a:ea typeface="Arial"/>
                <a:cs typeface="Arial"/>
                <a:sym typeface="Arial"/>
              </a:rPr>
              <a:t>Hal:  I can tell from the </a:t>
            </a:r>
            <a:r>
              <a:rPr lang="en-US" sz="2000" b="0" i="0" u="none" strike="noStrike" cap="none">
                <a:solidFill>
                  <a:srgbClr val="006666"/>
                </a:solidFill>
                <a:latin typeface="Arial"/>
                <a:ea typeface="Arial"/>
                <a:cs typeface="Arial"/>
                <a:sym typeface="Arial"/>
              </a:rPr>
              <a:t>tone of your voice</a:t>
            </a:r>
            <a:r>
              <a:rPr lang="en-US" sz="2000" b="0" i="0" u="none" strike="noStrike" cap="none">
                <a:solidFill>
                  <a:srgbClr val="003366"/>
                </a:solidFill>
                <a:latin typeface="Arial"/>
                <a:ea typeface="Arial"/>
                <a:cs typeface="Arial"/>
                <a:sym typeface="Arial"/>
              </a:rPr>
              <a:t>, Dave, that you’re upset.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00"/>
              <a:buFont typeface="Arial"/>
              <a:buNone/>
            </a:pPr>
            <a:r>
              <a:rPr lang="en-US" sz="2000" b="0" i="0" u="none" strike="noStrike" cap="none">
                <a:solidFill>
                  <a:srgbClr val="003366"/>
                </a:solidFill>
                <a:latin typeface="Arial"/>
                <a:ea typeface="Arial"/>
                <a:cs typeface="Arial"/>
                <a:sym typeface="Arial"/>
              </a:rPr>
              <a:t>	Why don’t you take a stress pill and get some rest.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Times New Roman"/>
              <a:buNone/>
            </a:pPr>
            <a:endParaRPr sz="2000" b="0" i="0" u="none" strike="noStrike" cap="none">
              <a:solidFill>
                <a:srgbClr val="003366"/>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00"/>
              <a:buFont typeface="Arial"/>
              <a:buNone/>
            </a:pPr>
            <a:r>
              <a:rPr lang="en-US" sz="2000" b="0" i="0" u="none" strike="noStrike" cap="none">
                <a:solidFill>
                  <a:srgbClr val="003366"/>
                </a:solidFill>
                <a:latin typeface="Arial"/>
                <a:ea typeface="Arial"/>
                <a:cs typeface="Arial"/>
                <a:sym typeface="Arial"/>
              </a:rPr>
              <a:t>[Dave has just drawn another sketch of Dr. Hunter].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00"/>
              <a:buFont typeface="Arial"/>
              <a:buNone/>
            </a:pPr>
            <a:r>
              <a:rPr lang="en-US" sz="2000" b="0" i="0" u="none" strike="noStrike" cap="none">
                <a:solidFill>
                  <a:srgbClr val="003366"/>
                </a:solidFill>
                <a:latin typeface="Arial"/>
                <a:ea typeface="Arial"/>
                <a:cs typeface="Arial"/>
                <a:sym typeface="Arial"/>
              </a:rPr>
              <a:t>HAL:  Can you hold it a bit </a:t>
            </a:r>
            <a:r>
              <a:rPr lang="en-US" sz="2000" b="0" i="0" u="none" strike="noStrike" cap="none">
                <a:solidFill>
                  <a:srgbClr val="006666"/>
                </a:solidFill>
                <a:latin typeface="Arial"/>
                <a:ea typeface="Arial"/>
                <a:cs typeface="Arial"/>
                <a:sym typeface="Arial"/>
              </a:rPr>
              <a:t>closer</a:t>
            </a:r>
            <a:r>
              <a:rPr lang="en-US" sz="2000" b="0" i="0" u="none" strike="noStrike" cap="none">
                <a:solidFill>
                  <a:srgbClr val="003366"/>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00"/>
              <a:buFont typeface="Arial"/>
              <a:buNone/>
            </a:pPr>
            <a:r>
              <a:rPr lang="en-US" sz="2000" b="0" i="0" u="none" strike="noStrike" cap="none">
                <a:solidFill>
                  <a:srgbClr val="003366"/>
                </a:solidFill>
                <a:latin typeface="Arial"/>
                <a:ea typeface="Arial"/>
                <a:cs typeface="Arial"/>
                <a:sym typeface="Arial"/>
              </a:rPr>
              <a:t>[Dave does so].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00"/>
              <a:buFont typeface="Arial"/>
              <a:buNone/>
            </a:pPr>
            <a:r>
              <a:rPr lang="en-US" sz="2000" b="0" i="0" u="none" strike="noStrike" cap="none">
                <a:solidFill>
                  <a:srgbClr val="003366"/>
                </a:solidFill>
                <a:latin typeface="Arial"/>
                <a:ea typeface="Arial"/>
                <a:cs typeface="Arial"/>
                <a:sym typeface="Arial"/>
              </a:rPr>
              <a:t>HAL:  That’s </a:t>
            </a:r>
            <a:r>
              <a:rPr lang="en-US" sz="2000" b="0" i="0" u="none" strike="noStrike" cap="none">
                <a:solidFill>
                  <a:srgbClr val="006666"/>
                </a:solidFill>
                <a:latin typeface="Arial"/>
                <a:ea typeface="Arial"/>
                <a:cs typeface="Arial"/>
                <a:sym typeface="Arial"/>
              </a:rPr>
              <a:t>Dr. Hunter</a:t>
            </a:r>
            <a:r>
              <a:rPr lang="en-US" sz="2000" b="0" i="0" u="none" strike="noStrike" cap="none">
                <a:solidFill>
                  <a:srgbClr val="003366"/>
                </a:solidFill>
                <a:latin typeface="Arial"/>
                <a:ea typeface="Arial"/>
                <a:cs typeface="Arial"/>
                <a:sym typeface="Arial"/>
              </a:rPr>
              <a:t>, isn’t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3366"/>
              </a:buClr>
              <a:buSzPts val="2000"/>
              <a:buFont typeface="Arial"/>
              <a:buNone/>
            </a:pPr>
            <a:r>
              <a:rPr lang="en-US" sz="2000" b="0" i="0" u="none" strike="noStrike" cap="none">
                <a:solidFill>
                  <a:srgbClr val="003366"/>
                </a:solidFill>
                <a:latin typeface="Arial"/>
                <a:ea typeface="Arial"/>
                <a:cs typeface="Arial"/>
                <a:sym typeface="Arial"/>
              </a:rPr>
              <a:t>Dave:  Yes.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16004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7"/>
                                        </p:tgtEl>
                                        <p:attrNameLst>
                                          <p:attrName>style.visibility</p:attrName>
                                        </p:attrNameLst>
                                      </p:cBhvr>
                                      <p:to>
                                        <p:strVal val="visible"/>
                                      </p:to>
                                    </p:set>
                                    <p:animEffect transition="in" filter="fade">
                                      <p:cBhvr>
                                        <p:cTn id="7" dur="1"/>
                                        <p:tgtEl>
                                          <p:spTgt spid="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22"/>
          <p:cNvSpPr txBox="1"/>
          <p:nvPr/>
        </p:nvSpPr>
        <p:spPr>
          <a:xfrm>
            <a:off x="685800" y="1981200"/>
            <a:ext cx="6702156" cy="3082383"/>
          </a:xfrm>
          <a:prstGeom prst="rect">
            <a:avLst/>
          </a:prstGeom>
          <a:noFill/>
          <a:ln>
            <a:noFill/>
          </a:ln>
        </p:spPr>
        <p:txBody>
          <a:bodyPr spcFirstLastPara="1" wrap="square" lIns="76975" tIns="40025" rIns="76975" bIns="40025" anchor="t" anchorCtr="0">
            <a:spAutoFit/>
          </a:bodyPr>
          <a:lstStyle/>
          <a:p>
            <a:pPr marL="0" marR="0" lvl="0" indent="0" algn="l" rtl="0">
              <a:lnSpc>
                <a:spcPct val="100000"/>
              </a:lnSpc>
              <a:spcBef>
                <a:spcPts val="0"/>
              </a:spcBef>
              <a:spcAft>
                <a:spcPts val="0"/>
              </a:spcAft>
              <a:buClr>
                <a:srgbClr val="000000"/>
              </a:buClr>
              <a:buSzPts val="2310"/>
              <a:buFont typeface="Times New Roman"/>
              <a:buNone/>
            </a:pPr>
            <a:r>
              <a:rPr lang="en-US" sz="2310" b="0" i="0" u="none" strike="noStrike" cap="none">
                <a:solidFill>
                  <a:srgbClr val="000000"/>
                </a:solidFill>
                <a:latin typeface="Times New Roman"/>
                <a:ea typeface="Times New Roman"/>
                <a:cs typeface="Times New Roman"/>
                <a:sym typeface="Times New Roman"/>
              </a:rPr>
              <a:t>To attain the levels of performance we attribute to</a:t>
            </a:r>
            <a:br>
              <a:rPr lang="en-US" sz="2310" b="0" i="0" u="none" strike="noStrike" cap="none">
                <a:solidFill>
                  <a:srgbClr val="000000"/>
                </a:solidFill>
                <a:latin typeface="Times New Roman"/>
                <a:ea typeface="Times New Roman"/>
                <a:cs typeface="Times New Roman"/>
                <a:sym typeface="Times New Roman"/>
              </a:rPr>
            </a:br>
            <a:r>
              <a:rPr lang="en-US" sz="2310" b="0" i="0" u="none" strike="noStrike" cap="none">
                <a:solidFill>
                  <a:srgbClr val="000000"/>
                </a:solidFill>
                <a:latin typeface="Times New Roman"/>
                <a:ea typeface="Times New Roman"/>
                <a:cs typeface="Times New Roman"/>
                <a:sym typeface="Times New Roman"/>
              </a:rPr>
              <a:t>HAL, we need to be able to define, model, acquire and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10"/>
              <a:buFont typeface="Times New Roman"/>
              <a:buNone/>
            </a:pPr>
            <a:r>
              <a:rPr lang="en-US" sz="2310" b="0" i="0" u="none" strike="noStrike" cap="none">
                <a:solidFill>
                  <a:srgbClr val="000000"/>
                </a:solidFill>
                <a:latin typeface="Times New Roman"/>
                <a:ea typeface="Times New Roman"/>
                <a:cs typeface="Times New Roman"/>
                <a:sym typeface="Times New Roman"/>
              </a:rPr>
              <a:t>manipulate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310"/>
              <a:buFont typeface="Times New Roman"/>
              <a:buNone/>
            </a:pPr>
            <a:endParaRPr sz="2310" b="0" i="0" u="none" strike="noStrike" cap="none">
              <a:solidFill>
                <a:srgbClr val="000000"/>
              </a:solidFill>
              <a:latin typeface="Times New Roman"/>
              <a:ea typeface="Times New Roman"/>
              <a:cs typeface="Times New Roman"/>
              <a:sym typeface="Times New Roman"/>
            </a:endParaRPr>
          </a:p>
          <a:p>
            <a:pPr marL="457200" marR="0" lvl="1" indent="-130365" algn="l" rtl="0">
              <a:lnSpc>
                <a:spcPct val="100000"/>
              </a:lnSpc>
              <a:spcBef>
                <a:spcPts val="0"/>
              </a:spcBef>
              <a:spcAft>
                <a:spcPts val="0"/>
              </a:spcAft>
              <a:buClr>
                <a:srgbClr val="000000"/>
              </a:buClr>
              <a:buSzPts val="2053"/>
              <a:buFont typeface="Comic Sans MS"/>
              <a:buChar char="•"/>
            </a:pPr>
            <a:r>
              <a:rPr lang="en-US" sz="2053" b="0" i="0" u="none" strike="noStrike" cap="none">
                <a:solidFill>
                  <a:srgbClr val="000000"/>
                </a:solidFill>
                <a:latin typeface="Comic Sans MS"/>
                <a:ea typeface="Comic Sans MS"/>
                <a:cs typeface="Comic Sans MS"/>
                <a:sym typeface="Comic Sans MS"/>
              </a:rPr>
              <a:t> Knowledge of the world and of agents in it, </a:t>
            </a:r>
            <a:endParaRPr sz="1400" b="0" i="0" u="none" strike="noStrike" cap="none">
              <a:solidFill>
                <a:srgbClr val="000000"/>
              </a:solidFill>
              <a:latin typeface="Arial"/>
              <a:ea typeface="Arial"/>
              <a:cs typeface="Arial"/>
              <a:sym typeface="Arial"/>
            </a:endParaRPr>
          </a:p>
          <a:p>
            <a:pPr marL="457200" marR="0" lvl="1" indent="-130365" algn="l" rtl="0">
              <a:lnSpc>
                <a:spcPct val="100000"/>
              </a:lnSpc>
              <a:spcBef>
                <a:spcPts val="0"/>
              </a:spcBef>
              <a:spcAft>
                <a:spcPts val="0"/>
              </a:spcAft>
              <a:buClr>
                <a:srgbClr val="000000"/>
              </a:buClr>
              <a:buSzPts val="2053"/>
              <a:buFont typeface="Comic Sans MS"/>
              <a:buChar char="•"/>
            </a:pPr>
            <a:r>
              <a:rPr lang="en-US" sz="2053" b="0" i="0" u="none" strike="noStrike" cap="none">
                <a:solidFill>
                  <a:srgbClr val="000000"/>
                </a:solidFill>
                <a:latin typeface="Comic Sans MS"/>
                <a:ea typeface="Comic Sans MS"/>
                <a:cs typeface="Comic Sans MS"/>
                <a:sym typeface="Comic Sans MS"/>
              </a:rPr>
              <a:t> Text meaning, </a:t>
            </a:r>
            <a:endParaRPr sz="1400" b="0" i="0" u="none" strike="noStrike" cap="none">
              <a:solidFill>
                <a:srgbClr val="000000"/>
              </a:solidFill>
              <a:latin typeface="Arial"/>
              <a:ea typeface="Arial"/>
              <a:cs typeface="Arial"/>
              <a:sym typeface="Arial"/>
            </a:endParaRPr>
          </a:p>
          <a:p>
            <a:pPr marL="457200" marR="0" lvl="1" indent="-130365" algn="l" rtl="0">
              <a:lnSpc>
                <a:spcPct val="100000"/>
              </a:lnSpc>
              <a:spcBef>
                <a:spcPts val="0"/>
              </a:spcBef>
              <a:spcAft>
                <a:spcPts val="0"/>
              </a:spcAft>
              <a:buClr>
                <a:srgbClr val="000000"/>
              </a:buClr>
              <a:buSzPts val="2053"/>
              <a:buFont typeface="Comic Sans MS"/>
              <a:buChar char="•"/>
            </a:pPr>
            <a:r>
              <a:rPr lang="en-US" sz="2053" b="0" i="0" u="none" strike="noStrike" cap="none">
                <a:solidFill>
                  <a:srgbClr val="000000"/>
                </a:solidFill>
                <a:latin typeface="Comic Sans MS"/>
                <a:ea typeface="Comic Sans MS"/>
                <a:cs typeface="Comic Sans MS"/>
                <a:sym typeface="Comic Sans MS"/>
              </a:rPr>
              <a:t> Intention</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053"/>
              <a:buFont typeface="Arial"/>
              <a:buNone/>
            </a:pPr>
            <a:endParaRPr sz="2053" b="0" i="0" u="none" strike="noStrike" cap="none">
              <a:solidFill>
                <a:srgbClr val="000000"/>
              </a:solidFill>
              <a:latin typeface="Comic Sans MS"/>
              <a:ea typeface="Comic Sans MS"/>
              <a:cs typeface="Comic Sans MS"/>
              <a:sym typeface="Comic Sans MS"/>
            </a:endParaRPr>
          </a:p>
          <a:p>
            <a:pPr marL="0" marR="0" lvl="0" indent="0" algn="l" rtl="0">
              <a:lnSpc>
                <a:spcPct val="100000"/>
              </a:lnSpc>
              <a:spcBef>
                <a:spcPts val="0"/>
              </a:spcBef>
              <a:spcAft>
                <a:spcPts val="0"/>
              </a:spcAft>
              <a:buClr>
                <a:schemeClr val="lt1"/>
              </a:buClr>
              <a:buSzPts val="2053"/>
              <a:buFont typeface="Times New Roman"/>
              <a:buNone/>
            </a:pPr>
            <a:endParaRPr sz="2053" b="0" i="0" u="none" strike="noStrike" cap="none">
              <a:solidFill>
                <a:srgbClr val="000000"/>
              </a:solidFill>
              <a:latin typeface="Comic Sans MS"/>
              <a:ea typeface="Comic Sans MS"/>
              <a:cs typeface="Comic Sans MS"/>
              <a:sym typeface="Comic Sans MS"/>
            </a:endParaRPr>
          </a:p>
        </p:txBody>
      </p:sp>
    </p:spTree>
    <p:extLst>
      <p:ext uri="{BB962C8B-B14F-4D97-AF65-F5344CB8AC3E}">
        <p14:creationId xmlns:p14="http://schemas.microsoft.com/office/powerpoint/2010/main" val="1069798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23"/>
          <p:cNvSpPr txBox="1">
            <a:spLocks noGrp="1"/>
          </p:cNvSpPr>
          <p:nvPr>
            <p:ph type="title"/>
          </p:nvPr>
        </p:nvSpPr>
        <p:spPr>
          <a:xfrm>
            <a:off x="152400" y="304800"/>
            <a:ext cx="7391400" cy="99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4400"/>
              <a:buFont typeface="Calibri"/>
              <a:buNone/>
            </a:pPr>
            <a:r>
              <a:rPr lang="en-US" sz="4400" b="1" i="0" u="none" strike="noStrike" cap="none">
                <a:solidFill>
                  <a:schemeClr val="dk1"/>
                </a:solidFill>
                <a:latin typeface="Calibri"/>
                <a:ea typeface="Calibri"/>
                <a:cs typeface="Calibri"/>
                <a:sym typeface="Calibri"/>
              </a:rPr>
              <a:t>NLP Applications</a:t>
            </a:r>
            <a:endParaRPr/>
          </a:p>
        </p:txBody>
      </p:sp>
      <p:sp>
        <p:nvSpPr>
          <p:cNvPr id="491" name="Google Shape;491;p23"/>
          <p:cNvSpPr txBox="1">
            <a:spLocks noGrp="1"/>
          </p:cNvSpPr>
          <p:nvPr>
            <p:ph type="body" idx="4294967295"/>
          </p:nvPr>
        </p:nvSpPr>
        <p:spPr>
          <a:xfrm>
            <a:off x="533400" y="1600200"/>
            <a:ext cx="7924800" cy="4876800"/>
          </a:xfrm>
          <a:prstGeom prst="rect">
            <a:avLst/>
          </a:prstGeom>
          <a:noFill/>
          <a:ln>
            <a:noFill/>
          </a:ln>
        </p:spPr>
        <p:txBody>
          <a:bodyPr spcFirstLastPara="1" wrap="square" lIns="91425" tIns="45700" rIns="91425" bIns="45700" anchor="t" anchorCtr="0">
            <a:normAutofit fontScale="92500" lnSpcReduction="10000"/>
          </a:bodyPr>
          <a:lstStyle/>
          <a:p>
            <a:pPr marL="339725" lvl="0" indent="-339725" algn="l" rtl="0">
              <a:lnSpc>
                <a:spcPct val="90000"/>
              </a:lnSpc>
              <a:spcBef>
                <a:spcPts val="0"/>
              </a:spcBef>
              <a:spcAft>
                <a:spcPts val="0"/>
              </a:spcAft>
              <a:buClr>
                <a:srgbClr val="A50021"/>
              </a:buClr>
              <a:buSzPct val="60000"/>
              <a:buFont typeface="Noto Sans Symbols"/>
              <a:buChar char="■"/>
            </a:pPr>
            <a:r>
              <a:rPr lang="en-US"/>
              <a:t>Question answering</a:t>
            </a:r>
            <a:endParaRPr/>
          </a:p>
          <a:p>
            <a:pPr marL="739775" lvl="1" indent="-282575" algn="l" rtl="0">
              <a:lnSpc>
                <a:spcPct val="90000"/>
              </a:lnSpc>
              <a:spcBef>
                <a:spcPts val="518"/>
              </a:spcBef>
              <a:spcAft>
                <a:spcPts val="0"/>
              </a:spcAft>
              <a:buClr>
                <a:schemeClr val="dk1"/>
              </a:buClr>
              <a:buSzPct val="55000"/>
              <a:buFont typeface="Noto Sans Symbols"/>
              <a:buChar char="■"/>
            </a:pPr>
            <a:r>
              <a:rPr lang="en-US"/>
              <a:t>Who is the first Taiwanese president?</a:t>
            </a:r>
            <a:endParaRPr/>
          </a:p>
          <a:p>
            <a:pPr marL="339725" lvl="0" indent="-339725" algn="l" rtl="0">
              <a:lnSpc>
                <a:spcPct val="90000"/>
              </a:lnSpc>
              <a:spcBef>
                <a:spcPts val="592"/>
              </a:spcBef>
              <a:spcAft>
                <a:spcPts val="0"/>
              </a:spcAft>
              <a:buClr>
                <a:srgbClr val="A50021"/>
              </a:buClr>
              <a:buSzPct val="60000"/>
              <a:buFont typeface="Noto Sans Symbols"/>
              <a:buChar char="■"/>
            </a:pPr>
            <a:r>
              <a:rPr lang="en-US"/>
              <a:t>Text Categorization/Routing</a:t>
            </a:r>
            <a:endParaRPr/>
          </a:p>
          <a:p>
            <a:pPr marL="739775" lvl="1" indent="-282575" algn="l" rtl="0">
              <a:lnSpc>
                <a:spcPct val="90000"/>
              </a:lnSpc>
              <a:spcBef>
                <a:spcPts val="518"/>
              </a:spcBef>
              <a:spcAft>
                <a:spcPts val="0"/>
              </a:spcAft>
              <a:buClr>
                <a:schemeClr val="dk1"/>
              </a:buClr>
              <a:buSzPct val="55000"/>
              <a:buFont typeface="Noto Sans Symbols"/>
              <a:buChar char="■"/>
            </a:pPr>
            <a:r>
              <a:rPr lang="en-US"/>
              <a:t>e.g., customer e-mails.</a:t>
            </a:r>
            <a:endParaRPr/>
          </a:p>
          <a:p>
            <a:pPr marL="339725" lvl="0" indent="-339725" algn="l" rtl="0">
              <a:lnSpc>
                <a:spcPct val="90000"/>
              </a:lnSpc>
              <a:spcBef>
                <a:spcPts val="592"/>
              </a:spcBef>
              <a:spcAft>
                <a:spcPts val="0"/>
              </a:spcAft>
              <a:buClr>
                <a:srgbClr val="A50021"/>
              </a:buClr>
              <a:buSzPct val="60000"/>
              <a:buFont typeface="Noto Sans Symbols"/>
              <a:buChar char="■"/>
            </a:pPr>
            <a:r>
              <a:rPr lang="en-US"/>
              <a:t>Text Mining</a:t>
            </a:r>
            <a:endParaRPr/>
          </a:p>
          <a:p>
            <a:pPr marL="739775" lvl="1" indent="-282575" algn="l" rtl="0">
              <a:lnSpc>
                <a:spcPct val="90000"/>
              </a:lnSpc>
              <a:spcBef>
                <a:spcPts val="518"/>
              </a:spcBef>
              <a:spcAft>
                <a:spcPts val="0"/>
              </a:spcAft>
              <a:buClr>
                <a:schemeClr val="dk1"/>
              </a:buClr>
              <a:buSzPct val="55000"/>
              <a:buFont typeface="Noto Sans Symbols"/>
              <a:buChar char="■"/>
            </a:pPr>
            <a:r>
              <a:rPr lang="en-US"/>
              <a:t>Find everything that can be done with NLP</a:t>
            </a:r>
            <a:endParaRPr/>
          </a:p>
          <a:p>
            <a:pPr marL="339725" lvl="0" indent="-339725" algn="l" rtl="0">
              <a:lnSpc>
                <a:spcPct val="90000"/>
              </a:lnSpc>
              <a:spcBef>
                <a:spcPts val="592"/>
              </a:spcBef>
              <a:spcAft>
                <a:spcPts val="0"/>
              </a:spcAft>
              <a:buClr>
                <a:srgbClr val="A50021"/>
              </a:buClr>
              <a:buSzPct val="60000"/>
              <a:buFont typeface="Noto Sans Symbols"/>
              <a:buChar char="■"/>
            </a:pPr>
            <a:r>
              <a:rPr lang="en-US"/>
              <a:t>Machine (Assisted) Translation</a:t>
            </a:r>
            <a:endParaRPr/>
          </a:p>
          <a:p>
            <a:pPr marL="339725" lvl="0" indent="-339725" algn="l" rtl="0">
              <a:lnSpc>
                <a:spcPct val="90000"/>
              </a:lnSpc>
              <a:spcBef>
                <a:spcPts val="592"/>
              </a:spcBef>
              <a:spcAft>
                <a:spcPts val="0"/>
              </a:spcAft>
              <a:buClr>
                <a:srgbClr val="A50021"/>
              </a:buClr>
              <a:buSzPct val="60000"/>
              <a:buFont typeface="Noto Sans Symbols"/>
              <a:buChar char="■"/>
            </a:pPr>
            <a:r>
              <a:rPr lang="en-US"/>
              <a:t>Language Teaching/Learning</a:t>
            </a:r>
            <a:endParaRPr/>
          </a:p>
          <a:p>
            <a:pPr marL="739775" lvl="1" indent="-282575" algn="l" rtl="0">
              <a:lnSpc>
                <a:spcPct val="90000"/>
              </a:lnSpc>
              <a:spcBef>
                <a:spcPts val="518"/>
              </a:spcBef>
              <a:spcAft>
                <a:spcPts val="0"/>
              </a:spcAft>
              <a:buClr>
                <a:schemeClr val="dk1"/>
              </a:buClr>
              <a:buSzPct val="55000"/>
              <a:buFont typeface="Noto Sans Symbols"/>
              <a:buChar char="■"/>
            </a:pPr>
            <a:r>
              <a:rPr lang="en-US"/>
              <a:t>Usage checking</a:t>
            </a:r>
            <a:endParaRPr/>
          </a:p>
          <a:p>
            <a:pPr marL="339725" lvl="0" indent="-339725" algn="l" rtl="0">
              <a:lnSpc>
                <a:spcPct val="90000"/>
              </a:lnSpc>
              <a:spcBef>
                <a:spcPts val="592"/>
              </a:spcBef>
              <a:spcAft>
                <a:spcPts val="0"/>
              </a:spcAft>
              <a:buClr>
                <a:srgbClr val="A50021"/>
              </a:buClr>
              <a:buSzPct val="60000"/>
              <a:buFont typeface="Noto Sans Symbols"/>
              <a:buChar char="■"/>
            </a:pPr>
            <a:r>
              <a:rPr lang="en-US"/>
              <a:t>Spelling correction</a:t>
            </a:r>
            <a:endParaRPr/>
          </a:p>
          <a:p>
            <a:pPr marL="739775" lvl="1" indent="-282575" algn="l" rtl="0">
              <a:lnSpc>
                <a:spcPct val="90000"/>
              </a:lnSpc>
              <a:spcBef>
                <a:spcPts val="518"/>
              </a:spcBef>
              <a:spcAft>
                <a:spcPts val="0"/>
              </a:spcAft>
              <a:buClr>
                <a:schemeClr val="dk1"/>
              </a:buClr>
              <a:buSzPct val="55000"/>
              <a:buFont typeface="Noto Sans Symbols"/>
              <a:buChar char="■"/>
            </a:pPr>
            <a:r>
              <a:rPr lang="en-US"/>
              <a:t>Is that just dictionary lookup?</a:t>
            </a:r>
            <a:endParaRPr/>
          </a:p>
        </p:txBody>
      </p:sp>
    </p:spTree>
    <p:extLst>
      <p:ext uri="{BB962C8B-B14F-4D97-AF65-F5344CB8AC3E}">
        <p14:creationId xmlns:p14="http://schemas.microsoft.com/office/powerpoint/2010/main" val="4028725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24"/>
          <p:cNvSpPr txBox="1">
            <a:spLocks noGrp="1"/>
          </p:cNvSpPr>
          <p:nvPr>
            <p:ph type="title"/>
          </p:nvPr>
        </p:nvSpPr>
        <p:spPr>
          <a:xfrm>
            <a:off x="228600" y="381000"/>
            <a:ext cx="7391400" cy="99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4400"/>
              <a:buFont typeface="Calibri"/>
              <a:buNone/>
            </a:pPr>
            <a:r>
              <a:rPr lang="en-US" sz="4400" b="1" i="0" u="none" strike="noStrike" cap="none">
                <a:solidFill>
                  <a:schemeClr val="dk1"/>
                </a:solidFill>
                <a:latin typeface="Calibri"/>
                <a:ea typeface="Calibri"/>
                <a:cs typeface="Calibri"/>
                <a:sym typeface="Calibri"/>
              </a:rPr>
              <a:t>Application areas</a:t>
            </a:r>
            <a:endParaRPr/>
          </a:p>
        </p:txBody>
      </p:sp>
      <p:sp>
        <p:nvSpPr>
          <p:cNvPr id="498" name="Google Shape;498;p24"/>
          <p:cNvSpPr txBox="1">
            <a:spLocks noGrp="1"/>
          </p:cNvSpPr>
          <p:nvPr>
            <p:ph type="body" idx="4294967295"/>
          </p:nvPr>
        </p:nvSpPr>
        <p:spPr>
          <a:xfrm>
            <a:off x="685800" y="1752600"/>
            <a:ext cx="7924800" cy="4884738"/>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lnSpc>
                <a:spcPct val="100000"/>
              </a:lnSpc>
              <a:spcBef>
                <a:spcPts val="0"/>
              </a:spcBef>
              <a:spcAft>
                <a:spcPts val="0"/>
              </a:spcAft>
              <a:buClr>
                <a:schemeClr val="dk1"/>
              </a:buClr>
              <a:buSzPct val="100000"/>
              <a:buChar char="•"/>
            </a:pPr>
            <a:r>
              <a:rPr lang="en-US" sz="2400"/>
              <a:t>Text-to-Speech &amp; Speech recognition</a:t>
            </a:r>
            <a:endParaRPr/>
          </a:p>
          <a:p>
            <a:pPr marL="342900" lvl="0" indent="-342900" algn="l" rtl="0">
              <a:lnSpc>
                <a:spcPct val="100000"/>
              </a:lnSpc>
              <a:spcBef>
                <a:spcPts val="408"/>
              </a:spcBef>
              <a:spcAft>
                <a:spcPts val="0"/>
              </a:spcAft>
              <a:buClr>
                <a:schemeClr val="dk1"/>
              </a:buClr>
              <a:buSzPct val="100000"/>
              <a:buChar char="•"/>
            </a:pPr>
            <a:r>
              <a:rPr lang="en-US" sz="2400"/>
              <a:t>Healthcare</a:t>
            </a:r>
            <a:endParaRPr/>
          </a:p>
          <a:p>
            <a:pPr marL="342900" lvl="0" indent="-342900" algn="l" rtl="0">
              <a:lnSpc>
                <a:spcPct val="100000"/>
              </a:lnSpc>
              <a:spcBef>
                <a:spcPts val="408"/>
              </a:spcBef>
              <a:spcAft>
                <a:spcPts val="0"/>
              </a:spcAft>
              <a:buClr>
                <a:schemeClr val="dk1"/>
              </a:buClr>
              <a:buSzPct val="100000"/>
              <a:buChar char="•"/>
            </a:pPr>
            <a:r>
              <a:rPr lang="en-US" sz="2400"/>
              <a:t>Natural Language Dialogue Interfaces to Databases</a:t>
            </a:r>
            <a:endParaRPr/>
          </a:p>
          <a:p>
            <a:pPr marL="342900" lvl="0" indent="-342900" algn="l" rtl="0">
              <a:lnSpc>
                <a:spcPct val="100000"/>
              </a:lnSpc>
              <a:spcBef>
                <a:spcPts val="408"/>
              </a:spcBef>
              <a:spcAft>
                <a:spcPts val="0"/>
              </a:spcAft>
              <a:buClr>
                <a:schemeClr val="dk1"/>
              </a:buClr>
              <a:buSzPct val="100000"/>
              <a:buChar char="•"/>
            </a:pPr>
            <a:r>
              <a:rPr lang="en-US" sz="2400"/>
              <a:t>Information Retrieval_</a:t>
            </a:r>
            <a:endParaRPr/>
          </a:p>
          <a:p>
            <a:pPr marL="342900" lvl="0" indent="-342900" algn="l" rtl="0">
              <a:lnSpc>
                <a:spcPct val="100000"/>
              </a:lnSpc>
              <a:spcBef>
                <a:spcPts val="408"/>
              </a:spcBef>
              <a:spcAft>
                <a:spcPts val="0"/>
              </a:spcAft>
              <a:buClr>
                <a:schemeClr val="dk1"/>
              </a:buClr>
              <a:buSzPct val="100000"/>
              <a:buChar char="•"/>
            </a:pPr>
            <a:r>
              <a:rPr lang="en-US" sz="2400"/>
              <a:t>Information Extraction (</a:t>
            </a:r>
            <a:r>
              <a:rPr lang="en-US" sz="2400" u="sng">
                <a:solidFill>
                  <a:schemeClr val="hlink"/>
                </a:solidFill>
                <a:hlinkClick r:id="rId3"/>
              </a:rPr>
              <a:t>http://nlp.stanford.edu:8080/ner/process</a:t>
            </a:r>
            <a:r>
              <a:rPr lang="en-US" sz="2400"/>
              <a:t>) </a:t>
            </a:r>
            <a:endParaRPr/>
          </a:p>
          <a:p>
            <a:pPr marL="342900" lvl="0" indent="-342900" algn="l" rtl="0">
              <a:lnSpc>
                <a:spcPct val="100000"/>
              </a:lnSpc>
              <a:spcBef>
                <a:spcPts val="408"/>
              </a:spcBef>
              <a:spcAft>
                <a:spcPts val="0"/>
              </a:spcAft>
              <a:buClr>
                <a:schemeClr val="dk1"/>
              </a:buClr>
              <a:buSzPct val="100000"/>
              <a:buChar char="•"/>
            </a:pPr>
            <a:r>
              <a:rPr lang="en-US" sz="2400"/>
              <a:t>Document Classification</a:t>
            </a:r>
            <a:endParaRPr/>
          </a:p>
          <a:p>
            <a:pPr marL="342900" lvl="0" indent="-342900" algn="l" rtl="0">
              <a:lnSpc>
                <a:spcPct val="100000"/>
              </a:lnSpc>
              <a:spcBef>
                <a:spcPts val="408"/>
              </a:spcBef>
              <a:spcAft>
                <a:spcPts val="0"/>
              </a:spcAft>
              <a:buClr>
                <a:schemeClr val="dk1"/>
              </a:buClr>
              <a:buSzPct val="100000"/>
              <a:buChar char="•"/>
            </a:pPr>
            <a:r>
              <a:rPr lang="en-US" sz="2400"/>
              <a:t>Document Image Analysis</a:t>
            </a:r>
            <a:endParaRPr/>
          </a:p>
          <a:p>
            <a:pPr marL="342900" lvl="0" indent="-342900" algn="l" rtl="0">
              <a:lnSpc>
                <a:spcPct val="100000"/>
              </a:lnSpc>
              <a:spcBef>
                <a:spcPts val="408"/>
              </a:spcBef>
              <a:spcAft>
                <a:spcPts val="0"/>
              </a:spcAft>
              <a:buClr>
                <a:schemeClr val="dk1"/>
              </a:buClr>
              <a:buSzPct val="100000"/>
              <a:buChar char="•"/>
            </a:pPr>
            <a:r>
              <a:rPr lang="en-US" sz="2400"/>
              <a:t>Automatic Summarization (</a:t>
            </a:r>
            <a:r>
              <a:rPr lang="en-US" sz="2400" u="sng">
                <a:solidFill>
                  <a:schemeClr val="hlink"/>
                </a:solidFill>
                <a:hlinkClick r:id="rId4"/>
              </a:rPr>
              <a:t>https://quillbot.com/summarize</a:t>
            </a:r>
            <a:r>
              <a:rPr lang="en-US" sz="2400"/>
              <a:t>) </a:t>
            </a:r>
            <a:endParaRPr/>
          </a:p>
          <a:p>
            <a:pPr marL="342900" lvl="0" indent="-342900" algn="l" rtl="0">
              <a:lnSpc>
                <a:spcPct val="100000"/>
              </a:lnSpc>
              <a:spcBef>
                <a:spcPts val="408"/>
              </a:spcBef>
              <a:spcAft>
                <a:spcPts val="0"/>
              </a:spcAft>
              <a:buClr>
                <a:schemeClr val="dk1"/>
              </a:buClr>
              <a:buSzPct val="100000"/>
              <a:buChar char="•"/>
            </a:pPr>
            <a:r>
              <a:rPr lang="en-US" sz="2400"/>
              <a:t>Text Proof-reading – Spelling &amp; Grammar_</a:t>
            </a:r>
            <a:endParaRPr/>
          </a:p>
          <a:p>
            <a:pPr marL="342900" lvl="0" indent="-342900" algn="l" rtl="0">
              <a:lnSpc>
                <a:spcPct val="100000"/>
              </a:lnSpc>
              <a:spcBef>
                <a:spcPts val="408"/>
              </a:spcBef>
              <a:spcAft>
                <a:spcPts val="0"/>
              </a:spcAft>
              <a:buClr>
                <a:schemeClr val="dk1"/>
              </a:buClr>
              <a:buSzPct val="100000"/>
              <a:buChar char="•"/>
            </a:pPr>
            <a:r>
              <a:rPr lang="en-US" sz="2400"/>
              <a:t>Machine Translation_</a:t>
            </a:r>
            <a:endParaRPr/>
          </a:p>
          <a:p>
            <a:pPr marL="342900" lvl="0" indent="-342900" algn="l" rtl="0">
              <a:lnSpc>
                <a:spcPct val="100000"/>
              </a:lnSpc>
              <a:spcBef>
                <a:spcPts val="340"/>
              </a:spcBef>
              <a:spcAft>
                <a:spcPts val="0"/>
              </a:spcAft>
              <a:buClr>
                <a:schemeClr val="dk1"/>
              </a:buClr>
              <a:buSzPct val="100000"/>
              <a:buChar char="•"/>
            </a:pPr>
            <a:r>
              <a:rPr lang="en-US" sz="2000" b="1"/>
              <a:t>Fake News and Cyberbullying Detection</a:t>
            </a:r>
            <a:endParaRPr/>
          </a:p>
          <a:p>
            <a:pPr marL="342900" lvl="0" indent="-342900" algn="l" rtl="0">
              <a:lnSpc>
                <a:spcPct val="100000"/>
              </a:lnSpc>
              <a:spcBef>
                <a:spcPts val="306"/>
              </a:spcBef>
              <a:spcAft>
                <a:spcPts val="0"/>
              </a:spcAft>
              <a:buClr>
                <a:schemeClr val="dk1"/>
              </a:buClr>
              <a:buSzPct val="100000"/>
              <a:buChar char="•"/>
            </a:pPr>
            <a:r>
              <a:rPr lang="en-US" sz="1800" b="1"/>
              <a:t>Monitoring Social Media Using NLP</a:t>
            </a:r>
            <a:endParaRPr/>
          </a:p>
          <a:p>
            <a:pPr marL="342900" lvl="0" indent="-342900" algn="l" rtl="0">
              <a:lnSpc>
                <a:spcPct val="100000"/>
              </a:lnSpc>
              <a:spcBef>
                <a:spcPts val="408"/>
              </a:spcBef>
              <a:spcAft>
                <a:spcPts val="0"/>
              </a:spcAft>
              <a:buClr>
                <a:schemeClr val="dk1"/>
              </a:buClr>
              <a:buSzPct val="100000"/>
              <a:buChar char="•"/>
            </a:pPr>
            <a:r>
              <a:rPr lang="en-US" sz="2400"/>
              <a:t>Plagiarism detection</a:t>
            </a:r>
            <a:endParaRPr/>
          </a:p>
          <a:p>
            <a:pPr marL="342900" lvl="0" indent="-342900" algn="l" rtl="0">
              <a:lnSpc>
                <a:spcPct val="100000"/>
              </a:lnSpc>
              <a:spcBef>
                <a:spcPts val="408"/>
              </a:spcBef>
              <a:spcAft>
                <a:spcPts val="0"/>
              </a:spcAft>
              <a:buClr>
                <a:schemeClr val="dk1"/>
              </a:buClr>
              <a:buSzPct val="100000"/>
              <a:buChar char="•"/>
            </a:pPr>
            <a:r>
              <a:rPr lang="en-US" sz="2400"/>
              <a:t>Look-ahead typing / Word prediction_</a:t>
            </a:r>
            <a:endParaRPr/>
          </a:p>
          <a:p>
            <a:pPr marL="342900" lvl="0" indent="-342900" algn="l" rtl="0">
              <a:lnSpc>
                <a:spcPct val="100000"/>
              </a:lnSpc>
              <a:spcBef>
                <a:spcPts val="408"/>
              </a:spcBef>
              <a:spcAft>
                <a:spcPts val="0"/>
              </a:spcAft>
              <a:buClr>
                <a:schemeClr val="dk1"/>
              </a:buClr>
              <a:buSzPct val="100000"/>
              <a:buChar char="•"/>
            </a:pPr>
            <a:r>
              <a:rPr lang="en-US" sz="2400"/>
              <a:t>Question Answering System (</a:t>
            </a:r>
            <a:r>
              <a:rPr lang="en-US" sz="2400" u="sng">
                <a:solidFill>
                  <a:schemeClr val="hlink"/>
                </a:solidFill>
                <a:hlinkClick r:id="rId5"/>
              </a:rPr>
              <a:t>http://start.csail.mit.edu/index.php</a:t>
            </a:r>
            <a:r>
              <a:rPr lang="en-US" sz="2400"/>
              <a:t>) </a:t>
            </a:r>
            <a:endParaRPr/>
          </a:p>
          <a:p>
            <a:pPr marL="342900" lvl="0" indent="-342900" algn="l" rtl="0">
              <a:lnSpc>
                <a:spcPct val="100000"/>
              </a:lnSpc>
              <a:spcBef>
                <a:spcPts val="408"/>
              </a:spcBef>
              <a:spcAft>
                <a:spcPts val="0"/>
              </a:spcAft>
              <a:buClr>
                <a:schemeClr val="dk1"/>
              </a:buClr>
              <a:buSzPct val="100000"/>
              <a:buChar char="•"/>
            </a:pPr>
            <a:r>
              <a:rPr lang="en-US" sz="2400"/>
              <a:t>Sentiment Analysis (</a:t>
            </a:r>
            <a:r>
              <a:rPr lang="en-US" sz="2400" u="sng">
                <a:solidFill>
                  <a:schemeClr val="hlink"/>
                </a:solidFill>
                <a:hlinkClick r:id="rId6"/>
              </a:rPr>
              <a:t>https://komprehend.io/sentiment-analysis</a:t>
            </a:r>
            <a:r>
              <a:rPr lang="en-US" sz="2400"/>
              <a:t>) </a:t>
            </a:r>
            <a:endParaRPr/>
          </a:p>
          <a:p>
            <a:pPr marL="339725" lvl="0" indent="-268478" algn="l" rtl="0">
              <a:lnSpc>
                <a:spcPct val="100000"/>
              </a:lnSpc>
              <a:spcBef>
                <a:spcPts val="550"/>
              </a:spcBef>
              <a:spcAft>
                <a:spcPts val="0"/>
              </a:spcAft>
              <a:buClr>
                <a:srgbClr val="A50021"/>
              </a:buClr>
              <a:buSzPct val="59999"/>
              <a:buFont typeface="Noto Sans Symbols"/>
              <a:buNone/>
            </a:pPr>
            <a:endParaRPr sz="2200"/>
          </a:p>
        </p:txBody>
      </p:sp>
    </p:spTree>
    <p:extLst>
      <p:ext uri="{BB962C8B-B14F-4D97-AF65-F5344CB8AC3E}">
        <p14:creationId xmlns:p14="http://schemas.microsoft.com/office/powerpoint/2010/main" val="2454232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Main components of NLP</a:t>
            </a:r>
          </a:p>
        </p:txBody>
      </p:sp>
      <p:pic>
        <p:nvPicPr>
          <p:cNvPr id="5" name="Content Placeholder 4"/>
          <p:cNvPicPr>
            <a:picLocks noGrp="1" noChangeAspect="1"/>
          </p:cNvPicPr>
          <p:nvPr>
            <p:ph idx="1"/>
          </p:nvPr>
        </p:nvPicPr>
        <p:blipFill>
          <a:blip r:embed="rId2"/>
          <a:stretch>
            <a:fillRect/>
          </a:stretch>
        </p:blipFill>
        <p:spPr>
          <a:xfrm>
            <a:off x="914400" y="2367756"/>
            <a:ext cx="7239000" cy="3652044"/>
          </a:xfrm>
          <a:prstGeom prst="rect">
            <a:avLst/>
          </a:prstGeom>
        </p:spPr>
      </p:pic>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23</a:t>
            </a:fld>
            <a:endParaRPr lang="en-US"/>
          </a:p>
        </p:txBody>
      </p:sp>
    </p:spTree>
    <p:extLst>
      <p:ext uri="{BB962C8B-B14F-4D97-AF65-F5344CB8AC3E}">
        <p14:creationId xmlns:p14="http://schemas.microsoft.com/office/powerpoint/2010/main" val="3390313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Natural language understanding</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IN" dirty="0"/>
              <a:t>allows users to interact more naturally with the computer.</a:t>
            </a:r>
          </a:p>
          <a:p>
            <a:pPr>
              <a:buFont typeface="Wingdings" panose="05000000000000000000" pitchFamily="2" charset="2"/>
              <a:buChar char="Ø"/>
            </a:pPr>
            <a:r>
              <a:rPr lang="en-IN" b="1" dirty="0"/>
              <a:t>Different levels of analysis</a:t>
            </a:r>
          </a:p>
          <a:p>
            <a:pPr lvl="0"/>
            <a:r>
              <a:rPr lang="en-IN" dirty="0"/>
              <a:t>Morphological Analysis </a:t>
            </a:r>
          </a:p>
          <a:p>
            <a:pPr lvl="0"/>
            <a:r>
              <a:rPr lang="en-IN" dirty="0"/>
              <a:t>Syntactic analysis</a:t>
            </a:r>
          </a:p>
          <a:p>
            <a:pPr lvl="0"/>
            <a:r>
              <a:rPr lang="en-IN" dirty="0"/>
              <a:t>Semantic analysis</a:t>
            </a:r>
          </a:p>
          <a:p>
            <a:pPr lvl="0"/>
            <a:r>
              <a:rPr lang="en-IN" dirty="0"/>
              <a:t>Discourse analysis</a:t>
            </a:r>
          </a:p>
          <a:p>
            <a:endParaRPr lang="en-IN"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24</a:t>
            </a:fld>
            <a:endParaRPr lang="en-US"/>
          </a:p>
        </p:txBody>
      </p:sp>
    </p:spTree>
    <p:extLst>
      <p:ext uri="{BB962C8B-B14F-4D97-AF65-F5344CB8AC3E}">
        <p14:creationId xmlns:p14="http://schemas.microsoft.com/office/powerpoint/2010/main" val="399627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Natural language generation</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a:t>NLG will decide how to respond by</a:t>
            </a:r>
          </a:p>
          <a:p>
            <a:pPr lvl="0"/>
            <a:r>
              <a:rPr lang="en-IN" dirty="0"/>
              <a:t>Deep Planning </a:t>
            </a:r>
          </a:p>
          <a:p>
            <a:pPr lvl="0"/>
            <a:r>
              <a:rPr lang="en-IN" dirty="0"/>
              <a:t>Syntactic generation</a:t>
            </a:r>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25</a:t>
            </a:fld>
            <a:endParaRPr lang="en-US"/>
          </a:p>
        </p:txBody>
      </p:sp>
    </p:spTree>
    <p:extLst>
      <p:ext uri="{BB962C8B-B14F-4D97-AF65-F5344CB8AC3E}">
        <p14:creationId xmlns:p14="http://schemas.microsoft.com/office/powerpoint/2010/main" val="2562385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Steps used for NLU</a:t>
            </a:r>
          </a:p>
        </p:txBody>
      </p:sp>
      <p:pic>
        <p:nvPicPr>
          <p:cNvPr id="5" name="Content Placeholder 4"/>
          <p:cNvPicPr>
            <a:picLocks noGrp="1" noChangeAspect="1"/>
          </p:cNvPicPr>
          <p:nvPr>
            <p:ph idx="1"/>
          </p:nvPr>
        </p:nvPicPr>
        <p:blipFill>
          <a:blip r:embed="rId2"/>
          <a:stretch>
            <a:fillRect/>
          </a:stretch>
        </p:blipFill>
        <p:spPr>
          <a:xfrm>
            <a:off x="1143000" y="1889757"/>
            <a:ext cx="6476999" cy="3596643"/>
          </a:xfrm>
          <a:prstGeom prst="rect">
            <a:avLst/>
          </a:prstGeom>
        </p:spPr>
      </p:pic>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26</a:t>
            </a:fld>
            <a:endParaRPr lang="en-US"/>
          </a:p>
        </p:txBody>
      </p:sp>
    </p:spTree>
    <p:extLst>
      <p:ext uri="{BB962C8B-B14F-4D97-AF65-F5344CB8AC3E}">
        <p14:creationId xmlns:p14="http://schemas.microsoft.com/office/powerpoint/2010/main" val="574813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Morphology analysis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a:t>Morphology is the arrangement and relationships of the smallest meaningful units in a language. </a:t>
            </a:r>
          </a:p>
          <a:p>
            <a:pPr lvl="0">
              <a:buFont typeface="Wingdings" panose="05000000000000000000" pitchFamily="2" charset="2"/>
              <a:buChar char="Ø"/>
            </a:pPr>
            <a:r>
              <a:rPr lang="en-IN" dirty="0" err="1"/>
              <a:t>Eg</a:t>
            </a:r>
            <a:r>
              <a:rPr lang="en-IN" dirty="0"/>
              <a:t>:</a:t>
            </a:r>
          </a:p>
          <a:p>
            <a:pPr lvl="0"/>
            <a:r>
              <a:rPr lang="en-IN" dirty="0">
                <a:solidFill>
                  <a:srgbClr val="FF0000"/>
                </a:solidFill>
              </a:rPr>
              <a:t>Fire</a:t>
            </a:r>
            <a:r>
              <a:rPr lang="en-IN" dirty="0">
                <a:solidFill>
                  <a:schemeClr val="accent1">
                    <a:lumMod val="60000"/>
                    <a:lumOff val="40000"/>
                  </a:schemeClr>
                </a:solidFill>
              </a:rPr>
              <a:t>house</a:t>
            </a:r>
          </a:p>
          <a:p>
            <a:pPr lvl="0"/>
            <a:r>
              <a:rPr lang="en-IN" dirty="0">
                <a:solidFill>
                  <a:schemeClr val="accent4">
                    <a:lumMod val="60000"/>
                    <a:lumOff val="40000"/>
                  </a:schemeClr>
                </a:solidFill>
              </a:rPr>
              <a:t>Dog</a:t>
            </a:r>
            <a:r>
              <a:rPr lang="en-IN" dirty="0">
                <a:solidFill>
                  <a:srgbClr val="FFC000"/>
                </a:solidFill>
              </a:rPr>
              <a:t>house</a:t>
            </a:r>
          </a:p>
          <a:p>
            <a:r>
              <a:rPr lang="en-IN" b="1" dirty="0">
                <a:solidFill>
                  <a:schemeClr val="bg2">
                    <a:lumMod val="50000"/>
                  </a:schemeClr>
                </a:solidFill>
              </a:rPr>
              <a:t>run</a:t>
            </a:r>
            <a:r>
              <a:rPr lang="en-IN" dirty="0">
                <a:solidFill>
                  <a:srgbClr val="FF0000"/>
                </a:solidFill>
              </a:rPr>
              <a:t>s</a:t>
            </a:r>
            <a:r>
              <a:rPr lang="en-IN" b="1" dirty="0"/>
              <a:t> </a:t>
            </a:r>
            <a:endParaRPr lang="en-IN"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27</a:t>
            </a:fld>
            <a:endParaRPr lang="en-US"/>
          </a:p>
        </p:txBody>
      </p:sp>
    </p:spTree>
    <p:extLst>
      <p:ext uri="{BB962C8B-B14F-4D97-AF65-F5344CB8AC3E}">
        <p14:creationId xmlns:p14="http://schemas.microsoft.com/office/powerpoint/2010/main" val="491544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Lexical analysis</a:t>
            </a:r>
          </a:p>
        </p:txBody>
      </p:sp>
      <p:sp>
        <p:nvSpPr>
          <p:cNvPr id="3" name="Content Placeholder 2"/>
          <p:cNvSpPr>
            <a:spLocks noGrp="1"/>
          </p:cNvSpPr>
          <p:nvPr>
            <p:ph idx="1"/>
          </p:nvPr>
        </p:nvSpPr>
        <p:spPr/>
        <p:txBody>
          <a:bodyPr/>
          <a:lstStyle/>
          <a:p>
            <a:r>
              <a:rPr lang="en-US" dirty="0"/>
              <a:t>Lexicon of a language means the collection of words and phrases in a language. </a:t>
            </a:r>
          </a:p>
          <a:p>
            <a:r>
              <a:rPr lang="en-US" dirty="0"/>
              <a:t>Lexical analysis is dividing the whole chunk of text into paragraphs, sentences, and words.</a:t>
            </a:r>
          </a:p>
          <a:p>
            <a:r>
              <a:rPr lang="en-US" dirty="0" err="1">
                <a:solidFill>
                  <a:srgbClr val="C00000"/>
                </a:solidFill>
                <a:ea typeface="Cambria" panose="02040503050406030204" pitchFamily="18" charset="0"/>
                <a:cs typeface="Times New Roman"/>
              </a:rPr>
              <a:t>friendful</a:t>
            </a:r>
            <a:r>
              <a:rPr lang="en-US" dirty="0">
                <a:solidFill>
                  <a:srgbClr val="C00000"/>
                </a:solidFill>
                <a:ea typeface="Cambria" panose="02040503050406030204" pitchFamily="18" charset="0"/>
                <a:cs typeface="Times New Roman"/>
              </a:rPr>
              <a:t> or </a:t>
            </a:r>
            <a:r>
              <a:rPr lang="en-US" dirty="0" err="1">
                <a:solidFill>
                  <a:srgbClr val="C00000"/>
                </a:solidFill>
                <a:ea typeface="Cambria" panose="02040503050406030204" pitchFamily="18" charset="0"/>
                <a:cs typeface="Times New Roman"/>
              </a:rPr>
              <a:t>beautyship</a:t>
            </a:r>
            <a:r>
              <a:rPr lang="en-US" dirty="0">
                <a:solidFill>
                  <a:srgbClr val="C00000"/>
                </a:solidFill>
                <a:ea typeface="Cambria" panose="02040503050406030204" pitchFamily="18" charset="0"/>
                <a:cs typeface="Times New Roman"/>
              </a:rPr>
              <a:t> </a:t>
            </a:r>
            <a:r>
              <a:rPr lang="en-US" dirty="0">
                <a:ea typeface="Cambria" panose="02040503050406030204" pitchFamily="18" charset="0"/>
                <a:cs typeface="Times New Roman"/>
              </a:rPr>
              <a:t>    </a:t>
            </a:r>
            <a:r>
              <a:rPr lang="en-US" dirty="0">
                <a:ea typeface="Cambria" panose="02040503050406030204" pitchFamily="18" charset="0"/>
                <a:cs typeface="Times New Roman"/>
                <a:sym typeface="Wingdings" panose="05000000000000000000" pitchFamily="2" charset="2"/>
              </a:rPr>
              <a:t> </a:t>
            </a:r>
            <a:r>
              <a:rPr lang="en-US" dirty="0">
                <a:solidFill>
                  <a:srgbClr val="0070C0"/>
                </a:solidFill>
                <a:ea typeface="Cambria" panose="02040503050406030204" pitchFamily="18" charset="0"/>
                <a:cs typeface="Times New Roman"/>
                <a:sym typeface="Wingdings" panose="05000000000000000000" pitchFamily="2" charset="2"/>
              </a:rPr>
              <a:t>Lexically Incorrect</a:t>
            </a:r>
            <a:endParaRPr lang="en-US" dirty="0">
              <a:solidFill>
                <a:srgbClr val="C00000"/>
              </a:solidFill>
              <a:ea typeface="Cambria" panose="02040503050406030204" pitchFamily="18" charset="0"/>
              <a:cs typeface="Times New Roman"/>
            </a:endParaRPr>
          </a:p>
          <a:p>
            <a:r>
              <a:rPr lang="en-US" dirty="0">
                <a:solidFill>
                  <a:srgbClr val="C00000"/>
                </a:solidFill>
                <a:ea typeface="Cambria" panose="02040503050406030204" pitchFamily="18" charset="0"/>
                <a:cs typeface="Times New Roman"/>
              </a:rPr>
              <a:t>friendship  and beautiful is correct</a:t>
            </a:r>
            <a:r>
              <a:rPr lang="en-US" dirty="0">
                <a:ea typeface="Cambria" panose="02040503050406030204" pitchFamily="18" charset="0"/>
                <a:cs typeface="Times New Roman"/>
              </a:rPr>
              <a:t>    </a:t>
            </a:r>
            <a:r>
              <a:rPr lang="en-US" dirty="0">
                <a:ea typeface="Cambria" panose="02040503050406030204" pitchFamily="18" charset="0"/>
                <a:cs typeface="Times New Roman"/>
                <a:sym typeface="Wingdings" panose="05000000000000000000" pitchFamily="2" charset="2"/>
              </a:rPr>
              <a:t> </a:t>
            </a:r>
            <a:r>
              <a:rPr lang="en-US" dirty="0">
                <a:solidFill>
                  <a:srgbClr val="0070C0"/>
                </a:solidFill>
                <a:ea typeface="Cambria" panose="02040503050406030204" pitchFamily="18" charset="0"/>
                <a:cs typeface="Times New Roman"/>
                <a:sym typeface="Wingdings" panose="05000000000000000000" pitchFamily="2" charset="2"/>
              </a:rPr>
              <a:t>Lexically Correct</a:t>
            </a:r>
            <a:endParaRPr lang="en-US" dirty="0">
              <a:solidFill>
                <a:srgbClr val="C00000"/>
              </a:solidFill>
              <a:ea typeface="Cambria" panose="02040503050406030204" pitchFamily="18" charset="0"/>
              <a:cs typeface="Times New Roman"/>
            </a:endParaRPr>
          </a:p>
          <a:p>
            <a:endParaRPr lang="en-IN"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28</a:t>
            </a:fld>
            <a:endParaRPr lang="en-US"/>
          </a:p>
        </p:txBody>
      </p:sp>
    </p:spTree>
    <p:extLst>
      <p:ext uri="{BB962C8B-B14F-4D97-AF65-F5344CB8AC3E}">
        <p14:creationId xmlns:p14="http://schemas.microsoft.com/office/powerpoint/2010/main" val="2251550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Syntactic analysis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a:t>Syntax analysis checks the text for meaningfulness comparing to the rules of formal </a:t>
            </a:r>
          </a:p>
          <a:p>
            <a:pPr>
              <a:buFont typeface="Wingdings" panose="05000000000000000000" pitchFamily="2" charset="2"/>
              <a:buChar char="Ø"/>
            </a:pPr>
            <a:r>
              <a:rPr lang="en-US" dirty="0" err="1"/>
              <a:t>Eg</a:t>
            </a:r>
            <a:r>
              <a:rPr lang="en-US" dirty="0"/>
              <a:t>:</a:t>
            </a:r>
          </a:p>
          <a:p>
            <a:pPr marL="0" indent="0">
              <a:buNone/>
            </a:pPr>
            <a:r>
              <a:rPr lang="en-IN" dirty="0"/>
              <a:t>“the girl go to the school “</a:t>
            </a:r>
          </a:p>
          <a:p>
            <a:pPr marL="0" indent="0">
              <a:buNone/>
            </a:pPr>
            <a:r>
              <a:rPr lang="en-IN" dirty="0"/>
              <a:t> Agra goes to the Poonam</a:t>
            </a:r>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29</a:t>
            </a:fld>
            <a:endParaRPr lang="en-US"/>
          </a:p>
        </p:txBody>
      </p:sp>
    </p:spTree>
    <p:extLst>
      <p:ext uri="{BB962C8B-B14F-4D97-AF65-F5344CB8AC3E}">
        <p14:creationId xmlns:p14="http://schemas.microsoft.com/office/powerpoint/2010/main" val="3930897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Semantic analysis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It draws the exact meaning or the dictionary meaning from the text. The text is checked for meaningfulness.</a:t>
            </a:r>
          </a:p>
          <a:p>
            <a:pPr>
              <a:buFont typeface="Wingdings" panose="05000000000000000000" pitchFamily="2" charset="2"/>
              <a:buChar char="Ø"/>
            </a:pPr>
            <a:r>
              <a:rPr lang="en-US" dirty="0" err="1"/>
              <a:t>Eg</a:t>
            </a:r>
            <a:r>
              <a:rPr lang="en-US" dirty="0"/>
              <a:t>:</a:t>
            </a:r>
            <a:r>
              <a:rPr lang="en-IN" dirty="0"/>
              <a:t>Colourless blue idea </a:t>
            </a:r>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30</a:t>
            </a:fld>
            <a:endParaRPr lang="en-US"/>
          </a:p>
        </p:txBody>
      </p:sp>
    </p:spTree>
    <p:extLst>
      <p:ext uri="{BB962C8B-B14F-4D97-AF65-F5344CB8AC3E}">
        <p14:creationId xmlns:p14="http://schemas.microsoft.com/office/powerpoint/2010/main" val="1210658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Discourse  </a:t>
            </a:r>
            <a:r>
              <a:rPr lang="en-IN" dirty="0" err="1"/>
              <a:t>integeration</a:t>
            </a:r>
            <a:endParaRPr lang="en-IN" dirty="0"/>
          </a:p>
        </p:txBody>
      </p:sp>
      <p:sp>
        <p:nvSpPr>
          <p:cNvPr id="3" name="Content Placeholder 2"/>
          <p:cNvSpPr>
            <a:spLocks noGrp="1"/>
          </p:cNvSpPr>
          <p:nvPr>
            <p:ph idx="1"/>
          </p:nvPr>
        </p:nvSpPr>
        <p:spPr>
          <a:xfrm>
            <a:off x="395536" y="1524000"/>
            <a:ext cx="8229600" cy="4525963"/>
          </a:xfrm>
        </p:spPr>
        <p:txBody>
          <a:bodyPr/>
          <a:lstStyle/>
          <a:p>
            <a:pPr>
              <a:buFont typeface="Wingdings" panose="05000000000000000000" pitchFamily="2" charset="2"/>
              <a:buChar char="Ø"/>
            </a:pPr>
            <a:r>
              <a:rPr lang="en-US" dirty="0"/>
              <a:t>The meaning of any sentence depends upon the meaning of the sentence just before it</a:t>
            </a:r>
          </a:p>
          <a:p>
            <a:pPr>
              <a:buFont typeface="Wingdings" panose="05000000000000000000" pitchFamily="2" charset="2"/>
              <a:buChar char="Ø"/>
            </a:pPr>
            <a:r>
              <a:rPr lang="en-US" dirty="0" err="1"/>
              <a:t>Eg</a:t>
            </a:r>
            <a:r>
              <a:rPr lang="en-US" dirty="0"/>
              <a:t>:</a:t>
            </a:r>
          </a:p>
          <a:p>
            <a:pPr marL="0" indent="0">
              <a:buNone/>
            </a:pPr>
            <a:r>
              <a:rPr lang="en-IN" dirty="0"/>
              <a:t>she wanted it </a:t>
            </a:r>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31</a:t>
            </a:fld>
            <a:endParaRPr lang="en-US"/>
          </a:p>
        </p:txBody>
      </p:sp>
    </p:spTree>
    <p:extLst>
      <p:ext uri="{BB962C8B-B14F-4D97-AF65-F5344CB8AC3E}">
        <p14:creationId xmlns:p14="http://schemas.microsoft.com/office/powerpoint/2010/main" val="1063737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Pragmatic  analysis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altLang="en-US" dirty="0">
                <a:solidFill>
                  <a:srgbClr val="000000"/>
                </a:solidFill>
              </a:rPr>
              <a:t> how sentences are used in different situations how use affects the interpretation of sentence</a:t>
            </a:r>
          </a:p>
          <a:p>
            <a:pPr>
              <a:buFont typeface="Wingdings" panose="05000000000000000000" pitchFamily="2" charset="2"/>
              <a:buChar char="Ø"/>
            </a:pPr>
            <a:r>
              <a:rPr lang="en-US" dirty="0" err="1">
                <a:solidFill>
                  <a:srgbClr val="000000"/>
                </a:solidFill>
              </a:rPr>
              <a:t>Eg</a:t>
            </a:r>
            <a:r>
              <a:rPr lang="en-US" dirty="0">
                <a:solidFill>
                  <a:srgbClr val="000000"/>
                </a:solidFill>
              </a:rPr>
              <a:t>:</a:t>
            </a:r>
          </a:p>
          <a:p>
            <a:pPr>
              <a:buFont typeface="Wingdings" panose="05000000000000000000" pitchFamily="2" charset="2"/>
              <a:buChar char="Ø"/>
            </a:pPr>
            <a:r>
              <a:rPr lang="en-US" dirty="0"/>
              <a:t>Close the window </a:t>
            </a:r>
          </a:p>
          <a:p>
            <a:pPr>
              <a:buFont typeface="Wingdings" panose="05000000000000000000" pitchFamily="2" charset="2"/>
              <a:buChar char="Ø"/>
            </a:pPr>
            <a:r>
              <a:rPr lang="en-US" dirty="0"/>
              <a:t>She cuts banana with a pen</a:t>
            </a:r>
            <a:endParaRPr lang="en-IN"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32</a:t>
            </a:fld>
            <a:endParaRPr lang="en-US"/>
          </a:p>
        </p:txBody>
      </p:sp>
    </p:spTree>
    <p:extLst>
      <p:ext uri="{BB962C8B-B14F-4D97-AF65-F5344CB8AC3E}">
        <p14:creationId xmlns:p14="http://schemas.microsoft.com/office/powerpoint/2010/main" val="4033865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8"/>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IN" sz="2400" dirty="0"/>
              <a:t>Introduction to Natural Language Processing</a:t>
            </a:r>
            <a:endParaRPr dirty="0"/>
          </a:p>
          <a:p>
            <a:pPr marL="0" lvl="0" indent="0" algn="l" rtl="0">
              <a:lnSpc>
                <a:spcPct val="180000"/>
              </a:lnSpc>
              <a:spcBef>
                <a:spcPts val="0"/>
              </a:spcBef>
              <a:spcAft>
                <a:spcPts val="0"/>
              </a:spcAft>
              <a:buClr>
                <a:srgbClr val="C00000"/>
              </a:buClr>
              <a:buSzPts val="2000"/>
              <a:buNone/>
            </a:pPr>
            <a:r>
              <a:rPr lang="en-IN" sz="2000" dirty="0">
                <a:solidFill>
                  <a:srgbClr val="C00000"/>
                </a:solidFill>
              </a:rPr>
              <a:t>Different Levels of Language Analysis</a:t>
            </a:r>
            <a:endParaRPr sz="2000" dirty="0">
              <a:solidFill>
                <a:srgbClr val="C00000"/>
              </a:solidFill>
            </a:endParaRPr>
          </a:p>
        </p:txBody>
      </p:sp>
      <p:sp>
        <p:nvSpPr>
          <p:cNvPr id="5" name="Rectangle 4"/>
          <p:cNvSpPr/>
          <p:nvPr/>
        </p:nvSpPr>
        <p:spPr>
          <a:xfrm>
            <a:off x="304800" y="1541026"/>
            <a:ext cx="4724400" cy="659155"/>
          </a:xfrm>
          <a:prstGeom prst="rect">
            <a:avLst/>
          </a:prstGeom>
        </p:spPr>
        <p:txBody>
          <a:bodyPr wrap="square">
            <a:spAutoFit/>
          </a:bodyPr>
          <a:lstStyle/>
          <a:p>
            <a:pPr marL="12065">
              <a:spcBef>
                <a:spcPts val="100"/>
              </a:spcBef>
              <a:tabLst>
                <a:tab pos="355600" algn="l"/>
                <a:tab pos="356235" algn="l"/>
              </a:tabLst>
            </a:pPr>
            <a:r>
              <a:rPr lang="en-US" altLang="en-US" sz="1800" spc="-5" dirty="0">
                <a:latin typeface="+mn-lt"/>
                <a:ea typeface="Cambria" panose="02040503050406030204" pitchFamily="18" charset="0"/>
                <a:cs typeface="Tahoma"/>
              </a:rPr>
              <a:t>Examples: </a:t>
            </a:r>
          </a:p>
          <a:p>
            <a:pPr marL="12065">
              <a:spcBef>
                <a:spcPts val="100"/>
              </a:spcBef>
              <a:tabLst>
                <a:tab pos="355600" algn="l"/>
                <a:tab pos="356235" algn="l"/>
              </a:tabLst>
            </a:pPr>
            <a:r>
              <a:rPr lang="en-US" altLang="en-US" sz="1800" spc="-5" dirty="0">
                <a:latin typeface="+mn-lt"/>
                <a:ea typeface="Cambria" panose="02040503050406030204" pitchFamily="18" charset="0"/>
                <a:cs typeface="Tahoma"/>
              </a:rPr>
              <a:t>Syntax, Semantics, and Pragmatics</a:t>
            </a:r>
            <a:endParaRPr lang="tr-TR" altLang="en-US" sz="1800" spc="-5" dirty="0">
              <a:latin typeface="+mn-lt"/>
              <a:ea typeface="Cambria" panose="02040503050406030204" pitchFamily="18" charset="0"/>
              <a:cs typeface="Tahoma"/>
            </a:endParaRPr>
          </a:p>
        </p:txBody>
      </p:sp>
      <p:sp>
        <p:nvSpPr>
          <p:cNvPr id="7" name="Rectangle 6"/>
          <p:cNvSpPr/>
          <p:nvPr/>
        </p:nvSpPr>
        <p:spPr>
          <a:xfrm>
            <a:off x="4526280" y="1371600"/>
            <a:ext cx="4648200" cy="369332"/>
          </a:xfrm>
          <a:prstGeom prst="rect">
            <a:avLst/>
          </a:prstGeom>
        </p:spPr>
        <p:txBody>
          <a:bodyPr wrap="square">
            <a:spAutoFit/>
          </a:bodyPr>
          <a:lstStyle/>
          <a:p>
            <a:pPr marL="12065">
              <a:spcBef>
                <a:spcPts val="100"/>
              </a:spcBef>
              <a:tabLst>
                <a:tab pos="355600" algn="l"/>
                <a:tab pos="356235" algn="l"/>
              </a:tabLst>
            </a:pPr>
            <a:r>
              <a:rPr lang="en-IN" sz="1800" spc="-5" dirty="0">
                <a:solidFill>
                  <a:srgbClr val="0070C0"/>
                </a:solidFill>
                <a:latin typeface="+mn-lt"/>
                <a:ea typeface="Cambria" panose="02040503050406030204" pitchFamily="18" charset="0"/>
              </a:rPr>
              <a:t>-</a:t>
            </a:r>
            <a:endParaRPr lang="tr-TR" altLang="en-US" sz="1800" spc="-5" dirty="0">
              <a:latin typeface="+mn-lt"/>
              <a:ea typeface="Cambria" panose="02040503050406030204" pitchFamily="18" charset="0"/>
              <a:cs typeface="Tahoma"/>
            </a:endParaRPr>
          </a:p>
        </p:txBody>
      </p:sp>
      <p:pic>
        <p:nvPicPr>
          <p:cNvPr id="2" name="Picture 1"/>
          <p:cNvPicPr>
            <a:picLocks noChangeAspect="1"/>
          </p:cNvPicPr>
          <p:nvPr/>
        </p:nvPicPr>
        <p:blipFill>
          <a:blip r:embed="rId3"/>
          <a:stretch>
            <a:fillRect/>
          </a:stretch>
        </p:blipFill>
        <p:spPr>
          <a:xfrm>
            <a:off x="5334000" y="723900"/>
            <a:ext cx="3642302" cy="2657474"/>
          </a:xfrm>
          <a:prstGeom prst="rect">
            <a:avLst/>
          </a:prstGeom>
        </p:spPr>
      </p:pic>
      <p:sp>
        <p:nvSpPr>
          <p:cNvPr id="3" name="Rectangle 2"/>
          <p:cNvSpPr/>
          <p:nvPr/>
        </p:nvSpPr>
        <p:spPr>
          <a:xfrm>
            <a:off x="304800" y="2590800"/>
            <a:ext cx="5715000" cy="4524315"/>
          </a:xfrm>
          <a:prstGeom prst="rect">
            <a:avLst/>
          </a:prstGeom>
        </p:spPr>
        <p:txBody>
          <a:bodyPr wrap="square">
            <a:spAutoFit/>
          </a:bodyPr>
          <a:lstStyle/>
          <a:p>
            <a:pPr marL="514350" indent="-514350">
              <a:buFont typeface="+mj-lt"/>
              <a:buAutoNum type="arabicPeriod"/>
            </a:pPr>
            <a:r>
              <a:rPr lang="en-US" sz="1800" dirty="0">
                <a:latin typeface="+mn-lt"/>
                <a:ea typeface="Cambria" panose="02040503050406030204" pitchFamily="18" charset="0"/>
              </a:rPr>
              <a:t>Green frogs have large noses.</a:t>
            </a:r>
          </a:p>
          <a:p>
            <a:pPr lvl="1"/>
            <a:r>
              <a:rPr lang="en-US" sz="1800" dirty="0">
                <a:solidFill>
                  <a:srgbClr val="FF0000"/>
                </a:solidFill>
                <a:latin typeface="+mn-lt"/>
                <a:ea typeface="Cambria" panose="02040503050406030204" pitchFamily="18" charset="0"/>
              </a:rPr>
              <a:t>Pragmatically wrong</a:t>
            </a:r>
          </a:p>
          <a:p>
            <a:pPr marL="514350" indent="-514350">
              <a:buFont typeface="+mj-lt"/>
              <a:buAutoNum type="arabicPeriod"/>
            </a:pPr>
            <a:endParaRPr lang="en-US" sz="1800" dirty="0">
              <a:latin typeface="+mn-lt"/>
              <a:ea typeface="Cambria" panose="02040503050406030204" pitchFamily="18" charset="0"/>
            </a:endParaRPr>
          </a:p>
          <a:p>
            <a:pPr marL="514350" indent="-514350">
              <a:buFont typeface="+mj-lt"/>
              <a:buAutoNum type="arabicPeriod"/>
            </a:pPr>
            <a:r>
              <a:rPr lang="en-US" sz="1800" dirty="0">
                <a:latin typeface="+mn-lt"/>
                <a:ea typeface="Cambria" panose="02040503050406030204" pitchFamily="18" charset="0"/>
              </a:rPr>
              <a:t>Green ideas have large noses.</a:t>
            </a:r>
          </a:p>
          <a:p>
            <a:pPr lvl="1"/>
            <a:r>
              <a:rPr lang="en-IN" sz="1800" dirty="0">
                <a:solidFill>
                  <a:srgbClr val="FF0000"/>
                </a:solidFill>
                <a:latin typeface="+mn-lt"/>
                <a:ea typeface="Cambria" panose="02040503050406030204" pitchFamily="18" charset="0"/>
              </a:rPr>
              <a:t>Semantics, and Pragmatics</a:t>
            </a:r>
            <a:endParaRPr lang="en-US" sz="1800" dirty="0">
              <a:solidFill>
                <a:srgbClr val="FF0000"/>
              </a:solidFill>
              <a:latin typeface="+mn-lt"/>
              <a:ea typeface="Cambria" panose="02040503050406030204" pitchFamily="18" charset="0"/>
            </a:endParaRPr>
          </a:p>
          <a:p>
            <a:pPr marL="514350" indent="-514350">
              <a:buFont typeface="+mj-lt"/>
              <a:buAutoNum type="arabicPeriod"/>
            </a:pPr>
            <a:endParaRPr lang="en-US" sz="1800" dirty="0">
              <a:latin typeface="+mn-lt"/>
              <a:ea typeface="Cambria" panose="02040503050406030204" pitchFamily="18" charset="0"/>
            </a:endParaRPr>
          </a:p>
          <a:p>
            <a:pPr marL="514350" indent="-514350">
              <a:buFont typeface="+mj-lt"/>
              <a:buAutoNum type="arabicPeriod"/>
            </a:pPr>
            <a:r>
              <a:rPr lang="en-US" sz="1800" dirty="0">
                <a:latin typeface="+mn-lt"/>
                <a:ea typeface="Cambria" panose="02040503050406030204" pitchFamily="18" charset="0"/>
              </a:rPr>
              <a:t>Large have green ideas nose.</a:t>
            </a:r>
          </a:p>
          <a:p>
            <a:pPr lvl="1"/>
            <a:r>
              <a:rPr lang="en-US" sz="1800" dirty="0">
                <a:solidFill>
                  <a:srgbClr val="FF0000"/>
                </a:solidFill>
                <a:latin typeface="+mn-lt"/>
                <a:ea typeface="Cambria" panose="02040503050406030204" pitchFamily="18" charset="0"/>
              </a:rPr>
              <a:t>All three wrong</a:t>
            </a:r>
          </a:p>
          <a:p>
            <a:pPr lvl="1"/>
            <a:endParaRPr lang="en-US" sz="1800" dirty="0">
              <a:solidFill>
                <a:srgbClr val="FF0000"/>
              </a:solidFill>
              <a:latin typeface="+mn-lt"/>
              <a:ea typeface="Cambria" panose="02040503050406030204" pitchFamily="18" charset="0"/>
            </a:endParaRPr>
          </a:p>
          <a:p>
            <a:pPr marL="514350" indent="-514350">
              <a:buFont typeface="+mj-lt"/>
              <a:buAutoNum type="arabicPeriod"/>
            </a:pPr>
            <a:r>
              <a:rPr lang="en-US" sz="1800" dirty="0">
                <a:latin typeface="+mn-lt"/>
                <a:ea typeface="Cambria" panose="02040503050406030204" pitchFamily="18" charset="0"/>
              </a:rPr>
              <a:t>I are fond in animals  (exercise)</a:t>
            </a:r>
          </a:p>
          <a:p>
            <a:pPr marL="514350" indent="-514350">
              <a:buFont typeface="+mj-lt"/>
              <a:buAutoNum type="arabicPeriod"/>
            </a:pPr>
            <a:endParaRPr lang="en-US" sz="1800" dirty="0">
              <a:latin typeface="+mn-lt"/>
              <a:ea typeface="Cambria" panose="02040503050406030204" pitchFamily="18" charset="0"/>
            </a:endParaRPr>
          </a:p>
          <a:p>
            <a:pPr marL="514350" indent="-514350">
              <a:buFont typeface="+mj-lt"/>
              <a:buAutoNum type="arabicPeriod"/>
            </a:pPr>
            <a:r>
              <a:rPr lang="en-US" sz="1800" dirty="0">
                <a:latin typeface="+mn-lt"/>
                <a:ea typeface="Cambria" panose="02040503050406030204" pitchFamily="18" charset="0"/>
              </a:rPr>
              <a:t>My cat is studying Linguistics </a:t>
            </a:r>
            <a:r>
              <a:rPr lang="en-US" sz="1800" dirty="0">
                <a:ea typeface="Cambria" panose="02040503050406030204" pitchFamily="18" charset="0"/>
              </a:rPr>
              <a:t>(exercise)</a:t>
            </a:r>
            <a:endParaRPr lang="en-US" sz="1800" dirty="0">
              <a:latin typeface="+mn-lt"/>
              <a:ea typeface="Cambria" panose="02040503050406030204" pitchFamily="18" charset="0"/>
            </a:endParaRPr>
          </a:p>
          <a:p>
            <a:pPr marL="514350" indent="-514350">
              <a:buFont typeface="+mj-lt"/>
              <a:buAutoNum type="arabicPeriod"/>
            </a:pPr>
            <a:endParaRPr lang="en-US" sz="1800" dirty="0">
              <a:latin typeface="+mn-lt"/>
              <a:ea typeface="Cambria" panose="02040503050406030204" pitchFamily="18" charset="0"/>
            </a:endParaRPr>
          </a:p>
          <a:p>
            <a:pPr marL="514350" indent="-514350">
              <a:buFont typeface="+mj-lt"/>
              <a:buAutoNum type="arabicPeriod"/>
            </a:pPr>
            <a:r>
              <a:rPr lang="en-US" sz="1800" dirty="0">
                <a:latin typeface="+mn-lt"/>
                <a:ea typeface="Cambria" panose="02040503050406030204" pitchFamily="18" charset="0"/>
              </a:rPr>
              <a:t>Spain is larger than China </a:t>
            </a:r>
            <a:r>
              <a:rPr lang="en-US" sz="1800" dirty="0">
                <a:ea typeface="Cambria" panose="02040503050406030204" pitchFamily="18" charset="0"/>
              </a:rPr>
              <a:t>(exercise)</a:t>
            </a:r>
            <a:endParaRPr lang="en-IN" sz="1800" dirty="0">
              <a:latin typeface="+mn-lt"/>
              <a:ea typeface="Cambria" panose="02040503050406030204" pitchFamily="18" charset="0"/>
            </a:endParaRPr>
          </a:p>
          <a:p>
            <a:pPr lvl="1"/>
            <a:endParaRPr lang="en-IN" sz="1800" dirty="0">
              <a:solidFill>
                <a:srgbClr val="FF0000"/>
              </a:solidFill>
              <a:latin typeface="+mn-lt"/>
              <a:ea typeface="Cambria" panose="02040503050406030204" pitchFamily="18" charset="0"/>
            </a:endParaRPr>
          </a:p>
          <a:p>
            <a:endParaRPr lang="en-US" sz="1800" dirty="0">
              <a:solidFill>
                <a:srgbClr val="C00000"/>
              </a:solidFill>
              <a:latin typeface="+mn-lt"/>
              <a:ea typeface="Cambria" panose="02040503050406030204" pitchFamily="18" charset="0"/>
              <a:cs typeface="Times New Roman"/>
            </a:endParaRPr>
          </a:p>
        </p:txBody>
      </p:sp>
    </p:spTree>
    <p:extLst>
      <p:ext uri="{BB962C8B-B14F-4D97-AF65-F5344CB8AC3E}">
        <p14:creationId xmlns:p14="http://schemas.microsoft.com/office/powerpoint/2010/main" val="7120591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NLP is hard</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a:t>Ambiguity</a:t>
            </a:r>
          </a:p>
          <a:p>
            <a:pPr>
              <a:buFont typeface="Wingdings" panose="05000000000000000000" pitchFamily="2" charset="2"/>
              <a:buChar char="Ø"/>
            </a:pPr>
            <a:r>
              <a:rPr lang="en-IN" dirty="0" err="1"/>
              <a:t>Eg</a:t>
            </a:r>
            <a:r>
              <a:rPr lang="en-IN" dirty="0"/>
              <a:t>:</a:t>
            </a:r>
          </a:p>
          <a:p>
            <a:r>
              <a:rPr lang="en-IN" dirty="0"/>
              <a:t>Teacher strikes idle kids.</a:t>
            </a:r>
          </a:p>
          <a:p>
            <a:r>
              <a:rPr lang="en-IN" dirty="0"/>
              <a:t>Sarah gave a bath to her dog wearing a pink t-shirt.</a:t>
            </a:r>
          </a:p>
          <a:p>
            <a:r>
              <a:rPr lang="en-IN" dirty="0"/>
              <a:t>RBI raises interest rates or RBI raises, interest rates.</a:t>
            </a:r>
          </a:p>
          <a:p>
            <a:endParaRPr lang="en-IN" dirty="0"/>
          </a:p>
          <a:p>
            <a:endParaRPr lang="en-IN"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34</a:t>
            </a:fld>
            <a:endParaRPr lang="en-US"/>
          </a:p>
        </p:txBody>
      </p:sp>
    </p:spTree>
    <p:extLst>
      <p:ext uri="{BB962C8B-B14F-4D97-AF65-F5344CB8AC3E}">
        <p14:creationId xmlns:p14="http://schemas.microsoft.com/office/powerpoint/2010/main" val="35431111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1"/>
          <p:cNvSpPr>
            <a:spLocks noGrp="1" noChangeArrowheads="1"/>
          </p:cNvSpPr>
          <p:nvPr>
            <p:ph type="title"/>
          </p:nvPr>
        </p:nvSpPr>
        <p:spPr>
          <a:xfrm>
            <a:off x="152400" y="381000"/>
            <a:ext cx="7546890" cy="1079680"/>
          </a:xfrm>
          <a:prstGeom prst="rect">
            <a:avLst/>
          </a:prstGeom>
        </p:spPr>
        <p:txBody>
          <a:bodyPr/>
          <a:lstStyle/>
          <a:p>
            <a:pPr algn="l">
              <a:tabLst>
                <a:tab pos="0" algn="l"/>
                <a:tab pos="382986" algn="l"/>
                <a:tab pos="767330" algn="l"/>
                <a:tab pos="1151674" algn="l"/>
                <a:tab pos="1536019" algn="l"/>
                <a:tab pos="1920362" algn="l"/>
                <a:tab pos="2304707" algn="l"/>
                <a:tab pos="2689050" algn="l"/>
                <a:tab pos="3073395" algn="l"/>
                <a:tab pos="3457739" algn="l"/>
                <a:tab pos="3842083" algn="l"/>
                <a:tab pos="4226427" algn="l"/>
                <a:tab pos="4610771" algn="l"/>
                <a:tab pos="4995115" algn="l"/>
                <a:tab pos="5379459" algn="l"/>
                <a:tab pos="5763803" algn="l"/>
                <a:tab pos="6148147" algn="l"/>
                <a:tab pos="6532491" algn="l"/>
                <a:tab pos="6916836" algn="l"/>
                <a:tab pos="7301179" algn="l"/>
                <a:tab pos="7685524" algn="l"/>
              </a:tabLst>
            </a:pPr>
            <a:r>
              <a:rPr lang="en-IN" altLang="en-US" dirty="0"/>
              <a:t> </a:t>
            </a:r>
            <a:endParaRPr lang="en-IN" altLang="en-US" sz="3935" dirty="0"/>
          </a:p>
        </p:txBody>
      </p:sp>
      <p:sp>
        <p:nvSpPr>
          <p:cNvPr id="12292" name="Rectangle 2"/>
          <p:cNvSpPr>
            <a:spLocks noGrp="1" noChangeArrowheads="1"/>
          </p:cNvSpPr>
          <p:nvPr>
            <p:ph idx="1"/>
          </p:nvPr>
        </p:nvSpPr>
        <p:spPr>
          <a:xfrm>
            <a:off x="1523774" y="2134744"/>
            <a:ext cx="7620227" cy="3882770"/>
          </a:xfrm>
        </p:spPr>
        <p:txBody>
          <a:bodyPr/>
          <a:lstStyle/>
          <a:p>
            <a:pPr marL="787702" indent="-787702">
              <a:lnSpc>
                <a:spcPct val="90000"/>
              </a:lnSpc>
              <a:spcBef>
                <a:spcPts val="684"/>
              </a:spcBef>
              <a:buClr>
                <a:srgbClr val="996600"/>
              </a:buClr>
              <a:buFont typeface="Times New Roman" panose="02020603050405020304" pitchFamily="18" charset="0"/>
              <a:buAutoNum type="romanUcPeriod"/>
              <a:tabLst>
                <a:tab pos="787702" algn="l"/>
                <a:tab pos="877337" algn="l"/>
                <a:tab pos="1261681" algn="l"/>
                <a:tab pos="1646025" algn="l"/>
                <a:tab pos="2030369" algn="l"/>
                <a:tab pos="2414713" algn="l"/>
                <a:tab pos="2799057" algn="l"/>
                <a:tab pos="3183401" algn="l"/>
                <a:tab pos="3567746" algn="l"/>
                <a:tab pos="3952089" algn="l"/>
                <a:tab pos="4336434" algn="l"/>
                <a:tab pos="4720777" algn="l"/>
                <a:tab pos="5105122" algn="l"/>
                <a:tab pos="5489465" algn="l"/>
                <a:tab pos="5873810" algn="l"/>
                <a:tab pos="6258154" algn="l"/>
                <a:tab pos="6642498" algn="l"/>
                <a:tab pos="7026842" algn="l"/>
                <a:tab pos="7411186" algn="l"/>
                <a:tab pos="7795530" algn="l"/>
                <a:tab pos="8179874" algn="l"/>
              </a:tabLst>
            </a:pPr>
            <a:r>
              <a:rPr lang="en-IN" altLang="en-US" sz="2738" u="sng" dirty="0"/>
              <a:t>Structural Ambiguities</a:t>
            </a:r>
            <a:r>
              <a:rPr lang="en-IN" altLang="en-US" sz="2738" dirty="0"/>
              <a:t> </a:t>
            </a:r>
          </a:p>
          <a:p>
            <a:pPr marL="1828011" lvl="3" indent="-497067">
              <a:lnSpc>
                <a:spcPct val="90000"/>
              </a:lnSpc>
              <a:spcBef>
                <a:spcPts val="449"/>
              </a:spcBef>
              <a:buFont typeface="Wingdings" panose="05000000000000000000" pitchFamily="2" charset="2"/>
              <a:buChar char="§"/>
              <a:tabLst>
                <a:tab pos="787702" algn="l"/>
                <a:tab pos="877337" algn="l"/>
                <a:tab pos="1261681" algn="l"/>
                <a:tab pos="1646025" algn="l"/>
                <a:tab pos="2030369" algn="l"/>
                <a:tab pos="2414713" algn="l"/>
                <a:tab pos="2799057" algn="l"/>
                <a:tab pos="3183401" algn="l"/>
                <a:tab pos="3567746" algn="l"/>
                <a:tab pos="3952089" algn="l"/>
                <a:tab pos="4336434" algn="l"/>
                <a:tab pos="4720777" algn="l"/>
                <a:tab pos="5105122" algn="l"/>
                <a:tab pos="5489465" algn="l"/>
                <a:tab pos="5873810" algn="l"/>
                <a:tab pos="6258154" algn="l"/>
                <a:tab pos="6642498" algn="l"/>
                <a:tab pos="7026842" algn="l"/>
                <a:tab pos="7411186" algn="l"/>
                <a:tab pos="7795530" algn="l"/>
                <a:tab pos="8179874" algn="l"/>
              </a:tabLst>
            </a:pPr>
            <a:r>
              <a:rPr lang="en-IN" sz="2800" dirty="0"/>
              <a:t>The professor said on Monday he would give an exam </a:t>
            </a:r>
          </a:p>
          <a:p>
            <a:pPr marL="1828011" lvl="3" indent="-497067">
              <a:lnSpc>
                <a:spcPct val="90000"/>
              </a:lnSpc>
              <a:spcBef>
                <a:spcPts val="449"/>
              </a:spcBef>
              <a:buFont typeface="Wingdings" panose="05000000000000000000" pitchFamily="2" charset="2"/>
              <a:buChar char="§"/>
              <a:tabLst>
                <a:tab pos="787702" algn="l"/>
                <a:tab pos="877337" algn="l"/>
                <a:tab pos="1261681" algn="l"/>
                <a:tab pos="1646025" algn="l"/>
                <a:tab pos="2030369" algn="l"/>
                <a:tab pos="2414713" algn="l"/>
                <a:tab pos="2799057" algn="l"/>
                <a:tab pos="3183401" algn="l"/>
                <a:tab pos="3567746" algn="l"/>
                <a:tab pos="3952089" algn="l"/>
                <a:tab pos="4336434" algn="l"/>
                <a:tab pos="4720777" algn="l"/>
                <a:tab pos="5105122" algn="l"/>
                <a:tab pos="5489465" algn="l"/>
                <a:tab pos="5873810" algn="l"/>
                <a:tab pos="6258154" algn="l"/>
                <a:tab pos="6642498" algn="l"/>
                <a:tab pos="7026842" algn="l"/>
                <a:tab pos="7411186" algn="l"/>
                <a:tab pos="7795530" algn="l"/>
                <a:tab pos="8179874" algn="l"/>
              </a:tabLst>
            </a:pPr>
            <a:r>
              <a:rPr lang="en-IN" altLang="en-US" sz="2400" dirty="0"/>
              <a:t>Visiting relatives can be nuisance. (two meanings)</a:t>
            </a:r>
          </a:p>
          <a:p>
            <a:pPr marL="787702" indent="-787702">
              <a:lnSpc>
                <a:spcPct val="90000"/>
              </a:lnSpc>
              <a:spcBef>
                <a:spcPts val="684"/>
              </a:spcBef>
              <a:buClr>
                <a:srgbClr val="996600"/>
              </a:buClr>
              <a:buFont typeface="Times New Roman" panose="02020603050405020304" pitchFamily="18" charset="0"/>
              <a:buAutoNum type="romanUcPeriod"/>
              <a:tabLst>
                <a:tab pos="787702" algn="l"/>
                <a:tab pos="877337" algn="l"/>
                <a:tab pos="1261681" algn="l"/>
                <a:tab pos="1646025" algn="l"/>
                <a:tab pos="2030369" algn="l"/>
                <a:tab pos="2414713" algn="l"/>
                <a:tab pos="2799057" algn="l"/>
                <a:tab pos="3183401" algn="l"/>
                <a:tab pos="3567746" algn="l"/>
                <a:tab pos="3952089" algn="l"/>
                <a:tab pos="4336434" algn="l"/>
                <a:tab pos="4720777" algn="l"/>
                <a:tab pos="5105122" algn="l"/>
                <a:tab pos="5489465" algn="l"/>
                <a:tab pos="5873810" algn="l"/>
                <a:tab pos="6258154" algn="l"/>
                <a:tab pos="6642498" algn="l"/>
                <a:tab pos="7026842" algn="l"/>
                <a:tab pos="7411186" algn="l"/>
                <a:tab pos="7795530" algn="l"/>
                <a:tab pos="8179874" algn="l"/>
              </a:tabLst>
            </a:pPr>
            <a:r>
              <a:rPr lang="en-IN" altLang="en-US" sz="2738" u="sng" dirty="0"/>
              <a:t>Lexical Ambiguities:</a:t>
            </a:r>
          </a:p>
          <a:p>
            <a:pPr lvl="3">
              <a:lnSpc>
                <a:spcPct val="90000"/>
              </a:lnSpc>
              <a:spcBef>
                <a:spcPts val="684"/>
              </a:spcBef>
              <a:buClr>
                <a:srgbClr val="996600"/>
              </a:buClr>
              <a:buFont typeface="Wingdings" panose="05000000000000000000" pitchFamily="2" charset="2"/>
              <a:buChar char="§"/>
              <a:tabLst>
                <a:tab pos="787702" algn="l"/>
                <a:tab pos="877337" algn="l"/>
                <a:tab pos="1261681" algn="l"/>
                <a:tab pos="1646025" algn="l"/>
                <a:tab pos="2030369" algn="l"/>
                <a:tab pos="2414713" algn="l"/>
                <a:tab pos="2799057" algn="l"/>
                <a:tab pos="3183401" algn="l"/>
                <a:tab pos="3567746" algn="l"/>
                <a:tab pos="3952089" algn="l"/>
                <a:tab pos="4336434" algn="l"/>
                <a:tab pos="4720777" algn="l"/>
                <a:tab pos="5105122" algn="l"/>
                <a:tab pos="5489465" algn="l"/>
                <a:tab pos="5873810" algn="l"/>
                <a:tab pos="6258154" algn="l"/>
                <a:tab pos="6642498" algn="l"/>
                <a:tab pos="7026842" algn="l"/>
                <a:tab pos="7411186" algn="l"/>
                <a:tab pos="7795530" algn="l"/>
                <a:tab pos="8179874" algn="l"/>
              </a:tabLst>
            </a:pPr>
            <a:r>
              <a:rPr lang="en-IN" altLang="en-US" sz="2400" dirty="0"/>
              <a:t>     </a:t>
            </a:r>
            <a:r>
              <a:rPr lang="en-IN" sz="2400" dirty="0"/>
              <a:t>I saw bats </a:t>
            </a:r>
          </a:p>
          <a:p>
            <a:pPr marL="0" indent="0">
              <a:lnSpc>
                <a:spcPct val="90000"/>
              </a:lnSpc>
              <a:spcBef>
                <a:spcPts val="684"/>
              </a:spcBef>
              <a:buClr>
                <a:srgbClr val="996600"/>
              </a:buClr>
              <a:buNone/>
              <a:tabLst>
                <a:tab pos="787702" algn="l"/>
                <a:tab pos="877337" algn="l"/>
                <a:tab pos="1261681" algn="l"/>
                <a:tab pos="1646025" algn="l"/>
                <a:tab pos="2030369" algn="l"/>
                <a:tab pos="2414713" algn="l"/>
                <a:tab pos="2799057" algn="l"/>
                <a:tab pos="3183401" algn="l"/>
                <a:tab pos="3567746" algn="l"/>
                <a:tab pos="3952089" algn="l"/>
                <a:tab pos="4336434" algn="l"/>
                <a:tab pos="4720777" algn="l"/>
                <a:tab pos="5105122" algn="l"/>
                <a:tab pos="5489465" algn="l"/>
                <a:tab pos="5873810" algn="l"/>
                <a:tab pos="6258154" algn="l"/>
                <a:tab pos="6642498" algn="l"/>
                <a:tab pos="7026842" algn="l"/>
                <a:tab pos="7411186" algn="l"/>
                <a:tab pos="7795530" algn="l"/>
                <a:tab pos="8179874" algn="l"/>
              </a:tabLst>
            </a:pPr>
            <a:endParaRPr lang="en-IN" altLang="en-US" sz="2738" u="sng" dirty="0"/>
          </a:p>
        </p:txBody>
      </p:sp>
      <p:sp>
        <p:nvSpPr>
          <p:cNvPr id="2" name="Slide Number Placeholder 1"/>
          <p:cNvSpPr>
            <a:spLocks noGrp="1"/>
          </p:cNvSpPr>
          <p:nvPr>
            <p:ph type="sldNum" sz="quarter" idx="12"/>
          </p:nvPr>
        </p:nvSpPr>
        <p:spPr/>
        <p:txBody>
          <a:bodyPr/>
          <a:lstStyle/>
          <a:p>
            <a:pPr>
              <a:defRPr/>
            </a:pPr>
            <a:fld id="{60DB935C-A2BB-404C-A6C5-67E9068028EC}" type="slidenum">
              <a:rPr lang="en-US" smtClean="0"/>
              <a:pPr>
                <a:defRPr/>
              </a:pPr>
              <a:t>35</a:t>
            </a:fld>
            <a:endParaRPr lang="en-US"/>
          </a:p>
        </p:txBody>
      </p:sp>
      <p:sp>
        <p:nvSpPr>
          <p:cNvPr id="3" name="Rectangle 2"/>
          <p:cNvSpPr/>
          <p:nvPr/>
        </p:nvSpPr>
        <p:spPr>
          <a:xfrm>
            <a:off x="152400" y="1541298"/>
            <a:ext cx="4108432" cy="523220"/>
          </a:xfrm>
          <a:prstGeom prst="rect">
            <a:avLst/>
          </a:prstGeom>
        </p:spPr>
        <p:txBody>
          <a:bodyPr wrap="none">
            <a:spAutoFit/>
          </a:bodyPr>
          <a:lstStyle/>
          <a:p>
            <a:pPr marL="457200" indent="-457200">
              <a:buFont typeface="Arial" panose="020B0604020202020204" pitchFamily="34" charset="0"/>
              <a:buChar char="•"/>
            </a:pPr>
            <a:r>
              <a:rPr lang="en-IN" altLang="en-US" sz="2800" b="1" dirty="0"/>
              <a:t>Ambiguities  at all level</a:t>
            </a:r>
            <a:endParaRPr lang="en-IN" sz="2800" b="1" dirty="0"/>
          </a:p>
        </p:txBody>
      </p:sp>
    </p:spTree>
    <p:extLst>
      <p:ext uri="{BB962C8B-B14F-4D97-AF65-F5344CB8AC3E}">
        <p14:creationId xmlns:p14="http://schemas.microsoft.com/office/powerpoint/2010/main" val="298714921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Contd..</a:t>
            </a:r>
          </a:p>
        </p:txBody>
      </p:sp>
      <p:sp>
        <p:nvSpPr>
          <p:cNvPr id="3" name="Content Placeholder 2"/>
          <p:cNvSpPr>
            <a:spLocks noGrp="1"/>
          </p:cNvSpPr>
          <p:nvPr>
            <p:ph idx="1"/>
          </p:nvPr>
        </p:nvSpPr>
        <p:spPr/>
        <p:txBody>
          <a:bodyPr>
            <a:normAutofit fontScale="92500" lnSpcReduction="20000"/>
          </a:bodyPr>
          <a:lstStyle/>
          <a:p>
            <a:pPr marL="0" indent="0">
              <a:buNone/>
            </a:pPr>
            <a:r>
              <a:rPr lang="en-IN" b="1" dirty="0"/>
              <a:t>Non Standard </a:t>
            </a:r>
            <a:r>
              <a:rPr lang="en-IN" b="1" dirty="0" err="1"/>
              <a:t>english</a:t>
            </a:r>
            <a:endParaRPr lang="en-IN" b="1" dirty="0"/>
          </a:p>
          <a:p>
            <a:pPr>
              <a:buFont typeface="Wingdings" panose="05000000000000000000" pitchFamily="2" charset="2"/>
              <a:buChar char="Ø"/>
            </a:pPr>
            <a:r>
              <a:rPr lang="en-IN" dirty="0"/>
              <a:t>don’t follow any rules </a:t>
            </a:r>
          </a:p>
          <a:p>
            <a:pPr>
              <a:buFont typeface="Wingdings" panose="05000000000000000000" pitchFamily="2" charset="2"/>
              <a:buChar char="Ø"/>
            </a:pPr>
            <a:r>
              <a:rPr lang="en-IN" dirty="0" err="1"/>
              <a:t>Eg</a:t>
            </a:r>
            <a:r>
              <a:rPr lang="en-IN" dirty="0"/>
              <a:t>: gm, </a:t>
            </a:r>
            <a:r>
              <a:rPr lang="en-IN" dirty="0" err="1"/>
              <a:t>gudnit</a:t>
            </a:r>
            <a:r>
              <a:rPr lang="en-IN" dirty="0"/>
              <a:t> etc.</a:t>
            </a:r>
          </a:p>
          <a:p>
            <a:pPr marL="0" indent="0">
              <a:buNone/>
            </a:pPr>
            <a:r>
              <a:rPr lang="en-IN" b="1" dirty="0"/>
              <a:t>Segmentation issues</a:t>
            </a:r>
          </a:p>
          <a:p>
            <a:pPr>
              <a:buFont typeface="Wingdings" panose="05000000000000000000" pitchFamily="2" charset="2"/>
              <a:buChar char="Ø"/>
            </a:pPr>
            <a:r>
              <a:rPr lang="en-IN" b="1" dirty="0" err="1"/>
              <a:t>Eg</a:t>
            </a:r>
            <a:r>
              <a:rPr lang="en-IN" b="1" dirty="0"/>
              <a:t> </a:t>
            </a:r>
            <a:r>
              <a:rPr lang="en-IN" dirty="0"/>
              <a:t>The old city-bus stop</a:t>
            </a:r>
          </a:p>
          <a:p>
            <a:pPr marL="0" indent="0">
              <a:buNone/>
            </a:pPr>
            <a:r>
              <a:rPr lang="en-IN" b="1" dirty="0"/>
              <a:t>Idioms</a:t>
            </a:r>
          </a:p>
          <a:p>
            <a:pPr>
              <a:buFont typeface="Wingdings" panose="05000000000000000000" pitchFamily="2" charset="2"/>
              <a:buChar char="Ø"/>
            </a:pPr>
            <a:r>
              <a:rPr lang="en-IN" dirty="0" err="1"/>
              <a:t>Eg</a:t>
            </a:r>
            <a:r>
              <a:rPr lang="en-IN" dirty="0"/>
              <a:t>:</a:t>
            </a:r>
          </a:p>
          <a:p>
            <a:pPr marL="0" indent="0">
              <a:buNone/>
            </a:pPr>
            <a:r>
              <a:rPr lang="en-IN" dirty="0"/>
              <a:t>    dark horse </a:t>
            </a:r>
          </a:p>
          <a:p>
            <a:pPr marL="0" indent="0">
              <a:buNone/>
            </a:pPr>
            <a:r>
              <a:rPr lang="en-IN" dirty="0"/>
              <a:t>     lose face</a:t>
            </a:r>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36</a:t>
            </a:fld>
            <a:endParaRPr lang="en-US"/>
          </a:p>
        </p:txBody>
      </p:sp>
    </p:spTree>
    <p:extLst>
      <p:ext uri="{BB962C8B-B14F-4D97-AF65-F5344CB8AC3E}">
        <p14:creationId xmlns:p14="http://schemas.microsoft.com/office/powerpoint/2010/main" val="2238400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0" indent="0">
              <a:buNone/>
            </a:pPr>
            <a:r>
              <a:rPr lang="en-IN" b="1" dirty="0"/>
              <a:t>World knowledge</a:t>
            </a:r>
          </a:p>
          <a:p>
            <a:pPr marL="0" indent="0">
              <a:buNone/>
            </a:pPr>
            <a:r>
              <a:rPr lang="en-IN" u="sng" dirty="0" err="1"/>
              <a:t>Eg</a:t>
            </a:r>
            <a:r>
              <a:rPr lang="en-IN" u="sng" dirty="0"/>
              <a:t>:</a:t>
            </a:r>
          </a:p>
          <a:p>
            <a:pPr marL="0" indent="0">
              <a:buNone/>
            </a:pPr>
            <a:r>
              <a:rPr lang="en-IN" dirty="0"/>
              <a:t>Mary and Sue are sisters.</a:t>
            </a:r>
          </a:p>
          <a:p>
            <a:pPr marL="0" indent="0">
              <a:buNone/>
            </a:pPr>
            <a:r>
              <a:rPr lang="en-IN" dirty="0"/>
              <a:t>Mary and Sue are mothers.</a:t>
            </a:r>
          </a:p>
          <a:p>
            <a:pPr marL="0" indent="0">
              <a:buNone/>
            </a:pPr>
            <a:r>
              <a:rPr lang="en-IN" b="1" dirty="0"/>
              <a:t>Tricky entity names</a:t>
            </a:r>
          </a:p>
          <a:p>
            <a:r>
              <a:rPr lang="en-IN" dirty="0"/>
              <a:t>Let it be was recorded.</a:t>
            </a:r>
          </a:p>
          <a:p>
            <a:r>
              <a:rPr lang="en-IN" dirty="0"/>
              <a:t>Where is a bug’s life playing?</a:t>
            </a:r>
          </a:p>
          <a:p>
            <a:pPr marL="0" indent="0">
              <a:buNone/>
            </a:pPr>
            <a:endParaRPr lang="en-IN" b="1"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37</a:t>
            </a:fld>
            <a:endParaRPr lang="en-US"/>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BA9ADEE2-54EC-E67E-8CD5-DA08A81035E6}"/>
                  </a:ext>
                </a:extLst>
              </p14:cNvPr>
              <p14:cNvContentPartPr/>
              <p14:nvPr/>
            </p14:nvContentPartPr>
            <p14:xfrm>
              <a:off x="785160" y="4611240"/>
              <a:ext cx="3480120" cy="704880"/>
            </p14:xfrm>
          </p:contentPart>
        </mc:Choice>
        <mc:Fallback>
          <p:pic>
            <p:nvPicPr>
              <p:cNvPr id="5" name="Ink 4">
                <a:extLst>
                  <a:ext uri="{FF2B5EF4-FFF2-40B4-BE49-F238E27FC236}">
                    <a16:creationId xmlns:a16="http://schemas.microsoft.com/office/drawing/2014/main" id="{BA9ADEE2-54EC-E67E-8CD5-DA08A81035E6}"/>
                  </a:ext>
                </a:extLst>
              </p:cNvPr>
              <p:cNvPicPr/>
              <p:nvPr/>
            </p:nvPicPr>
            <p:blipFill>
              <a:blip r:embed="rId3"/>
              <a:stretch>
                <a:fillRect/>
              </a:stretch>
            </p:blipFill>
            <p:spPr>
              <a:xfrm>
                <a:off x="775800" y="4601880"/>
                <a:ext cx="3498840" cy="723600"/>
              </a:xfrm>
              <a:prstGeom prst="rect">
                <a:avLst/>
              </a:prstGeom>
            </p:spPr>
          </p:pic>
        </mc:Fallback>
      </mc:AlternateContent>
    </p:spTree>
    <p:extLst>
      <p:ext uri="{BB962C8B-B14F-4D97-AF65-F5344CB8AC3E}">
        <p14:creationId xmlns:p14="http://schemas.microsoft.com/office/powerpoint/2010/main" val="3834265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Some of the tasks in NLP</a:t>
            </a:r>
          </a:p>
        </p:txBody>
      </p:sp>
      <p:sp>
        <p:nvSpPr>
          <p:cNvPr id="3" name="Content Placeholder 2"/>
          <p:cNvSpPr>
            <a:spLocks noGrp="1"/>
          </p:cNvSpPr>
          <p:nvPr>
            <p:ph idx="1"/>
          </p:nvPr>
        </p:nvSpPr>
        <p:spPr/>
        <p:txBody>
          <a:bodyPr>
            <a:normAutofit fontScale="85000" lnSpcReduction="20000"/>
          </a:bodyPr>
          <a:lstStyle/>
          <a:p>
            <a:pPr marL="0" indent="0">
              <a:buNone/>
            </a:pPr>
            <a:r>
              <a:rPr lang="en-IN" b="1" u="sng" dirty="0"/>
              <a:t>Sentence segmentation</a:t>
            </a:r>
          </a:p>
          <a:p>
            <a:pPr>
              <a:buFont typeface="Wingdings" panose="05000000000000000000" pitchFamily="2" charset="2"/>
              <a:buChar char="Ø"/>
            </a:pPr>
            <a:r>
              <a:rPr lang="en-IN" dirty="0"/>
              <a:t>It breaks the paragraph into separate sentences.</a:t>
            </a:r>
          </a:p>
          <a:p>
            <a:pPr>
              <a:buFont typeface="Wingdings" panose="05000000000000000000" pitchFamily="2" charset="2"/>
              <a:buChar char="Ø"/>
            </a:pPr>
            <a:r>
              <a:rPr lang="en-IN" dirty="0" err="1">
                <a:solidFill>
                  <a:srgbClr val="FF0000"/>
                </a:solidFill>
              </a:rPr>
              <a:t>Eg:</a:t>
            </a:r>
            <a:r>
              <a:rPr lang="en-IN" b="1" dirty="0" err="1">
                <a:solidFill>
                  <a:srgbClr val="FF0000"/>
                </a:solidFill>
              </a:rPr>
              <a:t>Independence</a:t>
            </a:r>
            <a:r>
              <a:rPr lang="en-IN" b="1" dirty="0">
                <a:solidFill>
                  <a:srgbClr val="FF0000"/>
                </a:solidFill>
              </a:rPr>
              <a:t> Day is one of the important festivals for every Indian citizen. It is celebrated on the 15th of August each year ever since India got independence from the British rule. The day celebrates independence in the true sense.</a:t>
            </a:r>
            <a:endParaRPr lang="en-IN" dirty="0">
              <a:solidFill>
                <a:srgbClr val="FF0000"/>
              </a:solidFill>
            </a:endParaRPr>
          </a:p>
          <a:p>
            <a:pPr lvl="0"/>
            <a:r>
              <a:rPr lang="en-IN" dirty="0"/>
              <a:t>"</a:t>
            </a:r>
            <a:r>
              <a:rPr lang="en-IN" dirty="0">
                <a:solidFill>
                  <a:schemeClr val="tx2">
                    <a:lumMod val="60000"/>
                    <a:lumOff val="40000"/>
                  </a:schemeClr>
                </a:solidFill>
              </a:rPr>
              <a:t>Independence Day is one of the important festivals for every Indian citizen</a:t>
            </a:r>
            <a:r>
              <a:rPr lang="en-IN" dirty="0"/>
              <a:t>."</a:t>
            </a:r>
          </a:p>
          <a:p>
            <a:pPr lvl="0"/>
            <a:r>
              <a:rPr lang="en-IN" dirty="0"/>
              <a:t>"</a:t>
            </a:r>
            <a:r>
              <a:rPr lang="en-IN" dirty="0">
                <a:solidFill>
                  <a:srgbClr val="00B050"/>
                </a:solidFill>
              </a:rPr>
              <a:t>It is celebrated on the 15th of August each year ever since India got independence from the British rule</a:t>
            </a:r>
            <a:r>
              <a:rPr lang="en-IN" dirty="0"/>
              <a:t>."</a:t>
            </a:r>
          </a:p>
          <a:p>
            <a:pPr lvl="0"/>
            <a:r>
              <a:rPr lang="en-IN" dirty="0"/>
              <a:t>"</a:t>
            </a:r>
            <a:r>
              <a:rPr lang="en-IN" dirty="0">
                <a:solidFill>
                  <a:schemeClr val="tx1">
                    <a:lumMod val="75000"/>
                    <a:lumOff val="25000"/>
                  </a:schemeClr>
                </a:solidFill>
              </a:rPr>
              <a:t>This day celebrates independence in the true sense."</a:t>
            </a:r>
          </a:p>
          <a:p>
            <a:pPr>
              <a:buFont typeface="Wingdings" panose="05000000000000000000" pitchFamily="2" charset="2"/>
              <a:buChar char="Ø"/>
            </a:pPr>
            <a:endParaRPr lang="en-IN" dirty="0">
              <a:solidFill>
                <a:schemeClr val="tx1">
                  <a:lumMod val="75000"/>
                  <a:lumOff val="25000"/>
                </a:schemeClr>
              </a:solidFill>
            </a:endParaRPr>
          </a:p>
          <a:p>
            <a:pPr marL="0" indent="0">
              <a:buNone/>
            </a:pPr>
            <a:endParaRPr lang="en-IN" dirty="0"/>
          </a:p>
          <a:p>
            <a:pPr marL="0" indent="0">
              <a:buNone/>
            </a:pPr>
            <a:endParaRPr lang="en-IN"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38</a:t>
            </a:fld>
            <a:endParaRPr lang="en-US"/>
          </a:p>
        </p:txBody>
      </p:sp>
    </p:spTree>
    <p:extLst>
      <p:ext uri="{BB962C8B-B14F-4D97-AF65-F5344CB8AC3E}">
        <p14:creationId xmlns:p14="http://schemas.microsoft.com/office/powerpoint/2010/main" val="11716923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Contd..</a:t>
            </a:r>
          </a:p>
        </p:txBody>
      </p:sp>
      <p:sp>
        <p:nvSpPr>
          <p:cNvPr id="3" name="Content Placeholder 2"/>
          <p:cNvSpPr>
            <a:spLocks noGrp="1"/>
          </p:cNvSpPr>
          <p:nvPr>
            <p:ph idx="1"/>
          </p:nvPr>
        </p:nvSpPr>
        <p:spPr/>
        <p:txBody>
          <a:bodyPr>
            <a:normAutofit fontScale="77500" lnSpcReduction="20000"/>
          </a:bodyPr>
          <a:lstStyle/>
          <a:p>
            <a:pPr>
              <a:buFont typeface="Wingdings" panose="05000000000000000000" pitchFamily="2" charset="2"/>
              <a:buChar char="Ø"/>
            </a:pPr>
            <a:r>
              <a:rPr lang="en-IN" b="1" dirty="0" err="1"/>
              <a:t>Tokeniztion</a:t>
            </a:r>
            <a:endParaRPr lang="en-IN" b="1" dirty="0"/>
          </a:p>
          <a:p>
            <a:r>
              <a:rPr lang="en-IN" dirty="0"/>
              <a:t>splits longer strings of text into smaller pieces, or </a:t>
            </a:r>
            <a:r>
              <a:rPr lang="en-IN" b="1" dirty="0"/>
              <a:t>tokens</a:t>
            </a:r>
            <a:r>
              <a:rPr lang="en-IN" dirty="0"/>
              <a:t>. </a:t>
            </a:r>
          </a:p>
          <a:p>
            <a:pPr marL="0" indent="0">
              <a:buNone/>
            </a:pPr>
            <a:r>
              <a:rPr lang="en-US" dirty="0" err="1"/>
              <a:t>Eg:JavaTpoint</a:t>
            </a:r>
            <a:r>
              <a:rPr lang="en-US" dirty="0"/>
              <a:t> offers Corporate Training, Summer Training, Online Training, and Winter Training.</a:t>
            </a:r>
          </a:p>
          <a:p>
            <a:pPr marL="0" indent="0">
              <a:buNone/>
            </a:pPr>
            <a:r>
              <a:rPr lang="en-US" dirty="0"/>
              <a:t>"</a:t>
            </a:r>
            <a:r>
              <a:rPr lang="en-US" dirty="0" err="1"/>
              <a:t>JavaTpoint</a:t>
            </a:r>
            <a:r>
              <a:rPr lang="en-US" dirty="0"/>
              <a:t>", "offers", "Corporate", "Training", "Summer", "Training", "Online", "Training", "and", "Winter", "Training", "."</a:t>
            </a:r>
          </a:p>
          <a:p>
            <a:pPr marL="0" indent="0">
              <a:buNone/>
            </a:pPr>
            <a:endParaRPr lang="en-IN" b="1" dirty="0"/>
          </a:p>
          <a:p>
            <a:pPr>
              <a:buFont typeface="Wingdings" panose="05000000000000000000" pitchFamily="2" charset="2"/>
              <a:buChar char="Ø"/>
            </a:pPr>
            <a:r>
              <a:rPr lang="en-IN" b="1" dirty="0"/>
              <a:t>Lemmatization</a:t>
            </a:r>
          </a:p>
          <a:p>
            <a:r>
              <a:rPr lang="en-US" dirty="0"/>
              <a:t>capture canonical forms based on a word's </a:t>
            </a:r>
            <a:r>
              <a:rPr lang="en-US" dirty="0">
                <a:hlinkClick r:id="rId2"/>
              </a:rPr>
              <a:t>lemma</a:t>
            </a:r>
            <a:r>
              <a:rPr lang="en-US" dirty="0"/>
              <a:t>.</a:t>
            </a:r>
          </a:p>
          <a:p>
            <a:r>
              <a:rPr lang="en-US" b="1" dirty="0" err="1"/>
              <a:t>Eg</a:t>
            </a:r>
            <a:r>
              <a:rPr lang="en-US" b="1" dirty="0"/>
              <a:t>:</a:t>
            </a:r>
            <a:r>
              <a:rPr lang="en-IN" dirty="0"/>
              <a:t>better → good</a:t>
            </a:r>
            <a:endParaRPr lang="en-IN" b="1" dirty="0"/>
          </a:p>
          <a:p>
            <a:endParaRPr lang="en-IN" b="1" dirty="0"/>
          </a:p>
        </p:txBody>
      </p:sp>
      <p:sp>
        <p:nvSpPr>
          <p:cNvPr id="4" name="Rectangle 1"/>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6003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Contd..</a:t>
            </a:r>
          </a:p>
        </p:txBody>
      </p:sp>
      <p:sp>
        <p:nvSpPr>
          <p:cNvPr id="4" name="Rectangle 1"/>
          <p:cNvSpPr>
            <a:spLocks noGrp="1" noChangeArrowheads="1"/>
          </p:cNvSpPr>
          <p:nvPr>
            <p:ph idx="1"/>
          </p:nvPr>
        </p:nvSpPr>
        <p:spPr bwMode="auto">
          <a:xfrm>
            <a:off x="371972" y="1136358"/>
            <a:ext cx="8424937" cy="56938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kumimoji="0" lang="en-US" altLang="en-US" b="1" i="0" u="none" strike="noStrike" cap="none" normalizeH="0" baseline="0" dirty="0">
                <a:ln>
                  <a:noFill/>
                </a:ln>
                <a:solidFill>
                  <a:schemeClr val="tx1"/>
                </a:solidFill>
                <a:effectLst/>
              </a:rPr>
              <a:t>Stemming</a:t>
            </a:r>
            <a:r>
              <a:rPr kumimoji="0" lang="en-US" altLang="en-US" b="0" i="0" u="none" strike="noStrike" cap="none" normalizeH="0" baseline="0" dirty="0">
                <a:ln>
                  <a:noFill/>
                </a:ln>
                <a:solidFill>
                  <a:schemeClr val="tx1"/>
                </a:solidFill>
                <a:effectLst/>
              </a:rPr>
              <a:t> </a:t>
            </a:r>
          </a:p>
          <a:p>
            <a:r>
              <a:rPr lang="en-US" altLang="en-US" dirty="0">
                <a:solidFill>
                  <a:srgbClr val="111111"/>
                </a:solidFill>
                <a:latin typeface="Open Sans"/>
              </a:rPr>
              <a:t>process of eliminating affixes (suffixed, prefixes, infixes, circumfixes) from a word in order to obtain a word stem.</a:t>
            </a:r>
            <a:endParaRPr lang="en-US" altLang="en-US" dirty="0"/>
          </a:p>
          <a:p>
            <a:pPr lvl="0"/>
            <a:r>
              <a:rPr lang="en-US" altLang="en-US" dirty="0">
                <a:solidFill>
                  <a:srgbClr val="111111"/>
                </a:solidFill>
                <a:latin typeface="Open Sans"/>
              </a:rPr>
              <a:t>   </a:t>
            </a:r>
            <a:r>
              <a:rPr lang="en-US" altLang="en-US" dirty="0" err="1">
                <a:solidFill>
                  <a:srgbClr val="111111"/>
                </a:solidFill>
                <a:latin typeface="Open Sans"/>
              </a:rPr>
              <a:t>eg</a:t>
            </a:r>
            <a:r>
              <a:rPr lang="en-US" altLang="en-US" dirty="0">
                <a:solidFill>
                  <a:srgbClr val="111111"/>
                </a:solidFill>
                <a:latin typeface="Open Sans"/>
              </a:rPr>
              <a:t>. running → run</a:t>
            </a:r>
          </a:p>
          <a:p>
            <a:pPr marL="0" indent="0">
              <a:buNone/>
            </a:pPr>
            <a:endParaRPr lang="en-IN" b="1" dirty="0"/>
          </a:p>
          <a:p>
            <a:pPr>
              <a:buFont typeface="Wingdings" panose="05000000000000000000" pitchFamily="2" charset="2"/>
              <a:buChar char="Ø"/>
            </a:pPr>
            <a:r>
              <a:rPr lang="en-IN" b="1" dirty="0"/>
              <a:t>Stop Words</a:t>
            </a:r>
          </a:p>
          <a:p>
            <a:r>
              <a:rPr lang="en-US" dirty="0"/>
              <a:t>contribute little to overall meaning</a:t>
            </a:r>
          </a:p>
          <a:p>
            <a:r>
              <a:rPr lang="en-US" b="1" dirty="0" err="1"/>
              <a:t>Eg:</a:t>
            </a:r>
            <a:r>
              <a:rPr lang="en-US" dirty="0" err="1"/>
              <a:t>He</a:t>
            </a:r>
            <a:r>
              <a:rPr lang="en-US" dirty="0"/>
              <a:t> </a:t>
            </a:r>
            <a:r>
              <a:rPr lang="en-US" b="1" dirty="0"/>
              <a:t>is a</a:t>
            </a:r>
            <a:r>
              <a:rPr lang="en-US" dirty="0"/>
              <a:t> good boy.</a:t>
            </a:r>
            <a:endParaRPr lang="en-US" altLang="en-US" dirty="0"/>
          </a:p>
          <a:p>
            <a:endParaRPr lang="en-IN" b="1" dirty="0"/>
          </a:p>
          <a:p>
            <a:pPr lvl="0">
              <a:buFont typeface="Wingdings" panose="05000000000000000000" pitchFamily="2" charset="2"/>
              <a:buChar char="Ø"/>
            </a:pPr>
            <a:endParaRPr lang="en-US" altLang="en-US" dirty="0">
              <a:solidFill>
                <a:srgbClr val="111111"/>
              </a:solidFill>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30984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Schematic representation NLP</a:t>
            </a:r>
          </a:p>
        </p:txBody>
      </p:sp>
      <p:pic>
        <p:nvPicPr>
          <p:cNvPr id="4" name="Content Placeholder 3"/>
          <p:cNvPicPr>
            <a:picLocks noGrp="1" noChangeAspect="1"/>
          </p:cNvPicPr>
          <p:nvPr>
            <p:ph idx="1"/>
          </p:nvPr>
        </p:nvPicPr>
        <p:blipFill>
          <a:blip r:embed="rId2"/>
          <a:stretch>
            <a:fillRect/>
          </a:stretch>
        </p:blipFill>
        <p:spPr>
          <a:xfrm>
            <a:off x="-18143" y="1905000"/>
            <a:ext cx="9009743" cy="3320802"/>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1071000" y="2030760"/>
              <a:ext cx="625680" cy="858600"/>
            </p14:xfrm>
          </p:contentPart>
        </mc:Choice>
        <mc:Fallback xmlns="">
          <p:pic>
            <p:nvPicPr>
              <p:cNvPr id="3" name="Ink 2"/>
              <p:cNvPicPr/>
              <p:nvPr/>
            </p:nvPicPr>
            <p:blipFill>
              <a:blip r:embed="rId4"/>
              <a:stretch>
                <a:fillRect/>
              </a:stretch>
            </p:blipFill>
            <p:spPr>
              <a:xfrm>
                <a:off x="1067040" y="2025000"/>
                <a:ext cx="639720" cy="870120"/>
              </a:xfrm>
              <a:prstGeom prst="rect">
                <a:avLst/>
              </a:prstGeom>
            </p:spPr>
          </p:pic>
        </mc:Fallback>
      </mc:AlternateContent>
    </p:spTree>
    <p:extLst>
      <p:ext uri="{BB962C8B-B14F-4D97-AF65-F5344CB8AC3E}">
        <p14:creationId xmlns:p14="http://schemas.microsoft.com/office/powerpoint/2010/main" val="5915984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1524000" y="2590800"/>
            <a:ext cx="6324600" cy="1143000"/>
          </a:xfrm>
        </p:spPr>
        <p:txBody>
          <a:bodyPr>
            <a:normAutofit/>
          </a:bodyPr>
          <a:lstStyle/>
          <a:p>
            <a:pPr algn="ctr"/>
            <a:r>
              <a:rPr lang="en-US" sz="3200" b="0" dirty="0">
                <a:solidFill>
                  <a:srgbClr val="C00000"/>
                </a:solidFill>
                <a:latin typeface="Arial" panose="020B0604020202020204" pitchFamily="34" charset="0"/>
                <a:ea typeface="Cambria" panose="02040503050406030204" pitchFamily="18" charset="0"/>
                <a:cs typeface="Arial" panose="020B0604020202020204" pitchFamily="34" charset="0"/>
              </a:rPr>
              <a:t>Representations and Understanding</a:t>
            </a:r>
            <a:endParaRPr lang="en-IN" sz="3200" b="0" dirty="0">
              <a:solidFill>
                <a:srgbClr val="C00000"/>
              </a:solidFill>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272653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133600" y="6553200"/>
            <a:ext cx="7010400" cy="45720"/>
            <a:chOff x="2133600" y="6553200"/>
            <a:chExt cx="7010400" cy="45720"/>
          </a:xfrm>
        </p:grpSpPr>
        <p:sp>
          <p:nvSpPr>
            <p:cNvPr id="3" name="object 3"/>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4" name="object 4"/>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5" name="object 5"/>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grpSp>
        <p:nvGrpSpPr>
          <p:cNvPr id="6" name="object 6"/>
          <p:cNvGrpSpPr/>
          <p:nvPr/>
        </p:nvGrpSpPr>
        <p:grpSpPr>
          <a:xfrm>
            <a:off x="0" y="1295400"/>
            <a:ext cx="7010400" cy="45720"/>
            <a:chOff x="0" y="1295400"/>
            <a:chExt cx="7010400" cy="45720"/>
          </a:xfrm>
        </p:grpSpPr>
        <p:sp>
          <p:nvSpPr>
            <p:cNvPr id="7" name="object 7"/>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8" name="object 8"/>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10" name="object 1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1" name="object 1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2" name="object 1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pic>
        <p:nvPicPr>
          <p:cNvPr id="13" name="object 13"/>
          <p:cNvPicPr/>
          <p:nvPr/>
        </p:nvPicPr>
        <p:blipFill>
          <a:blip r:embed="rId2" cstate="print"/>
          <a:stretch>
            <a:fillRect/>
          </a:stretch>
        </p:blipFill>
        <p:spPr>
          <a:xfrm>
            <a:off x="6629400" y="0"/>
            <a:ext cx="2194559" cy="693420"/>
          </a:xfrm>
          <a:prstGeom prst="rect">
            <a:avLst/>
          </a:prstGeom>
        </p:spPr>
      </p:pic>
      <p:grpSp>
        <p:nvGrpSpPr>
          <p:cNvPr id="14" name="object 14"/>
          <p:cNvGrpSpPr/>
          <p:nvPr/>
        </p:nvGrpSpPr>
        <p:grpSpPr>
          <a:xfrm>
            <a:off x="2084832" y="6550152"/>
            <a:ext cx="7059295" cy="48895"/>
            <a:chOff x="2084832" y="6550152"/>
            <a:chExt cx="7059295" cy="48895"/>
          </a:xfrm>
        </p:grpSpPr>
        <p:sp>
          <p:nvSpPr>
            <p:cNvPr id="15" name="object 15"/>
            <p:cNvSpPr/>
            <p:nvPr/>
          </p:nvSpPr>
          <p:spPr>
            <a:xfrm>
              <a:off x="4631436" y="6550152"/>
              <a:ext cx="2329180"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a:p>
          </p:txBody>
        </p:sp>
        <p:sp>
          <p:nvSpPr>
            <p:cNvPr id="16" name="object 16"/>
            <p:cNvSpPr/>
            <p:nvPr/>
          </p:nvSpPr>
          <p:spPr>
            <a:xfrm>
              <a:off x="6908291"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17" name="object 17"/>
            <p:cNvSpPr/>
            <p:nvPr/>
          </p:nvSpPr>
          <p:spPr>
            <a:xfrm>
              <a:off x="2084832" y="6550152"/>
              <a:ext cx="2580640"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a:p>
          </p:txBody>
        </p:sp>
        <p:sp>
          <p:nvSpPr>
            <p:cNvPr id="18" name="object 18"/>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9" name="object 19"/>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0" name="object 20"/>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pic>
        <p:nvPicPr>
          <p:cNvPr id="21" name="object 21"/>
          <p:cNvPicPr/>
          <p:nvPr/>
        </p:nvPicPr>
        <p:blipFill>
          <a:blip r:embed="rId3" cstate="print"/>
          <a:stretch>
            <a:fillRect/>
          </a:stretch>
        </p:blipFill>
        <p:spPr>
          <a:xfrm>
            <a:off x="5269991" y="1828800"/>
            <a:ext cx="2709927" cy="2514600"/>
          </a:xfrm>
          <a:prstGeom prst="rect">
            <a:avLst/>
          </a:prstGeom>
        </p:spPr>
      </p:pic>
      <p:sp>
        <p:nvSpPr>
          <p:cNvPr id="22" name="object 22"/>
          <p:cNvSpPr txBox="1">
            <a:spLocks noGrp="1"/>
          </p:cNvSpPr>
          <p:nvPr>
            <p:ph type="title"/>
          </p:nvPr>
        </p:nvSpPr>
        <p:spPr>
          <a:xfrm>
            <a:off x="286258" y="708528"/>
            <a:ext cx="7693660" cy="382797"/>
          </a:xfrm>
          <a:prstGeom prst="rect">
            <a:avLst/>
          </a:prstGeom>
        </p:spPr>
        <p:txBody>
          <a:bodyPr vert="horz" wrap="square" lIns="0" tIns="13335" rIns="0" bIns="0" rtlCol="0" anchor="ctr">
            <a:spAutoFit/>
          </a:bodyPr>
          <a:lstStyle/>
          <a:p>
            <a:pPr marL="12700" algn="l" rtl="0">
              <a:spcBef>
                <a:spcPts val="105"/>
              </a:spcBef>
            </a:pPr>
            <a:r>
              <a:rPr lang="en-US" sz="2400" b="1" kern="1200" spc="-5" dirty="0">
                <a:latin typeface="Arial" panose="020B0604020202020204" pitchFamily="34" charset="0"/>
                <a:ea typeface="Cambria" panose="02040503050406030204" pitchFamily="18" charset="0"/>
                <a:cs typeface="Arial" panose="020B0604020202020204" pitchFamily="34" charset="0"/>
              </a:rPr>
              <a:t>Syntactic representations of language</a:t>
            </a:r>
            <a:endParaRPr sz="2400" b="1" kern="1200" spc="-5" dirty="0">
              <a:latin typeface="Arial" panose="020B0604020202020204" pitchFamily="34" charset="0"/>
              <a:ea typeface="Cambria" panose="02040503050406030204" pitchFamily="18" charset="0"/>
              <a:cs typeface="Arial" panose="020B0604020202020204" pitchFamily="34" charset="0"/>
            </a:endParaRPr>
          </a:p>
        </p:txBody>
      </p:sp>
      <p:sp>
        <p:nvSpPr>
          <p:cNvPr id="25" name="Rectangle 24"/>
          <p:cNvSpPr/>
          <p:nvPr/>
        </p:nvSpPr>
        <p:spPr>
          <a:xfrm>
            <a:off x="381000" y="1711452"/>
            <a:ext cx="4648200" cy="3490186"/>
          </a:xfrm>
          <a:prstGeom prst="rect">
            <a:avLst/>
          </a:prstGeom>
        </p:spPr>
        <p:txBody>
          <a:bodyPr vert="horz" lIns="91440" tIns="45720" rIns="91440" bIns="45720" rtlCol="0">
            <a:normAutofit/>
          </a:bodyPr>
          <a:lstStyle/>
          <a:p>
            <a:pPr marL="342900" indent="-342900">
              <a:lnSpc>
                <a:spcPct val="150000"/>
              </a:lnSpc>
              <a:spcBef>
                <a:spcPct val="20000"/>
              </a:spcBef>
              <a:buFont typeface="Arial" pitchFamily="34" charset="0"/>
              <a:buChar char="•"/>
            </a:pPr>
            <a:r>
              <a:rPr lang="en-US" sz="1800" dirty="0">
                <a:latin typeface="Arial" panose="020B0604020202020204" pitchFamily="34" charset="0"/>
                <a:ea typeface="Cambria" panose="02040503050406030204" pitchFamily="18" charset="0"/>
                <a:cs typeface="Arial" panose="020B0604020202020204" pitchFamily="34" charset="0"/>
              </a:rPr>
              <a:t>Most syntactic representations of language are based on the notion of </a:t>
            </a:r>
            <a:r>
              <a:rPr lang="en-US" sz="1800" b="1" dirty="0">
                <a:latin typeface="Arial" panose="020B0604020202020204" pitchFamily="34" charset="0"/>
                <a:ea typeface="Cambria" panose="02040503050406030204" pitchFamily="18" charset="0"/>
                <a:cs typeface="Arial" panose="020B0604020202020204" pitchFamily="34" charset="0"/>
              </a:rPr>
              <a:t>context-free grammars </a:t>
            </a:r>
          </a:p>
          <a:p>
            <a:pPr marL="342900" indent="-342900">
              <a:lnSpc>
                <a:spcPct val="150000"/>
              </a:lnSpc>
              <a:spcBef>
                <a:spcPct val="20000"/>
              </a:spcBef>
              <a:buFont typeface="Arial" pitchFamily="34" charset="0"/>
              <a:buChar char="•"/>
            </a:pPr>
            <a:r>
              <a:rPr lang="en-US" sz="1800" b="1" dirty="0">
                <a:latin typeface="Arial" panose="020B0604020202020204" pitchFamily="34" charset="0"/>
                <a:ea typeface="Cambria" panose="02040503050406030204" pitchFamily="18" charset="0"/>
                <a:cs typeface="Arial" panose="020B0604020202020204" pitchFamily="34" charset="0"/>
              </a:rPr>
              <a:t>CFGs </a:t>
            </a:r>
            <a:r>
              <a:rPr lang="en-US" sz="1800" dirty="0">
                <a:latin typeface="Arial" panose="020B0604020202020204" pitchFamily="34" charset="0"/>
                <a:ea typeface="Cambria" panose="02040503050406030204" pitchFamily="18" charset="0"/>
                <a:cs typeface="Arial" panose="020B0604020202020204" pitchFamily="34" charset="0"/>
              </a:rPr>
              <a:t>represent sentence structure in terms of what phrases are subparts of other phrases. </a:t>
            </a:r>
          </a:p>
          <a:p>
            <a:pPr marL="342900" indent="-342900">
              <a:lnSpc>
                <a:spcPct val="150000"/>
              </a:lnSpc>
              <a:spcBef>
                <a:spcPct val="20000"/>
              </a:spcBef>
              <a:buFont typeface="Arial" pitchFamily="34" charset="0"/>
              <a:buChar char="•"/>
            </a:pPr>
            <a:r>
              <a:rPr lang="en-US" sz="1800" dirty="0">
                <a:latin typeface="Arial" panose="020B0604020202020204" pitchFamily="34" charset="0"/>
                <a:ea typeface="Cambria" panose="02040503050406030204" pitchFamily="18" charset="0"/>
                <a:cs typeface="Arial" panose="020B0604020202020204" pitchFamily="34" charset="0"/>
              </a:rPr>
              <a:t>Often presented in a tree form</a:t>
            </a:r>
            <a:endParaRPr lang="en-IN" sz="1800"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734761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 y="609600"/>
            <a:ext cx="8305800" cy="382797"/>
          </a:xfrm>
          <a:prstGeom prst="rect">
            <a:avLst/>
          </a:prstGeom>
        </p:spPr>
        <p:txBody>
          <a:bodyPr vert="horz" wrap="square" lIns="0" tIns="13335" rIns="0" bIns="0" rtlCol="0" anchor="ctr">
            <a:spAutoFit/>
          </a:bodyPr>
          <a:lstStyle/>
          <a:p>
            <a:pPr marL="12700" algn="l" rtl="0">
              <a:spcBef>
                <a:spcPts val="105"/>
              </a:spcBef>
            </a:pPr>
            <a:r>
              <a:rPr sz="2400" b="1" kern="1200" spc="-5" dirty="0">
                <a:latin typeface="Arial" panose="020B0604020202020204" pitchFamily="34" charset="0"/>
                <a:ea typeface="Cambria" panose="02040503050406030204" pitchFamily="18" charset="0"/>
                <a:cs typeface="Arial" panose="020B0604020202020204" pitchFamily="34" charset="0"/>
              </a:rPr>
              <a:t>Representations and Understanding</a:t>
            </a:r>
          </a:p>
        </p:txBody>
      </p:sp>
      <p:pic>
        <p:nvPicPr>
          <p:cNvPr id="3" name="object 3"/>
          <p:cNvPicPr/>
          <p:nvPr/>
        </p:nvPicPr>
        <p:blipFill>
          <a:blip r:embed="rId2" cstate="print"/>
          <a:stretch>
            <a:fillRect/>
          </a:stretch>
        </p:blipFill>
        <p:spPr>
          <a:xfrm>
            <a:off x="198119" y="1388745"/>
            <a:ext cx="6162547" cy="5034280"/>
          </a:xfrm>
          <a:prstGeom prst="rect">
            <a:avLst/>
          </a:prstGeom>
        </p:spPr>
      </p:pic>
      <p:sp>
        <p:nvSpPr>
          <p:cNvPr id="4" name="object 4"/>
          <p:cNvSpPr txBox="1"/>
          <p:nvPr/>
        </p:nvSpPr>
        <p:spPr>
          <a:xfrm>
            <a:off x="6299707" y="1464616"/>
            <a:ext cx="2783333" cy="4958409"/>
          </a:xfrm>
          <a:prstGeom prst="rect">
            <a:avLst/>
          </a:prstGeom>
        </p:spPr>
        <p:txBody>
          <a:bodyPr vert="horz" wrap="square" lIns="0" tIns="13335" rIns="0" bIns="0" rtlCol="0">
            <a:spAutoFit/>
          </a:bodyPr>
          <a:lstStyle/>
          <a:p>
            <a:pPr marL="876300" marR="211454">
              <a:lnSpc>
                <a:spcPct val="100000"/>
              </a:lnSpc>
              <a:spcBef>
                <a:spcPts val="105"/>
              </a:spcBef>
            </a:pPr>
            <a:r>
              <a:rPr sz="1800" b="1" u="heavy" spc="-5" dirty="0">
                <a:uFill>
                  <a:solidFill>
                    <a:srgbClr val="000000"/>
                  </a:solidFill>
                </a:uFill>
                <a:latin typeface="Arial" panose="020B0604020202020204" pitchFamily="34" charset="0"/>
                <a:cs typeface="Arial" panose="020B0604020202020204" pitchFamily="34" charset="0"/>
              </a:rPr>
              <a:t>CFG</a:t>
            </a:r>
            <a:r>
              <a:rPr sz="1800" b="1" u="heavy" spc="-85" dirty="0">
                <a:uFill>
                  <a:solidFill>
                    <a:srgbClr val="000000"/>
                  </a:solidFill>
                </a:uFill>
                <a:latin typeface="Arial" panose="020B0604020202020204" pitchFamily="34" charset="0"/>
                <a:cs typeface="Arial" panose="020B0604020202020204" pitchFamily="34" charset="0"/>
              </a:rPr>
              <a:t> </a:t>
            </a:r>
            <a:r>
              <a:rPr sz="1800" b="1" u="heavy" spc="-5" dirty="0">
                <a:uFill>
                  <a:solidFill>
                    <a:srgbClr val="000000"/>
                  </a:solidFill>
                </a:uFill>
                <a:latin typeface="Arial" panose="020B0604020202020204" pitchFamily="34" charset="0"/>
                <a:cs typeface="Arial" panose="020B0604020202020204" pitchFamily="34" charset="0"/>
              </a:rPr>
              <a:t>Rules </a:t>
            </a:r>
            <a:r>
              <a:rPr sz="1800" b="1" spc="-570" dirty="0">
                <a:latin typeface="Arial" panose="020B0604020202020204" pitchFamily="34" charset="0"/>
                <a:cs typeface="Arial" panose="020B0604020202020204" pitchFamily="34" charset="0"/>
              </a:rPr>
              <a:t> </a:t>
            </a:r>
            <a:endParaRPr lang="en-US" sz="1800" b="1" spc="-570" dirty="0">
              <a:latin typeface="Arial" panose="020B0604020202020204" pitchFamily="34" charset="0"/>
              <a:cs typeface="Arial" panose="020B0604020202020204" pitchFamily="34" charset="0"/>
            </a:endParaRPr>
          </a:p>
          <a:p>
            <a:pPr marL="876300" marR="211454">
              <a:lnSpc>
                <a:spcPct val="100000"/>
              </a:lnSpc>
              <a:spcBef>
                <a:spcPts val="105"/>
              </a:spcBef>
            </a:pPr>
            <a:r>
              <a:rPr sz="1800" dirty="0">
                <a:latin typeface="Arial" panose="020B0604020202020204" pitchFamily="34" charset="0"/>
                <a:cs typeface="Arial" panose="020B0604020202020204" pitchFamily="34" charset="0"/>
              </a:rPr>
              <a:t>S -&gt; </a:t>
            </a:r>
            <a:r>
              <a:rPr sz="1800" spc="-5" dirty="0">
                <a:latin typeface="Arial" panose="020B0604020202020204" pitchFamily="34" charset="0"/>
                <a:cs typeface="Arial" panose="020B0604020202020204" pitchFamily="34" charset="0"/>
              </a:rPr>
              <a:t>NP </a:t>
            </a:r>
            <a:r>
              <a:rPr sz="1800" dirty="0">
                <a:latin typeface="Arial" panose="020B0604020202020204" pitchFamily="34" charset="0"/>
                <a:cs typeface="Arial" panose="020B0604020202020204" pitchFamily="34" charset="0"/>
              </a:rPr>
              <a:t>VP </a:t>
            </a:r>
            <a:r>
              <a:rPr sz="1800" spc="-610" dirty="0">
                <a:latin typeface="Arial" panose="020B0604020202020204" pitchFamily="34" charset="0"/>
                <a:cs typeface="Arial" panose="020B0604020202020204" pitchFamily="34" charset="0"/>
              </a:rPr>
              <a:t> </a:t>
            </a:r>
            <a:endParaRPr lang="en-US" sz="1800" spc="-610" dirty="0">
              <a:latin typeface="Arial" panose="020B0604020202020204" pitchFamily="34" charset="0"/>
              <a:cs typeface="Arial" panose="020B0604020202020204" pitchFamily="34" charset="0"/>
            </a:endParaRPr>
          </a:p>
          <a:p>
            <a:pPr marL="876300" marR="211454">
              <a:lnSpc>
                <a:spcPct val="100000"/>
              </a:lnSpc>
              <a:spcBef>
                <a:spcPts val="105"/>
              </a:spcBef>
            </a:pPr>
            <a:r>
              <a:rPr sz="1800" spc="-5" dirty="0">
                <a:latin typeface="Arial" panose="020B0604020202020204" pitchFamily="34" charset="0"/>
                <a:cs typeface="Arial" panose="020B0604020202020204" pitchFamily="34" charset="0"/>
              </a:rPr>
              <a:t>NP </a:t>
            </a:r>
            <a:r>
              <a:rPr sz="1800" dirty="0">
                <a:latin typeface="Arial" panose="020B0604020202020204" pitchFamily="34" charset="0"/>
                <a:cs typeface="Arial" panose="020B0604020202020204" pitchFamily="34" charset="0"/>
              </a:rPr>
              <a:t>-&gt; N </a:t>
            </a:r>
            <a:r>
              <a:rPr sz="1800" dirty="0" err="1">
                <a:latin typeface="Arial" panose="020B0604020202020204" pitchFamily="34" charset="0"/>
                <a:cs typeface="Arial" panose="020B0604020202020204" pitchFamily="34" charset="0"/>
              </a:rPr>
              <a:t>N</a:t>
            </a:r>
            <a:r>
              <a:rPr sz="1800"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 </a:t>
            </a:r>
            <a:endParaRPr lang="en-US" sz="1800" spc="5" dirty="0">
              <a:latin typeface="Arial" panose="020B0604020202020204" pitchFamily="34" charset="0"/>
              <a:cs typeface="Arial" panose="020B0604020202020204" pitchFamily="34" charset="0"/>
            </a:endParaRPr>
          </a:p>
          <a:p>
            <a:pPr marL="876300" marR="211454">
              <a:lnSpc>
                <a:spcPct val="100000"/>
              </a:lnSpc>
              <a:spcBef>
                <a:spcPts val="105"/>
              </a:spcBef>
            </a:pPr>
            <a:r>
              <a:rPr sz="1800" spc="-5" dirty="0">
                <a:latin typeface="Arial" panose="020B0604020202020204" pitchFamily="34" charset="0"/>
                <a:cs typeface="Arial" panose="020B0604020202020204" pitchFamily="34" charset="0"/>
              </a:rPr>
              <a:t>NP</a:t>
            </a:r>
            <a:r>
              <a:rPr sz="1800" spc="61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-&gt;</a:t>
            </a:r>
            <a:r>
              <a:rPr sz="1800" spc="62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N </a:t>
            </a:r>
            <a:r>
              <a:rPr sz="1800" spc="5" dirty="0">
                <a:latin typeface="Arial" panose="020B0604020202020204" pitchFamily="34" charset="0"/>
                <a:cs typeface="Arial" panose="020B0604020202020204" pitchFamily="34" charset="0"/>
              </a:rPr>
              <a:t> </a:t>
            </a:r>
            <a:endParaRPr lang="en-US" sz="1800" spc="5" dirty="0">
              <a:latin typeface="Arial" panose="020B0604020202020204" pitchFamily="34" charset="0"/>
              <a:cs typeface="Arial" panose="020B0604020202020204" pitchFamily="34" charset="0"/>
            </a:endParaRPr>
          </a:p>
          <a:p>
            <a:pPr marL="876300" marR="211454">
              <a:lnSpc>
                <a:spcPct val="100000"/>
              </a:lnSpc>
              <a:spcBef>
                <a:spcPts val="105"/>
              </a:spcBef>
            </a:pPr>
            <a:r>
              <a:rPr sz="1800" dirty="0">
                <a:latin typeface="Arial" panose="020B0604020202020204" pitchFamily="34" charset="0"/>
                <a:cs typeface="Arial" panose="020B0604020202020204" pitchFamily="34" charset="0"/>
              </a:rPr>
              <a:t>VP -&gt; V </a:t>
            </a:r>
            <a:r>
              <a:rPr sz="1800" spc="-5" dirty="0">
                <a:latin typeface="Arial" panose="020B0604020202020204" pitchFamily="34" charset="0"/>
                <a:cs typeface="Arial" panose="020B0604020202020204" pitchFamily="34" charset="0"/>
              </a:rPr>
              <a:t>NP </a:t>
            </a:r>
            <a:r>
              <a:rPr sz="1800" spc="-610" dirty="0">
                <a:latin typeface="Arial" panose="020B0604020202020204" pitchFamily="34" charset="0"/>
                <a:cs typeface="Arial" panose="020B0604020202020204" pitchFamily="34" charset="0"/>
              </a:rPr>
              <a:t> </a:t>
            </a:r>
            <a:endParaRPr lang="en-US" sz="1800" spc="-610" dirty="0">
              <a:latin typeface="Arial" panose="020B0604020202020204" pitchFamily="34" charset="0"/>
              <a:cs typeface="Arial" panose="020B0604020202020204" pitchFamily="34" charset="0"/>
            </a:endParaRPr>
          </a:p>
          <a:p>
            <a:pPr marL="876300" marR="211454">
              <a:lnSpc>
                <a:spcPct val="100000"/>
              </a:lnSpc>
              <a:spcBef>
                <a:spcPts val="105"/>
              </a:spcBef>
            </a:pPr>
            <a:r>
              <a:rPr sz="1800" dirty="0">
                <a:latin typeface="Arial" panose="020B0604020202020204" pitchFamily="34" charset="0"/>
                <a:cs typeface="Arial" panose="020B0604020202020204" pitchFamily="34" charset="0"/>
              </a:rPr>
              <a:t>VP -&gt; V </a:t>
            </a:r>
            <a:r>
              <a:rPr sz="1800" spc="-5" dirty="0">
                <a:latin typeface="Arial" panose="020B0604020202020204" pitchFamily="34" charset="0"/>
                <a:cs typeface="Arial" panose="020B0604020202020204" pitchFamily="34" charset="0"/>
              </a:rPr>
              <a:t>PP </a:t>
            </a:r>
            <a:endParaRPr lang="en-US" sz="1800" spc="-5" dirty="0">
              <a:latin typeface="Arial" panose="020B0604020202020204" pitchFamily="34" charset="0"/>
              <a:cs typeface="Arial" panose="020B0604020202020204" pitchFamily="34" charset="0"/>
            </a:endParaRPr>
          </a:p>
          <a:p>
            <a:pPr marL="876300" marR="211454">
              <a:lnSpc>
                <a:spcPct val="100000"/>
              </a:lnSpc>
              <a:spcBef>
                <a:spcPts val="105"/>
              </a:spcBef>
            </a:pPr>
            <a:r>
              <a:rPr sz="1800" spc="-610"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PP</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-&gt;</a:t>
            </a:r>
            <a:r>
              <a:rPr sz="1800" spc="-2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a:t>
            </a:r>
            <a:r>
              <a:rPr sz="1800" spc="-45"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NP</a:t>
            </a:r>
            <a:endParaRPr sz="1800" dirty="0">
              <a:latin typeface="Arial" panose="020B0604020202020204" pitchFamily="34" charset="0"/>
              <a:cs typeface="Arial" panose="020B0604020202020204" pitchFamily="34" charset="0"/>
            </a:endParaRPr>
          </a:p>
          <a:p>
            <a:pPr>
              <a:lnSpc>
                <a:spcPct val="100000"/>
              </a:lnSpc>
              <a:spcBef>
                <a:spcPts val="10"/>
              </a:spcBef>
            </a:pPr>
            <a:endParaRPr sz="1800" dirty="0">
              <a:latin typeface="Arial" panose="020B0604020202020204" pitchFamily="34" charset="0"/>
              <a:cs typeface="Arial" panose="020B0604020202020204" pitchFamily="34" charset="0"/>
            </a:endParaRPr>
          </a:p>
          <a:p>
            <a:pPr marL="876300" marR="277495">
              <a:lnSpc>
                <a:spcPct val="100000"/>
              </a:lnSpc>
            </a:pPr>
            <a:r>
              <a:rPr sz="1800" b="1" u="heavy" spc="-5" dirty="0">
                <a:uFill>
                  <a:solidFill>
                    <a:srgbClr val="000000"/>
                  </a:solidFill>
                </a:uFill>
                <a:latin typeface="Arial" panose="020B0604020202020204" pitchFamily="34" charset="0"/>
                <a:cs typeface="Arial" panose="020B0604020202020204" pitchFamily="34" charset="0"/>
              </a:rPr>
              <a:t>Lexicon </a:t>
            </a:r>
            <a:r>
              <a:rPr sz="1800" b="1" dirty="0">
                <a:latin typeface="Arial" panose="020B0604020202020204" pitchFamily="34" charset="0"/>
                <a:cs typeface="Arial" panose="020B0604020202020204" pitchFamily="34" charset="0"/>
              </a:rPr>
              <a:t> </a:t>
            </a:r>
            <a:endParaRPr lang="en-US" sz="1800" b="1" dirty="0">
              <a:latin typeface="Arial" panose="020B0604020202020204" pitchFamily="34" charset="0"/>
              <a:cs typeface="Arial" panose="020B0604020202020204" pitchFamily="34" charset="0"/>
            </a:endParaRPr>
          </a:p>
          <a:p>
            <a:pPr marL="876300" marR="277495">
              <a:lnSpc>
                <a:spcPct val="100000"/>
              </a:lnSpc>
            </a:pPr>
            <a:r>
              <a:rPr sz="1800" dirty="0">
                <a:latin typeface="Arial" panose="020B0604020202020204" pitchFamily="34" charset="0"/>
                <a:cs typeface="Arial" panose="020B0604020202020204" pitchFamily="34" charset="0"/>
              </a:rPr>
              <a:t>Rice : N </a:t>
            </a:r>
            <a:r>
              <a:rPr sz="1800" spc="5" dirty="0">
                <a:latin typeface="Arial" panose="020B0604020202020204" pitchFamily="34" charset="0"/>
                <a:cs typeface="Arial" panose="020B0604020202020204" pitchFamily="34" charset="0"/>
              </a:rPr>
              <a:t> </a:t>
            </a:r>
            <a:endParaRPr lang="en-US" sz="1800" spc="5" dirty="0">
              <a:latin typeface="Arial" panose="020B0604020202020204" pitchFamily="34" charset="0"/>
              <a:cs typeface="Arial" panose="020B0604020202020204" pitchFamily="34" charset="0"/>
            </a:endParaRPr>
          </a:p>
          <a:p>
            <a:pPr marL="876300" marR="277495">
              <a:lnSpc>
                <a:spcPct val="100000"/>
              </a:lnSpc>
            </a:pPr>
            <a:r>
              <a:rPr sz="1800" spc="-5" dirty="0">
                <a:latin typeface="Arial" panose="020B0604020202020204" pitchFamily="34" charset="0"/>
                <a:cs typeface="Arial" panose="020B0604020202020204" pitchFamily="34" charset="0"/>
              </a:rPr>
              <a:t>Flies</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t>
            </a:r>
            <a:r>
              <a:rPr sz="1800" spc="-15"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N,</a:t>
            </a:r>
            <a:r>
              <a:rPr sz="1800" spc="-4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V </a:t>
            </a:r>
            <a:r>
              <a:rPr sz="1800" spc="-610" dirty="0">
                <a:latin typeface="Arial" panose="020B0604020202020204" pitchFamily="34" charset="0"/>
                <a:cs typeface="Arial" panose="020B0604020202020204" pitchFamily="34" charset="0"/>
              </a:rPr>
              <a:t> </a:t>
            </a:r>
            <a:endParaRPr lang="en-US" sz="1800" spc="-610" dirty="0">
              <a:latin typeface="Arial" panose="020B0604020202020204" pitchFamily="34" charset="0"/>
              <a:cs typeface="Arial" panose="020B0604020202020204" pitchFamily="34" charset="0"/>
            </a:endParaRPr>
          </a:p>
          <a:p>
            <a:pPr marL="876300" marR="277495">
              <a:lnSpc>
                <a:spcPct val="100000"/>
              </a:lnSpc>
            </a:pPr>
            <a:r>
              <a:rPr sz="1800" dirty="0">
                <a:latin typeface="Arial" panose="020B0604020202020204" pitchFamily="34" charset="0"/>
                <a:cs typeface="Arial" panose="020B0604020202020204" pitchFamily="34" charset="0"/>
              </a:rPr>
              <a:t>Li</a:t>
            </a:r>
            <a:r>
              <a:rPr sz="1800" spc="-20" dirty="0">
                <a:latin typeface="Arial" panose="020B0604020202020204" pitchFamily="34" charset="0"/>
                <a:cs typeface="Arial" panose="020B0604020202020204" pitchFamily="34" charset="0"/>
              </a:rPr>
              <a:t>k</a:t>
            </a:r>
            <a:r>
              <a:rPr sz="1800" dirty="0">
                <a:latin typeface="Arial" panose="020B0604020202020204" pitchFamily="34" charset="0"/>
                <a:cs typeface="Arial" panose="020B0604020202020204" pitchFamily="34" charset="0"/>
              </a:rPr>
              <a:t>e : </a:t>
            </a:r>
            <a:r>
              <a:rPr sz="1800" spc="-254" dirty="0">
                <a:latin typeface="Arial" panose="020B0604020202020204" pitchFamily="34" charset="0"/>
                <a:cs typeface="Arial" panose="020B0604020202020204" pitchFamily="34" charset="0"/>
              </a:rPr>
              <a:t>V</a:t>
            </a:r>
            <a:r>
              <a:rPr sz="1800" dirty="0">
                <a:latin typeface="Arial" panose="020B0604020202020204" pitchFamily="34" charset="0"/>
                <a:cs typeface="Arial" panose="020B0604020202020204" pitchFamily="34" charset="0"/>
              </a:rPr>
              <a:t>,</a:t>
            </a:r>
            <a:r>
              <a:rPr sz="1800" spc="-3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  </a:t>
            </a:r>
            <a:r>
              <a:rPr sz="1800" spc="-5" dirty="0">
                <a:latin typeface="Arial" panose="020B0604020202020204" pitchFamily="34" charset="0"/>
                <a:cs typeface="Arial" panose="020B0604020202020204" pitchFamily="34" charset="0"/>
              </a:rPr>
              <a:t>Sand</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t>
            </a:r>
            <a:r>
              <a:rPr sz="1800" spc="-1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N</a:t>
            </a:r>
          </a:p>
          <a:p>
            <a:pPr marL="12700" marR="652145">
              <a:lnSpc>
                <a:spcPct val="100000"/>
              </a:lnSpc>
              <a:spcBef>
                <a:spcPts val="1664"/>
              </a:spcBef>
            </a:pPr>
            <a:r>
              <a:rPr sz="1800" spc="-5" dirty="0">
                <a:latin typeface="Arial" panose="020B0604020202020204" pitchFamily="34" charset="0"/>
                <a:cs typeface="Arial" panose="020B0604020202020204" pitchFamily="34" charset="0"/>
              </a:rPr>
              <a:t>NP</a:t>
            </a:r>
            <a:r>
              <a:rPr sz="1800" spc="-25"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a:t>
            </a:r>
            <a:r>
              <a:rPr sz="1800" spc="-20"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Noun</a:t>
            </a:r>
            <a:r>
              <a:rPr lang="en-US" sz="1800" spc="-25" dirty="0">
                <a:latin typeface="Arial" panose="020B0604020202020204" pitchFamily="34" charset="0"/>
                <a:cs typeface="Arial" panose="020B0604020202020204" pitchFamily="34" charset="0"/>
              </a:rPr>
              <a:t> P</a:t>
            </a:r>
            <a:r>
              <a:rPr sz="1800" spc="-10" dirty="0">
                <a:latin typeface="Arial" panose="020B0604020202020204" pitchFamily="34" charset="0"/>
                <a:cs typeface="Arial" panose="020B0604020202020204" pitchFamily="34" charset="0"/>
              </a:rPr>
              <a:t>hrases </a:t>
            </a:r>
            <a:r>
              <a:rPr sz="1800" spc="-484" dirty="0">
                <a:latin typeface="Arial" panose="020B0604020202020204" pitchFamily="34" charset="0"/>
                <a:cs typeface="Arial" panose="020B0604020202020204" pitchFamily="34" charset="0"/>
              </a:rPr>
              <a:t> </a:t>
            </a:r>
            <a:endParaRPr lang="en-US" sz="1800" spc="-484" dirty="0">
              <a:latin typeface="Arial" panose="020B0604020202020204" pitchFamily="34" charset="0"/>
              <a:cs typeface="Arial" panose="020B0604020202020204" pitchFamily="34" charset="0"/>
            </a:endParaRPr>
          </a:p>
          <a:p>
            <a:pPr marL="12700" marR="652145">
              <a:lnSpc>
                <a:spcPct val="100000"/>
              </a:lnSpc>
              <a:spcBef>
                <a:spcPts val="1664"/>
              </a:spcBef>
            </a:pPr>
            <a:r>
              <a:rPr sz="1800" spc="-5" dirty="0">
                <a:latin typeface="Arial" panose="020B0604020202020204" pitchFamily="34" charset="0"/>
                <a:cs typeface="Arial" panose="020B0604020202020204" pitchFamily="34" charset="0"/>
              </a:rPr>
              <a:t>VP</a:t>
            </a:r>
            <a:r>
              <a:rPr sz="1800" spc="-10"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a:t>
            </a:r>
            <a:r>
              <a:rPr sz="1800" spc="-20" dirty="0">
                <a:latin typeface="Arial" panose="020B0604020202020204" pitchFamily="34" charset="0"/>
                <a:cs typeface="Arial" panose="020B0604020202020204" pitchFamily="34" charset="0"/>
              </a:rPr>
              <a:t> </a:t>
            </a:r>
            <a:r>
              <a:rPr sz="1800" spc="-25" dirty="0">
                <a:latin typeface="Arial" panose="020B0604020202020204" pitchFamily="34" charset="0"/>
                <a:cs typeface="Arial" panose="020B0604020202020204" pitchFamily="34" charset="0"/>
              </a:rPr>
              <a:t>Verb</a:t>
            </a:r>
            <a:r>
              <a:rPr sz="1800" spc="-15" dirty="0">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Phrases</a:t>
            </a:r>
            <a:endParaRPr sz="1800" dirty="0">
              <a:latin typeface="Arial" panose="020B0604020202020204" pitchFamily="34" charset="0"/>
              <a:cs typeface="Arial" panose="020B0604020202020204" pitchFamily="34" charset="0"/>
            </a:endParaRPr>
          </a:p>
          <a:p>
            <a:pPr marL="12700">
              <a:lnSpc>
                <a:spcPct val="100000"/>
              </a:lnSpc>
            </a:pPr>
            <a:r>
              <a:rPr sz="1800" spc="-5" dirty="0">
                <a:latin typeface="Arial" panose="020B0604020202020204" pitchFamily="34" charset="0"/>
                <a:cs typeface="Arial" panose="020B0604020202020204" pitchFamily="34" charset="0"/>
              </a:rPr>
              <a:t>PP</a:t>
            </a:r>
            <a:r>
              <a:rPr sz="1800" spc="10"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a:t>
            </a:r>
            <a:r>
              <a:rPr sz="1800" spc="-15" dirty="0">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Prepositional</a:t>
            </a:r>
            <a:r>
              <a:rPr sz="1800" spc="35" dirty="0">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Phrases</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60770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158" y="790581"/>
            <a:ext cx="9632442" cy="382797"/>
          </a:xfrm>
          <a:prstGeom prst="rect">
            <a:avLst/>
          </a:prstGeom>
        </p:spPr>
        <p:txBody>
          <a:bodyPr vert="horz" wrap="square" lIns="0" tIns="13335" rIns="0" bIns="0" rtlCol="0" anchor="ctr">
            <a:spAutoFit/>
          </a:bodyPr>
          <a:lstStyle/>
          <a:p>
            <a:pPr marL="12700" algn="l" rtl="0">
              <a:spcBef>
                <a:spcPts val="105"/>
              </a:spcBef>
            </a:pPr>
            <a:r>
              <a:rPr sz="2400" b="1" kern="1200" spc="-5" dirty="0">
                <a:latin typeface="Arial" panose="020B0604020202020204" pitchFamily="34" charset="0"/>
                <a:ea typeface="Cambria" panose="02040503050406030204" pitchFamily="18" charset="0"/>
                <a:cs typeface="Arial" panose="020B0604020202020204" pitchFamily="34" charset="0"/>
              </a:rPr>
              <a:t>The Organization of Natural  Language Processing Systems</a:t>
            </a:r>
          </a:p>
        </p:txBody>
      </p:sp>
      <p:pic>
        <p:nvPicPr>
          <p:cNvPr id="3" name="object 3"/>
          <p:cNvPicPr/>
          <p:nvPr/>
        </p:nvPicPr>
        <p:blipFill>
          <a:blip r:embed="rId3" cstate="print"/>
          <a:stretch>
            <a:fillRect/>
          </a:stretch>
        </p:blipFill>
        <p:spPr>
          <a:xfrm>
            <a:off x="1935379" y="1753377"/>
            <a:ext cx="5424176" cy="4638278"/>
          </a:xfrm>
          <a:prstGeom prst="rect">
            <a:avLst/>
          </a:prstGeom>
        </p:spPr>
      </p:pic>
      <p:sp>
        <p:nvSpPr>
          <p:cNvPr id="4" name="object 4"/>
          <p:cNvSpPr txBox="1"/>
          <p:nvPr/>
        </p:nvSpPr>
        <p:spPr>
          <a:xfrm>
            <a:off x="264363" y="3052317"/>
            <a:ext cx="1527810" cy="756920"/>
          </a:xfrm>
          <a:prstGeom prst="rect">
            <a:avLst/>
          </a:prstGeom>
        </p:spPr>
        <p:txBody>
          <a:bodyPr vert="horz" wrap="square" lIns="0" tIns="12065" rIns="0" bIns="0" rtlCol="0">
            <a:spAutoFit/>
          </a:bodyPr>
          <a:lstStyle/>
          <a:p>
            <a:pPr marL="12700" marR="5080" indent="635" algn="ctr">
              <a:lnSpc>
                <a:spcPct val="100000"/>
              </a:lnSpc>
              <a:spcBef>
                <a:spcPts val="95"/>
              </a:spcBef>
            </a:pPr>
            <a:r>
              <a:rPr sz="1600" b="1" spc="-5" dirty="0">
                <a:solidFill>
                  <a:srgbClr val="6F2F9F"/>
                </a:solidFill>
                <a:latin typeface="Tahoma"/>
                <a:cs typeface="Tahoma"/>
              </a:rPr>
              <a:t>Natural </a:t>
            </a:r>
            <a:r>
              <a:rPr sz="1600" b="1" dirty="0">
                <a:solidFill>
                  <a:srgbClr val="6F2F9F"/>
                </a:solidFill>
                <a:latin typeface="Tahoma"/>
                <a:cs typeface="Tahoma"/>
              </a:rPr>
              <a:t> </a:t>
            </a:r>
            <a:r>
              <a:rPr sz="1600" b="1" spc="-10" dirty="0">
                <a:solidFill>
                  <a:srgbClr val="6F2F9F"/>
                </a:solidFill>
                <a:latin typeface="Tahoma"/>
                <a:cs typeface="Tahoma"/>
              </a:rPr>
              <a:t>Language </a:t>
            </a:r>
            <a:r>
              <a:rPr sz="1600" b="1" spc="-5" dirty="0">
                <a:solidFill>
                  <a:srgbClr val="6F2F9F"/>
                </a:solidFill>
                <a:latin typeface="Tahoma"/>
                <a:cs typeface="Tahoma"/>
              </a:rPr>
              <a:t> U</a:t>
            </a:r>
            <a:r>
              <a:rPr sz="1600" b="1" spc="-10" dirty="0">
                <a:solidFill>
                  <a:srgbClr val="6F2F9F"/>
                </a:solidFill>
                <a:latin typeface="Tahoma"/>
                <a:cs typeface="Tahoma"/>
              </a:rPr>
              <a:t>nde</a:t>
            </a:r>
            <a:r>
              <a:rPr sz="1600" b="1" dirty="0">
                <a:solidFill>
                  <a:srgbClr val="6F2F9F"/>
                </a:solidFill>
                <a:latin typeface="Tahoma"/>
                <a:cs typeface="Tahoma"/>
              </a:rPr>
              <a:t>r</a:t>
            </a:r>
            <a:r>
              <a:rPr sz="1600" b="1" spc="-15" dirty="0">
                <a:solidFill>
                  <a:srgbClr val="6F2F9F"/>
                </a:solidFill>
                <a:latin typeface="Tahoma"/>
                <a:cs typeface="Tahoma"/>
              </a:rPr>
              <a:t>s</a:t>
            </a:r>
            <a:r>
              <a:rPr sz="1600" b="1" spc="-5" dirty="0">
                <a:solidFill>
                  <a:srgbClr val="6F2F9F"/>
                </a:solidFill>
                <a:latin typeface="Tahoma"/>
                <a:cs typeface="Tahoma"/>
              </a:rPr>
              <a:t>tandi</a:t>
            </a:r>
            <a:r>
              <a:rPr sz="1600" b="1" spc="5" dirty="0">
                <a:solidFill>
                  <a:srgbClr val="6F2F9F"/>
                </a:solidFill>
                <a:latin typeface="Tahoma"/>
                <a:cs typeface="Tahoma"/>
              </a:rPr>
              <a:t>n</a:t>
            </a:r>
            <a:r>
              <a:rPr sz="1600" b="1" spc="-5" dirty="0">
                <a:solidFill>
                  <a:srgbClr val="6F2F9F"/>
                </a:solidFill>
                <a:latin typeface="Tahoma"/>
                <a:cs typeface="Tahoma"/>
              </a:rPr>
              <a:t>g</a:t>
            </a:r>
            <a:endParaRPr sz="1600">
              <a:latin typeface="Tahoma"/>
              <a:cs typeface="Tahoma"/>
            </a:endParaRPr>
          </a:p>
        </p:txBody>
      </p:sp>
      <p:sp>
        <p:nvSpPr>
          <p:cNvPr id="5" name="object 5"/>
          <p:cNvSpPr txBox="1"/>
          <p:nvPr/>
        </p:nvSpPr>
        <p:spPr>
          <a:xfrm>
            <a:off x="7591170" y="2929254"/>
            <a:ext cx="1156335" cy="756920"/>
          </a:xfrm>
          <a:prstGeom prst="rect">
            <a:avLst/>
          </a:prstGeom>
        </p:spPr>
        <p:txBody>
          <a:bodyPr vert="horz" wrap="square" lIns="0" tIns="12065" rIns="0" bIns="0" rtlCol="0">
            <a:spAutoFit/>
          </a:bodyPr>
          <a:lstStyle/>
          <a:p>
            <a:pPr marL="12700" marR="5080" algn="ctr">
              <a:lnSpc>
                <a:spcPct val="100000"/>
              </a:lnSpc>
              <a:spcBef>
                <a:spcPts val="95"/>
              </a:spcBef>
            </a:pPr>
            <a:r>
              <a:rPr sz="1600" b="1" spc="-5" dirty="0">
                <a:solidFill>
                  <a:srgbClr val="15AC15"/>
                </a:solidFill>
                <a:latin typeface="Tahoma"/>
                <a:cs typeface="Tahoma"/>
              </a:rPr>
              <a:t>Natural </a:t>
            </a:r>
            <a:r>
              <a:rPr sz="1600" b="1" dirty="0">
                <a:solidFill>
                  <a:srgbClr val="15AC15"/>
                </a:solidFill>
                <a:latin typeface="Tahoma"/>
                <a:cs typeface="Tahoma"/>
              </a:rPr>
              <a:t> </a:t>
            </a:r>
            <a:r>
              <a:rPr sz="1600" b="1" spc="-10" dirty="0">
                <a:solidFill>
                  <a:srgbClr val="15AC15"/>
                </a:solidFill>
                <a:latin typeface="Tahoma"/>
                <a:cs typeface="Tahoma"/>
              </a:rPr>
              <a:t>Language </a:t>
            </a:r>
            <a:r>
              <a:rPr sz="1600" b="1" spc="-5" dirty="0">
                <a:solidFill>
                  <a:srgbClr val="15AC15"/>
                </a:solidFill>
                <a:latin typeface="Tahoma"/>
                <a:cs typeface="Tahoma"/>
              </a:rPr>
              <a:t> </a:t>
            </a:r>
            <a:r>
              <a:rPr sz="1600" b="1" spc="-10" dirty="0">
                <a:solidFill>
                  <a:srgbClr val="15AC15"/>
                </a:solidFill>
                <a:latin typeface="Tahoma"/>
                <a:cs typeface="Tahoma"/>
              </a:rPr>
              <a:t>Gener</a:t>
            </a:r>
            <a:r>
              <a:rPr sz="1600" b="1" spc="-5" dirty="0">
                <a:solidFill>
                  <a:srgbClr val="15AC15"/>
                </a:solidFill>
                <a:latin typeface="Tahoma"/>
                <a:cs typeface="Tahoma"/>
              </a:rPr>
              <a:t>at</a:t>
            </a:r>
            <a:r>
              <a:rPr sz="1600" b="1" spc="-15" dirty="0">
                <a:solidFill>
                  <a:srgbClr val="15AC15"/>
                </a:solidFill>
                <a:latin typeface="Tahoma"/>
                <a:cs typeface="Tahoma"/>
              </a:rPr>
              <a:t>i</a:t>
            </a:r>
            <a:r>
              <a:rPr sz="1600" b="1" spc="-10" dirty="0">
                <a:solidFill>
                  <a:srgbClr val="15AC15"/>
                </a:solidFill>
                <a:latin typeface="Tahoma"/>
                <a:cs typeface="Tahoma"/>
              </a:rPr>
              <a:t>on</a:t>
            </a:r>
            <a:endParaRPr sz="1600" dirty="0">
              <a:latin typeface="Tahoma"/>
              <a:cs typeface="Tahoma"/>
            </a:endParaRPr>
          </a:p>
        </p:txBody>
      </p:sp>
      <p:grpSp>
        <p:nvGrpSpPr>
          <p:cNvPr id="6" name="object 6"/>
          <p:cNvGrpSpPr/>
          <p:nvPr/>
        </p:nvGrpSpPr>
        <p:grpSpPr>
          <a:xfrm>
            <a:off x="108204" y="1511808"/>
            <a:ext cx="9050020" cy="4879975"/>
            <a:chOff x="108204" y="1511808"/>
            <a:chExt cx="9050020" cy="4879975"/>
          </a:xfrm>
        </p:grpSpPr>
        <p:sp>
          <p:nvSpPr>
            <p:cNvPr id="7" name="object 7"/>
            <p:cNvSpPr/>
            <p:nvPr/>
          </p:nvSpPr>
          <p:spPr>
            <a:xfrm>
              <a:off x="121158" y="1540002"/>
              <a:ext cx="5244465" cy="4838700"/>
            </a:xfrm>
            <a:custGeom>
              <a:avLst/>
              <a:gdLst/>
              <a:ahLst/>
              <a:cxnLst/>
              <a:rect l="l" t="t" r="r" b="b"/>
              <a:pathLst>
                <a:path w="5244465" h="4838700">
                  <a:moveTo>
                    <a:pt x="0" y="4838700"/>
                  </a:moveTo>
                  <a:lnTo>
                    <a:pt x="5244084" y="4838700"/>
                  </a:lnTo>
                  <a:lnTo>
                    <a:pt x="5244084" y="0"/>
                  </a:lnTo>
                  <a:lnTo>
                    <a:pt x="0" y="0"/>
                  </a:lnTo>
                  <a:lnTo>
                    <a:pt x="0" y="4838700"/>
                  </a:lnTo>
                  <a:close/>
                </a:path>
              </a:pathLst>
            </a:custGeom>
            <a:ln w="25908">
              <a:solidFill>
                <a:srgbClr val="9900CC"/>
              </a:solidFill>
            </a:ln>
          </p:spPr>
          <p:txBody>
            <a:bodyPr wrap="square" lIns="0" tIns="0" rIns="0" bIns="0" rtlCol="0"/>
            <a:lstStyle/>
            <a:p>
              <a:endParaRPr/>
            </a:p>
          </p:txBody>
        </p:sp>
        <p:sp>
          <p:nvSpPr>
            <p:cNvPr id="8" name="object 8"/>
            <p:cNvSpPr/>
            <p:nvPr/>
          </p:nvSpPr>
          <p:spPr>
            <a:xfrm>
              <a:off x="4117086" y="1524762"/>
              <a:ext cx="5027930" cy="4838700"/>
            </a:xfrm>
            <a:custGeom>
              <a:avLst/>
              <a:gdLst/>
              <a:ahLst/>
              <a:cxnLst/>
              <a:rect l="l" t="t" r="r" b="b"/>
              <a:pathLst>
                <a:path w="5027930" h="4838700">
                  <a:moveTo>
                    <a:pt x="0" y="4838700"/>
                  </a:moveTo>
                  <a:lnTo>
                    <a:pt x="5027675" y="4838700"/>
                  </a:lnTo>
                  <a:lnTo>
                    <a:pt x="5027675" y="0"/>
                  </a:lnTo>
                  <a:lnTo>
                    <a:pt x="0" y="0"/>
                  </a:lnTo>
                  <a:lnTo>
                    <a:pt x="0" y="4838700"/>
                  </a:lnTo>
                  <a:close/>
                </a:path>
              </a:pathLst>
            </a:custGeom>
            <a:ln w="25908">
              <a:solidFill>
                <a:srgbClr val="15AC15"/>
              </a:solidFill>
            </a:ln>
          </p:spPr>
          <p:txBody>
            <a:bodyPr wrap="square" lIns="0" tIns="0" rIns="0" bIns="0" rtlCol="0"/>
            <a:lstStyle/>
            <a:p>
              <a:endParaRPr/>
            </a:p>
          </p:txBody>
        </p:sp>
      </p:grpSp>
    </p:spTree>
    <p:extLst>
      <p:ext uri="{BB962C8B-B14F-4D97-AF65-F5344CB8AC3E}">
        <p14:creationId xmlns:p14="http://schemas.microsoft.com/office/powerpoint/2010/main" val="20170831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90" y="457200"/>
            <a:ext cx="7834064" cy="850106"/>
          </a:xfrm>
        </p:spPr>
        <p:txBody>
          <a:bodyPr/>
          <a:lstStyle/>
          <a:p>
            <a:r>
              <a:rPr lang="en-IN" b="1" dirty="0"/>
              <a:t>Evaluating Language Understanding Systems</a:t>
            </a:r>
            <a:endParaRPr lang="en-US" b="1" dirty="0"/>
          </a:p>
        </p:txBody>
      </p:sp>
      <p:sp>
        <p:nvSpPr>
          <p:cNvPr id="3" name="Content Placeholder 2"/>
          <p:cNvSpPr>
            <a:spLocks noGrp="1"/>
          </p:cNvSpPr>
          <p:nvPr>
            <p:ph idx="1"/>
          </p:nvPr>
        </p:nvSpPr>
        <p:spPr/>
        <p:txBody>
          <a:bodyPr/>
          <a:lstStyle/>
          <a:p>
            <a:r>
              <a:rPr lang="en-US" dirty="0"/>
              <a:t>What metrics to use? </a:t>
            </a:r>
          </a:p>
          <a:p>
            <a:r>
              <a:rPr lang="en-US" dirty="0"/>
              <a:t>How to deal with complex outputs like translations? </a:t>
            </a:r>
          </a:p>
          <a:p>
            <a:r>
              <a:rPr lang="en-US" dirty="0"/>
              <a:t>Are the human judgments measuring something real?  reliable? </a:t>
            </a:r>
          </a:p>
          <a:p>
            <a:r>
              <a:rPr lang="en-US" dirty="0"/>
              <a:t>Is the sample of texts sufﬁciently representative? </a:t>
            </a:r>
          </a:p>
          <a:p>
            <a:r>
              <a:rPr lang="en-US" dirty="0"/>
              <a:t>How reliable or certain are the results?</a:t>
            </a:r>
          </a:p>
          <a:p>
            <a:endParaRPr lang="en-US" dirty="0"/>
          </a:p>
        </p:txBody>
      </p:sp>
      <p:sp>
        <p:nvSpPr>
          <p:cNvPr id="4" name="Slide Number Placeholder 3"/>
          <p:cNvSpPr>
            <a:spLocks noGrp="1"/>
          </p:cNvSpPr>
          <p:nvPr>
            <p:ph type="sldNum" sz="quarter" idx="12"/>
          </p:nvPr>
        </p:nvSpPr>
        <p:spPr/>
        <p:txBody>
          <a:bodyPr/>
          <a:lstStyle/>
          <a:p>
            <a:pPr>
              <a:defRPr/>
            </a:pPr>
            <a:fld id="{60DB935C-A2BB-404C-A6C5-67E9068028EC}" type="slidenum">
              <a:rPr lang="en-US" smtClean="0"/>
              <a:pPr>
                <a:defRPr/>
              </a:pPr>
              <a:t>46</a:t>
            </a:fld>
            <a:endParaRPr lang="en-US"/>
          </a:p>
        </p:txBody>
      </p:sp>
    </p:spTree>
    <p:extLst>
      <p:ext uri="{BB962C8B-B14F-4D97-AF65-F5344CB8AC3E}">
        <p14:creationId xmlns:p14="http://schemas.microsoft.com/office/powerpoint/2010/main" val="4160542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Contingency Table</a:t>
            </a:r>
          </a:p>
        </p:txBody>
      </p:sp>
      <p:pic>
        <p:nvPicPr>
          <p:cNvPr id="4" name="Content Placeholder 3"/>
          <p:cNvPicPr>
            <a:picLocks noGrp="1" noChangeAspect="1"/>
          </p:cNvPicPr>
          <p:nvPr>
            <p:ph idx="1"/>
          </p:nvPr>
        </p:nvPicPr>
        <p:blipFill rotWithShape="1">
          <a:blip r:embed="rId2"/>
          <a:srcRect l="11190" t="28621" r="19710" b="27604"/>
          <a:stretch/>
        </p:blipFill>
        <p:spPr>
          <a:xfrm>
            <a:off x="1" y="1828800"/>
            <a:ext cx="9067800" cy="3276601"/>
          </a:xfrm>
          <a:prstGeom prst="rect">
            <a:avLst/>
          </a:prstGeom>
        </p:spPr>
      </p:pic>
      <p:sp>
        <p:nvSpPr>
          <p:cNvPr id="3" name="Slide Number Placeholder 2"/>
          <p:cNvSpPr>
            <a:spLocks noGrp="1"/>
          </p:cNvSpPr>
          <p:nvPr>
            <p:ph type="sldNum" sz="quarter" idx="12"/>
          </p:nvPr>
        </p:nvSpPr>
        <p:spPr/>
        <p:txBody>
          <a:bodyPr/>
          <a:lstStyle/>
          <a:p>
            <a:pPr>
              <a:defRPr/>
            </a:pPr>
            <a:fld id="{60DB935C-A2BB-404C-A6C5-67E9068028EC}" type="slidenum">
              <a:rPr lang="en-US" smtClean="0"/>
              <a:pPr>
                <a:defRPr/>
              </a:pPr>
              <a:t>47</a:t>
            </a:fld>
            <a:endParaRPr lang="en-US"/>
          </a:p>
        </p:txBody>
      </p:sp>
    </p:spTree>
    <p:extLst>
      <p:ext uri="{BB962C8B-B14F-4D97-AF65-F5344CB8AC3E}">
        <p14:creationId xmlns:p14="http://schemas.microsoft.com/office/powerpoint/2010/main" val="26119067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40"/>
          <p:cNvSpPr txBox="1">
            <a:spLocks noGrp="1"/>
          </p:cNvSpPr>
          <p:nvPr>
            <p:ph type="title"/>
          </p:nvPr>
        </p:nvSpPr>
        <p:spPr>
          <a:xfrm>
            <a:off x="30480" y="533400"/>
            <a:ext cx="822960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4400"/>
              <a:buFont typeface="Calibri"/>
              <a:buNone/>
            </a:pPr>
            <a:r>
              <a:rPr lang="en-US"/>
              <a:t>Some other evaluation measures</a:t>
            </a:r>
            <a:endParaRPr/>
          </a:p>
        </p:txBody>
      </p:sp>
      <p:pic>
        <p:nvPicPr>
          <p:cNvPr id="630" name="Google Shape;630;p40"/>
          <p:cNvPicPr preferRelativeResize="0"/>
          <p:nvPr/>
        </p:nvPicPr>
        <p:blipFill rotWithShape="1">
          <a:blip r:embed="rId3">
            <a:alphaModFix/>
          </a:blip>
          <a:srcRect/>
          <a:stretch/>
        </p:blipFill>
        <p:spPr>
          <a:xfrm>
            <a:off x="0" y="1366478"/>
            <a:ext cx="9144000" cy="4125043"/>
          </a:xfrm>
          <a:prstGeom prst="rect">
            <a:avLst/>
          </a:prstGeom>
          <a:noFill/>
          <a:ln>
            <a:noFill/>
          </a:ln>
        </p:spPr>
      </p:pic>
    </p:spTree>
    <p:extLst>
      <p:ext uri="{BB962C8B-B14F-4D97-AF65-F5344CB8AC3E}">
        <p14:creationId xmlns:p14="http://schemas.microsoft.com/office/powerpoint/2010/main" val="4891237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25"/>
          <p:cNvSpPr txBox="1">
            <a:spLocks noGrp="1"/>
          </p:cNvSpPr>
          <p:nvPr>
            <p:ph type="title"/>
          </p:nvPr>
        </p:nvSpPr>
        <p:spPr>
          <a:xfrm>
            <a:off x="628650" y="160569"/>
            <a:ext cx="6991350" cy="764364"/>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lt1"/>
              </a:buClr>
              <a:buSzPts val="2400"/>
              <a:buFont typeface="Helvetica Neue"/>
              <a:buNone/>
            </a:pPr>
            <a:r>
              <a:rPr lang="en-US"/>
              <a:t>NLP Tools</a:t>
            </a:r>
            <a:endParaRPr/>
          </a:p>
        </p:txBody>
      </p:sp>
      <p:sp>
        <p:nvSpPr>
          <p:cNvPr id="504" name="Google Shape;504;p25"/>
          <p:cNvSpPr txBox="1">
            <a:spLocks noGrp="1"/>
          </p:cNvSpPr>
          <p:nvPr>
            <p:ph type="body" idx="1"/>
          </p:nvPr>
        </p:nvSpPr>
        <p:spPr>
          <a:xfrm>
            <a:off x="228600" y="1371600"/>
            <a:ext cx="8743950" cy="53340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chemeClr val="dk1"/>
              </a:buClr>
              <a:buSzPct val="100000"/>
              <a:buNone/>
            </a:pPr>
            <a:r>
              <a:rPr lang="en-US" sz="1800"/>
              <a:t>Some commercial tools</a:t>
            </a:r>
            <a:endParaRPr/>
          </a:p>
          <a:p>
            <a:pPr marL="342900" lvl="0" indent="-342900" algn="l" rtl="0">
              <a:lnSpc>
                <a:spcPct val="100000"/>
              </a:lnSpc>
              <a:spcBef>
                <a:spcPts val="333"/>
              </a:spcBef>
              <a:spcAft>
                <a:spcPts val="0"/>
              </a:spcAft>
              <a:buClr>
                <a:schemeClr val="dk1"/>
              </a:buClr>
              <a:buSzPct val="100000"/>
              <a:buChar char="•"/>
            </a:pPr>
            <a:r>
              <a:rPr lang="en-US" sz="1800" u="sng">
                <a:solidFill>
                  <a:schemeClr val="hlink"/>
                </a:solidFill>
                <a:hlinkClick r:id="rId3"/>
              </a:rPr>
              <a:t>IBM Watson</a:t>
            </a:r>
            <a:r>
              <a:rPr lang="en-US" sz="1800"/>
              <a:t> | A pioneer AI platform for businesses</a:t>
            </a:r>
            <a:endParaRPr/>
          </a:p>
          <a:p>
            <a:pPr marL="342900" lvl="0" indent="-342900" algn="l" rtl="0">
              <a:lnSpc>
                <a:spcPct val="100000"/>
              </a:lnSpc>
              <a:spcBef>
                <a:spcPts val="333"/>
              </a:spcBef>
              <a:spcAft>
                <a:spcPts val="0"/>
              </a:spcAft>
              <a:buClr>
                <a:schemeClr val="dk1"/>
              </a:buClr>
              <a:buSzPct val="100000"/>
              <a:buChar char="•"/>
            </a:pPr>
            <a:r>
              <a:rPr lang="en-US" sz="1800" u="sng">
                <a:solidFill>
                  <a:schemeClr val="hlink"/>
                </a:solidFill>
                <a:hlinkClick r:id="rId4"/>
              </a:rPr>
              <a:t>Google Cloud NLP API</a:t>
            </a:r>
            <a:r>
              <a:rPr lang="en-US" sz="1800"/>
              <a:t> | Google technology applied to NLP</a:t>
            </a:r>
            <a:endParaRPr/>
          </a:p>
          <a:p>
            <a:pPr marL="342900" lvl="0" indent="-342900" algn="l" rtl="0">
              <a:lnSpc>
                <a:spcPct val="100000"/>
              </a:lnSpc>
              <a:spcBef>
                <a:spcPts val="333"/>
              </a:spcBef>
              <a:spcAft>
                <a:spcPts val="0"/>
              </a:spcAft>
              <a:buClr>
                <a:schemeClr val="dk1"/>
              </a:buClr>
              <a:buSzPct val="100000"/>
              <a:buChar char="•"/>
            </a:pPr>
            <a:r>
              <a:rPr lang="en-US" sz="1800" u="sng">
                <a:solidFill>
                  <a:schemeClr val="hlink"/>
                </a:solidFill>
                <a:hlinkClick r:id="rId5"/>
              </a:rPr>
              <a:t>Amazon Comprehend</a:t>
            </a:r>
            <a:r>
              <a:rPr lang="en-US" sz="1800"/>
              <a:t> | An AWS service to get insights from text</a:t>
            </a:r>
            <a:endParaRPr/>
          </a:p>
          <a:p>
            <a:pPr marL="342900" lvl="0" indent="-237172" algn="l" rtl="0">
              <a:lnSpc>
                <a:spcPct val="100000"/>
              </a:lnSpc>
              <a:spcBef>
                <a:spcPts val="333"/>
              </a:spcBef>
              <a:spcAft>
                <a:spcPts val="0"/>
              </a:spcAft>
              <a:buClr>
                <a:schemeClr val="dk1"/>
              </a:buClr>
              <a:buSzPct val="100000"/>
              <a:buNone/>
            </a:pPr>
            <a:endParaRPr sz="1800"/>
          </a:p>
          <a:p>
            <a:pPr marL="0" lvl="0" indent="0" algn="l" rtl="0">
              <a:lnSpc>
                <a:spcPct val="100000"/>
              </a:lnSpc>
              <a:spcBef>
                <a:spcPts val="333"/>
              </a:spcBef>
              <a:spcAft>
                <a:spcPts val="0"/>
              </a:spcAft>
              <a:buClr>
                <a:schemeClr val="dk1"/>
              </a:buClr>
              <a:buSzPct val="100000"/>
              <a:buNone/>
            </a:pPr>
            <a:r>
              <a:rPr lang="en-US" sz="1800"/>
              <a:t>Open Source Tools</a:t>
            </a:r>
            <a:endParaRPr/>
          </a:p>
          <a:p>
            <a:pPr marL="342900" lvl="0" indent="-342900" algn="l" rtl="0">
              <a:lnSpc>
                <a:spcPct val="100000"/>
              </a:lnSpc>
              <a:spcBef>
                <a:spcPts val="333"/>
              </a:spcBef>
              <a:spcAft>
                <a:spcPts val="0"/>
              </a:spcAft>
              <a:buClr>
                <a:schemeClr val="dk1"/>
              </a:buClr>
              <a:buSzPct val="100000"/>
              <a:buChar char="•"/>
            </a:pPr>
            <a:r>
              <a:rPr lang="en-US" sz="1800" u="sng">
                <a:solidFill>
                  <a:schemeClr val="hlink"/>
                </a:solidFill>
                <a:hlinkClick r:id="rId6"/>
              </a:rPr>
              <a:t>Stanford Core NLP</a:t>
            </a:r>
            <a:r>
              <a:rPr lang="en-US" sz="1800"/>
              <a:t> is a popular Java library built and maintained by Stanford University.</a:t>
            </a:r>
            <a:endParaRPr/>
          </a:p>
          <a:p>
            <a:pPr marL="342900" lvl="0" indent="-342900" algn="l" rtl="0">
              <a:lnSpc>
                <a:spcPct val="100000"/>
              </a:lnSpc>
              <a:spcBef>
                <a:spcPts val="333"/>
              </a:spcBef>
              <a:spcAft>
                <a:spcPts val="0"/>
              </a:spcAft>
              <a:buClr>
                <a:schemeClr val="dk1"/>
              </a:buClr>
              <a:buSzPct val="100000"/>
              <a:buChar char="•"/>
            </a:pPr>
            <a:r>
              <a:rPr lang="en-US" sz="1800" b="1"/>
              <a:t>SpaCy - </a:t>
            </a:r>
            <a:r>
              <a:rPr lang="en-US" sz="1800"/>
              <a:t>One of the newest open-source Natural Language Processing with Python libraries</a:t>
            </a:r>
            <a:endParaRPr/>
          </a:p>
          <a:p>
            <a:pPr marL="342900" lvl="0" indent="-342900" algn="l" rtl="0">
              <a:lnSpc>
                <a:spcPct val="100000"/>
              </a:lnSpc>
              <a:spcBef>
                <a:spcPts val="333"/>
              </a:spcBef>
              <a:spcAft>
                <a:spcPts val="0"/>
              </a:spcAft>
              <a:buClr>
                <a:schemeClr val="dk1"/>
              </a:buClr>
              <a:buSzPct val="100000"/>
              <a:buChar char="•"/>
            </a:pPr>
            <a:r>
              <a:rPr lang="en-US" sz="1800" u="sng">
                <a:solidFill>
                  <a:schemeClr val="hlink"/>
                </a:solidFill>
                <a:hlinkClick r:id="rId7"/>
              </a:rPr>
              <a:t>Gensim</a:t>
            </a:r>
            <a:r>
              <a:rPr lang="en-US" sz="1800"/>
              <a:t> is a highly specialized Python library that largely deals with topic modeling tasks using algorithms like Latent Dirichlet Allocation (LDA)</a:t>
            </a:r>
            <a:endParaRPr/>
          </a:p>
          <a:p>
            <a:pPr marL="342900" lvl="0" indent="-342900" algn="l" rtl="0">
              <a:lnSpc>
                <a:spcPct val="100000"/>
              </a:lnSpc>
              <a:spcBef>
                <a:spcPts val="333"/>
              </a:spcBef>
              <a:spcAft>
                <a:spcPts val="0"/>
              </a:spcAft>
              <a:buClr>
                <a:schemeClr val="dk1"/>
              </a:buClr>
              <a:buSzPct val="100000"/>
              <a:buChar char="•"/>
            </a:pPr>
            <a:r>
              <a:rPr lang="en-US" sz="1800" u="sng">
                <a:solidFill>
                  <a:schemeClr val="hlink"/>
                </a:solidFill>
                <a:hlinkClick r:id="rId8"/>
              </a:rPr>
              <a:t>Natural Language Toolkit (NLTK)</a:t>
            </a:r>
            <a:r>
              <a:rPr lang="en-US" sz="1800"/>
              <a:t> is the most popular Python library</a:t>
            </a:r>
            <a:endParaRPr/>
          </a:p>
          <a:p>
            <a:pPr marL="342900" lvl="0" indent="-342900" algn="l" rtl="0">
              <a:lnSpc>
                <a:spcPct val="100000"/>
              </a:lnSpc>
              <a:spcBef>
                <a:spcPts val="333"/>
              </a:spcBef>
              <a:spcAft>
                <a:spcPts val="0"/>
              </a:spcAft>
              <a:buClr>
                <a:schemeClr val="dk1"/>
              </a:buClr>
              <a:buSzPct val="100000"/>
              <a:buChar char="•"/>
            </a:pPr>
            <a:r>
              <a:rPr lang="en-US" sz="1600" b="1"/>
              <a:t>Generative Pre-trained Transformer </a:t>
            </a:r>
            <a:r>
              <a:rPr lang="en-US" sz="1600"/>
              <a:t> (</a:t>
            </a:r>
            <a:r>
              <a:rPr lang="en-US" sz="1600" b="1"/>
              <a:t>GPT</a:t>
            </a:r>
            <a:r>
              <a:rPr lang="en-US" sz="1600"/>
              <a:t>) is an </a:t>
            </a:r>
            <a:r>
              <a:rPr lang="en-US" sz="1600" u="sng">
                <a:solidFill>
                  <a:schemeClr val="hlink"/>
                </a:solidFill>
                <a:hlinkClick r:id="rId9"/>
              </a:rPr>
              <a:t>autoregressive</a:t>
            </a:r>
            <a:r>
              <a:rPr lang="en-US" sz="1600"/>
              <a:t> </a:t>
            </a:r>
            <a:r>
              <a:rPr lang="en-US" sz="1600" u="sng">
                <a:solidFill>
                  <a:schemeClr val="hlink"/>
                </a:solidFill>
                <a:hlinkClick r:id="rId10"/>
              </a:rPr>
              <a:t>language model</a:t>
            </a:r>
            <a:r>
              <a:rPr lang="en-US" sz="1600"/>
              <a:t> r</a:t>
            </a:r>
            <a:r>
              <a:rPr lang="en-US" sz="1800"/>
              <a:t>eleased recently by </a:t>
            </a:r>
            <a:r>
              <a:rPr lang="en-US" sz="1800" u="sng">
                <a:solidFill>
                  <a:schemeClr val="hlink"/>
                </a:solidFill>
                <a:hlinkClick r:id="rId11"/>
              </a:rPr>
              <a:t>Open AI</a:t>
            </a:r>
            <a:r>
              <a:rPr lang="en-US" sz="1800"/>
              <a:t>, pre-trained on (billions of parameters). It is autocompleting program and is used mainly for predicting text</a:t>
            </a:r>
            <a:endParaRPr/>
          </a:p>
          <a:p>
            <a:pPr marL="342900" lvl="0" indent="-342900" algn="l" rtl="0">
              <a:lnSpc>
                <a:spcPct val="100000"/>
              </a:lnSpc>
              <a:spcBef>
                <a:spcPts val="333"/>
              </a:spcBef>
              <a:spcAft>
                <a:spcPts val="0"/>
              </a:spcAft>
              <a:buClr>
                <a:schemeClr val="dk1"/>
              </a:buClr>
              <a:buSzPct val="100000"/>
              <a:buChar char="•"/>
            </a:pPr>
            <a:r>
              <a:rPr lang="en-US" sz="1800" b="1"/>
              <a:t>AllenNLP</a:t>
            </a:r>
            <a:r>
              <a:rPr lang="en-US" sz="1800"/>
              <a:t>: Powerful tool for prototyping with good text processing capabilities. Automates some of the tasks which are essential for almost every deep learning model. It provides a lot of modules like Seq2VecEncoder, Seq2SeqEncoder.</a:t>
            </a:r>
            <a:endParaRPr/>
          </a:p>
          <a:p>
            <a:pPr marL="342900" lvl="0" indent="-342900" algn="l" rtl="0">
              <a:lnSpc>
                <a:spcPct val="100000"/>
              </a:lnSpc>
              <a:spcBef>
                <a:spcPts val="333"/>
              </a:spcBef>
              <a:spcAft>
                <a:spcPts val="0"/>
              </a:spcAft>
              <a:buClr>
                <a:schemeClr val="dk1"/>
              </a:buClr>
              <a:buSzPct val="100000"/>
              <a:buChar char="•"/>
            </a:pPr>
            <a:r>
              <a:rPr lang="en-US" sz="1800" b="1"/>
              <a:t>Berkeley Neural Parser </a:t>
            </a:r>
            <a:r>
              <a:rPr lang="en-US" sz="1800"/>
              <a:t>(Python). It is a high-accuracy parser with models for 11 languages. It cracks the syntactic structure of sentences into nested sub phrases. This tool enables the easy extraction of information from syntactic constructs</a:t>
            </a:r>
            <a:endParaRPr/>
          </a:p>
          <a:p>
            <a:pPr marL="342900" lvl="0" indent="-263652" algn="l" rtl="0">
              <a:lnSpc>
                <a:spcPct val="100000"/>
              </a:lnSpc>
              <a:spcBef>
                <a:spcPts val="250"/>
              </a:spcBef>
              <a:spcAft>
                <a:spcPts val="0"/>
              </a:spcAft>
              <a:buClr>
                <a:schemeClr val="dk1"/>
              </a:buClr>
              <a:buSzPct val="100000"/>
              <a:buNone/>
            </a:pPr>
            <a:endParaRPr/>
          </a:p>
          <a:p>
            <a:pPr marL="342900" lvl="0" indent="-263652" algn="l" rtl="0">
              <a:lnSpc>
                <a:spcPct val="100000"/>
              </a:lnSpc>
              <a:spcBef>
                <a:spcPts val="250"/>
              </a:spcBef>
              <a:spcAft>
                <a:spcPts val="0"/>
              </a:spcAft>
              <a:buClr>
                <a:schemeClr val="dk1"/>
              </a:buClr>
              <a:buSzPct val="100000"/>
              <a:buNone/>
            </a:pPr>
            <a:endParaRPr/>
          </a:p>
        </p:txBody>
      </p:sp>
    </p:spTree>
    <p:extLst>
      <p:ext uri="{BB962C8B-B14F-4D97-AF65-F5344CB8AC3E}">
        <p14:creationId xmlns:p14="http://schemas.microsoft.com/office/powerpoint/2010/main" val="402484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26"/>
          <p:cNvSpPr txBox="1">
            <a:spLocks noGrp="1"/>
          </p:cNvSpPr>
          <p:nvPr>
            <p:ph type="title"/>
          </p:nvPr>
        </p:nvSpPr>
        <p:spPr>
          <a:xfrm>
            <a:off x="628650" y="160569"/>
            <a:ext cx="6991350" cy="764364"/>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lt1"/>
              </a:buClr>
              <a:buSzPts val="2400"/>
              <a:buFont typeface="Helvetica Neue"/>
              <a:buNone/>
            </a:pPr>
            <a:r>
              <a:rPr lang="en-US"/>
              <a:t>NLTK installation</a:t>
            </a:r>
            <a:endParaRPr/>
          </a:p>
        </p:txBody>
      </p:sp>
      <p:sp>
        <p:nvSpPr>
          <p:cNvPr id="510" name="Google Shape;510;p26"/>
          <p:cNvSpPr txBox="1">
            <a:spLocks noGrp="1"/>
          </p:cNvSpPr>
          <p:nvPr>
            <p:ph type="body" idx="1"/>
          </p:nvPr>
        </p:nvSpPr>
        <p:spPr>
          <a:xfrm>
            <a:off x="285750" y="1885950"/>
            <a:ext cx="8458200" cy="38862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1950"/>
              <a:buChar char="•"/>
            </a:pPr>
            <a:r>
              <a:rPr lang="en-US" sz="1950"/>
              <a:t>The Natural Language Toolkit (NLTK) is a platform used for building programs for text analysis.</a:t>
            </a:r>
            <a:endParaRPr/>
          </a:p>
          <a:p>
            <a:pPr marL="0" lvl="0" indent="0" algn="l" rtl="0">
              <a:lnSpc>
                <a:spcPct val="100000"/>
              </a:lnSpc>
              <a:spcBef>
                <a:spcPts val="390"/>
              </a:spcBef>
              <a:spcAft>
                <a:spcPts val="0"/>
              </a:spcAft>
              <a:buClr>
                <a:schemeClr val="dk1"/>
              </a:buClr>
              <a:buSzPts val="1950"/>
              <a:buNone/>
            </a:pPr>
            <a:r>
              <a:rPr lang="en-US" sz="1950"/>
              <a:t>Open Anaconda terminal, run</a:t>
            </a:r>
            <a:endParaRPr/>
          </a:p>
          <a:p>
            <a:pPr marL="0" lvl="0" indent="0" algn="l" rtl="0">
              <a:lnSpc>
                <a:spcPct val="100000"/>
              </a:lnSpc>
              <a:spcBef>
                <a:spcPts val="390"/>
              </a:spcBef>
              <a:spcAft>
                <a:spcPts val="0"/>
              </a:spcAft>
              <a:buClr>
                <a:srgbClr val="FF0000"/>
              </a:buClr>
              <a:buSzPts val="1950"/>
              <a:buNone/>
            </a:pPr>
            <a:r>
              <a:rPr lang="en-US" sz="1950" b="1">
                <a:solidFill>
                  <a:srgbClr val="FF0000"/>
                </a:solidFill>
              </a:rPr>
              <a:t>pip install nltk</a:t>
            </a:r>
            <a:r>
              <a:rPr lang="en-US" sz="1950">
                <a:solidFill>
                  <a:srgbClr val="FF0000"/>
                </a:solidFill>
              </a:rPr>
              <a:t>.</a:t>
            </a:r>
            <a:endParaRPr/>
          </a:p>
          <a:p>
            <a:pPr marL="0" lvl="0" indent="0" algn="l" rtl="0">
              <a:lnSpc>
                <a:spcPct val="100000"/>
              </a:lnSpc>
              <a:spcBef>
                <a:spcPts val="390"/>
              </a:spcBef>
              <a:spcAft>
                <a:spcPts val="0"/>
              </a:spcAft>
              <a:buClr>
                <a:schemeClr val="dk1"/>
              </a:buClr>
              <a:buSzPts val="1950"/>
              <a:buNone/>
            </a:pPr>
            <a:r>
              <a:rPr lang="en-US" sz="1950"/>
              <a:t>Anaconda and Jupiter are best and popular data science tools</a:t>
            </a:r>
            <a:endParaRPr/>
          </a:p>
          <a:p>
            <a:pPr marL="0" lvl="0" indent="0" algn="l" rtl="0">
              <a:lnSpc>
                <a:spcPct val="100000"/>
              </a:lnSpc>
              <a:spcBef>
                <a:spcPts val="390"/>
              </a:spcBef>
              <a:spcAft>
                <a:spcPts val="0"/>
              </a:spcAft>
              <a:buClr>
                <a:schemeClr val="dk1"/>
              </a:buClr>
              <a:buSzPts val="1950"/>
              <a:buNone/>
            </a:pPr>
            <a:r>
              <a:rPr lang="en-US" sz="1950"/>
              <a:t>In Jupyter, the console commands can be executed by the ‘!’ sign before the command within the cell.</a:t>
            </a:r>
            <a:endParaRPr/>
          </a:p>
          <a:p>
            <a:pPr marL="0" lvl="0" indent="0" algn="l" rtl="0">
              <a:lnSpc>
                <a:spcPct val="100000"/>
              </a:lnSpc>
              <a:spcBef>
                <a:spcPts val="390"/>
              </a:spcBef>
              <a:spcAft>
                <a:spcPts val="0"/>
              </a:spcAft>
              <a:buClr>
                <a:srgbClr val="FF0000"/>
              </a:buClr>
              <a:buSzPts val="1950"/>
              <a:buNone/>
            </a:pPr>
            <a:r>
              <a:rPr lang="en-US" sz="1950">
                <a:solidFill>
                  <a:srgbClr val="FF0000"/>
                </a:solidFill>
              </a:rPr>
              <a:t>! </a:t>
            </a:r>
            <a:r>
              <a:rPr lang="en-US" sz="1950" b="1">
                <a:solidFill>
                  <a:srgbClr val="FF0000"/>
                </a:solidFill>
              </a:rPr>
              <a:t>pip install nltk</a:t>
            </a:r>
            <a:endParaRPr sz="1950">
              <a:solidFill>
                <a:srgbClr val="FF0000"/>
              </a:solidFill>
            </a:endParaRPr>
          </a:p>
          <a:p>
            <a:pPr marL="0" lvl="0" indent="0" algn="l" rtl="0">
              <a:lnSpc>
                <a:spcPct val="100000"/>
              </a:lnSpc>
              <a:spcBef>
                <a:spcPts val="390"/>
              </a:spcBef>
              <a:spcAft>
                <a:spcPts val="0"/>
              </a:spcAft>
              <a:buClr>
                <a:schemeClr val="dk1"/>
              </a:buClr>
              <a:buSzPts val="1950"/>
              <a:buNone/>
            </a:pPr>
            <a:r>
              <a:rPr lang="en-US" sz="1950" u="sng">
                <a:solidFill>
                  <a:schemeClr val="hlink"/>
                </a:solidFill>
                <a:hlinkClick r:id="rId3"/>
              </a:rPr>
              <a:t>NLTK book</a:t>
            </a:r>
            <a:endParaRPr sz="1950" u="sng"/>
          </a:p>
          <a:p>
            <a:pPr marL="0" lvl="0" indent="0" algn="l" rtl="0">
              <a:lnSpc>
                <a:spcPct val="100000"/>
              </a:lnSpc>
              <a:spcBef>
                <a:spcPts val="390"/>
              </a:spcBef>
              <a:spcAft>
                <a:spcPts val="0"/>
              </a:spcAft>
              <a:buClr>
                <a:srgbClr val="FF0000"/>
              </a:buClr>
              <a:buSzPts val="1950"/>
              <a:buNone/>
            </a:pPr>
            <a:r>
              <a:rPr lang="en-US" sz="1950" u="sng">
                <a:solidFill>
                  <a:srgbClr val="FF0000"/>
                </a:solidFill>
                <a:hlinkClick r:id="rId4">
                  <a:extLst>
                    <a:ext uri="{A12FA001-AC4F-418D-AE19-62706E023703}">
                      <ahyp:hlinkClr xmlns:ahyp="http://schemas.microsoft.com/office/drawing/2018/hyperlinkcolor" val="tx"/>
                    </a:ext>
                  </a:extLst>
                </a:hlinkClick>
              </a:rPr>
              <a:t>NLTK </a:t>
            </a:r>
            <a:r>
              <a:rPr lang="en-US" sz="1950" u="sng">
                <a:solidFill>
                  <a:schemeClr val="hlink"/>
                </a:solidFill>
                <a:hlinkClick r:id="rId4"/>
              </a:rPr>
              <a:t>discussion forum</a:t>
            </a:r>
            <a:endParaRPr sz="1950" u="sng"/>
          </a:p>
          <a:p>
            <a:pPr marL="0" lvl="0" indent="0" algn="l" rtl="0">
              <a:lnSpc>
                <a:spcPct val="100000"/>
              </a:lnSpc>
              <a:spcBef>
                <a:spcPts val="420"/>
              </a:spcBef>
              <a:spcAft>
                <a:spcPts val="0"/>
              </a:spcAft>
              <a:buClr>
                <a:schemeClr val="dk1"/>
              </a:buClr>
              <a:buSzPts val="2100"/>
              <a:buNone/>
            </a:pPr>
            <a:r>
              <a:rPr lang="en-US" sz="2100" u="sng">
                <a:solidFill>
                  <a:schemeClr val="hlink"/>
                </a:solidFill>
                <a:hlinkClick r:id="rId5"/>
              </a:rPr>
              <a:t>https://www.nltk.org/install.html</a:t>
            </a:r>
            <a:endParaRPr sz="1950">
              <a:solidFill>
                <a:srgbClr val="FF0000"/>
              </a:solidFill>
            </a:endParaRPr>
          </a:p>
          <a:p>
            <a:pPr marL="342900" lvl="0" indent="-219075" algn="l" rtl="0">
              <a:lnSpc>
                <a:spcPct val="100000"/>
              </a:lnSpc>
              <a:spcBef>
                <a:spcPts val="390"/>
              </a:spcBef>
              <a:spcAft>
                <a:spcPts val="0"/>
              </a:spcAft>
              <a:buClr>
                <a:schemeClr val="dk1"/>
              </a:buClr>
              <a:buSzPts val="1950"/>
              <a:buNone/>
            </a:pPr>
            <a:endParaRPr sz="1950"/>
          </a:p>
          <a:p>
            <a:pPr marL="342900" lvl="0" indent="-219075" algn="l" rtl="0">
              <a:lnSpc>
                <a:spcPct val="100000"/>
              </a:lnSpc>
              <a:spcBef>
                <a:spcPts val="390"/>
              </a:spcBef>
              <a:spcAft>
                <a:spcPts val="0"/>
              </a:spcAft>
              <a:buClr>
                <a:schemeClr val="dk1"/>
              </a:buClr>
              <a:buSzPts val="1950"/>
              <a:buNone/>
            </a:pPr>
            <a:endParaRPr sz="1950"/>
          </a:p>
          <a:p>
            <a:pPr marL="342900" lvl="0" indent="-257175" algn="l" rtl="0">
              <a:lnSpc>
                <a:spcPct val="100000"/>
              </a:lnSpc>
              <a:spcBef>
                <a:spcPts val="270"/>
              </a:spcBef>
              <a:spcAft>
                <a:spcPts val="0"/>
              </a:spcAft>
              <a:buClr>
                <a:schemeClr val="dk1"/>
              </a:buClr>
              <a:buSzPts val="1350"/>
              <a:buNone/>
            </a:pPr>
            <a:endParaRPr/>
          </a:p>
          <a:p>
            <a:pPr marL="0" lvl="0" indent="0" algn="l" rtl="0">
              <a:lnSpc>
                <a:spcPct val="100000"/>
              </a:lnSpc>
              <a:spcBef>
                <a:spcPts val="270"/>
              </a:spcBef>
              <a:spcAft>
                <a:spcPts val="0"/>
              </a:spcAft>
              <a:buClr>
                <a:schemeClr val="dk1"/>
              </a:buClr>
              <a:buSzPts val="1350"/>
              <a:buNone/>
            </a:pPr>
            <a:endParaRPr/>
          </a:p>
        </p:txBody>
      </p:sp>
    </p:spTree>
    <p:extLst>
      <p:ext uri="{BB962C8B-B14F-4D97-AF65-F5344CB8AC3E}">
        <p14:creationId xmlns:p14="http://schemas.microsoft.com/office/powerpoint/2010/main" val="17749155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4400"/>
              <a:buFont typeface="Calibri"/>
              <a:buNone/>
            </a:pPr>
            <a:r>
              <a:rPr lang="en-US"/>
              <a:t>Good References</a:t>
            </a:r>
            <a:endParaRPr/>
          </a:p>
        </p:txBody>
      </p:sp>
      <p:sp>
        <p:nvSpPr>
          <p:cNvPr id="642" name="Google Shape;642;p42"/>
          <p:cNvSpPr/>
          <p:nvPr/>
        </p:nvSpPr>
        <p:spPr>
          <a:xfrm>
            <a:off x="426720" y="1752600"/>
            <a:ext cx="8153400" cy="48013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3">
                  <a:extLst>
                    <a:ext uri="{A12FA001-AC4F-418D-AE19-62706E023703}">
                      <ahyp:hlinkClr xmlns:ahyp="http://schemas.microsoft.com/office/drawing/2018/hyperlinkcolor" val="tx"/>
                    </a:ext>
                  </a:extLst>
                </a:hlinkClick>
              </a:rPr>
              <a:t>https://emerj.com/partner-content/nlp-current-applications-and-future-possibilities/</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4">
                  <a:extLst>
                    <a:ext uri="{A12FA001-AC4F-418D-AE19-62706E023703}">
                      <ahyp:hlinkClr xmlns:ahyp="http://schemas.microsoft.com/office/drawing/2018/hyperlinkcolor" val="tx"/>
                    </a:ext>
                  </a:extLst>
                </a:hlinkClick>
              </a:rPr>
              <a:t>https://venturebeat.com/2019/04/05/why-nlp-will-be-big-in-2019/</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5">
                  <a:extLst>
                    <a:ext uri="{A12FA001-AC4F-418D-AE19-62706E023703}">
                      <ahyp:hlinkClr xmlns:ahyp="http://schemas.microsoft.com/office/drawing/2018/hyperlinkcolor" val="tx"/>
                    </a:ext>
                  </a:extLst>
                </a:hlinkClick>
              </a:rPr>
              <a:t>https://www.nltk.org/book/</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6">
                  <a:extLst>
                    <a:ext uri="{A12FA001-AC4F-418D-AE19-62706E023703}">
                      <ahyp:hlinkClr xmlns:ahyp="http://schemas.microsoft.com/office/drawing/2018/hyperlinkcolor" val="tx"/>
                    </a:ext>
                  </a:extLst>
                </a:hlinkClick>
              </a:rPr>
              <a:t>https://www.coursera.org/learn/python-text-mining/home/week/1</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7">
                  <a:extLst>
                    <a:ext uri="{A12FA001-AC4F-418D-AE19-62706E023703}">
                      <ahyp:hlinkClr xmlns:ahyp="http://schemas.microsoft.com/office/drawing/2018/hyperlinkcolor" val="tx"/>
                    </a:ext>
                  </a:extLst>
                </a:hlinkClick>
              </a:rPr>
              <a:t>https://openai.com/api/</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ahoma"/>
                <a:ea typeface="Tahoma"/>
                <a:cs typeface="Tahoma"/>
                <a:sym typeface="Tahoma"/>
              </a:rPr>
              <a:t>https://analyticssteps.com/blogs/top-nlp-tools</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8">
                  <a:extLst>
                    <a:ext uri="{A12FA001-AC4F-418D-AE19-62706E023703}">
                      <ahyp:hlinkClr xmlns:ahyp="http://schemas.microsoft.com/office/drawing/2018/hyperlinkcolor" val="tx"/>
                    </a:ext>
                  </a:extLst>
                </a:hlinkClick>
              </a:rPr>
              <a:t>https://web.stanford.edu/~jurafsky/NLPCourseraSlides.html</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9">
                  <a:extLst>
                    <a:ext uri="{A12FA001-AC4F-418D-AE19-62706E023703}">
                      <ahyp:hlinkClr xmlns:ahyp="http://schemas.microsoft.com/office/drawing/2018/hyperlinkcolor" val="tx"/>
                    </a:ext>
                  </a:extLst>
                </a:hlinkClick>
              </a:rPr>
              <a:t>https://www.cstr.ed.ac.uk/emasters/course/natural_lang.html</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ahoma"/>
                <a:ea typeface="Tahoma"/>
                <a:cs typeface="Tahoma"/>
                <a:sym typeface="Tahoma"/>
                <a:hlinkClick r:id="rId10">
                  <a:extLst>
                    <a:ext uri="{A12FA001-AC4F-418D-AE19-62706E023703}">
                      <ahyp:hlinkClr xmlns:ahyp="http://schemas.microsoft.com/office/drawing/2018/hyperlinkcolor" val="tx"/>
                    </a:ext>
                  </a:extLst>
                </a:hlinkClick>
              </a:rPr>
              <a:t>https://web.stanford.edu/class/cs224u/2016/materials/cs224u-2016-intro.pdf</a:t>
            </a: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ahoma"/>
                <a:ea typeface="Tahoma"/>
                <a:cs typeface="Tahoma"/>
                <a:sym typeface="Tahoma"/>
              </a:rPr>
              <a:t>https://www.mygreatlearning.com/blog/trending-natural-language-processing-applications/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415563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a:t>… </a:t>
            </a:r>
            <a:r>
              <a:rPr lang="en-IN" dirty="0">
                <a:sym typeface="Wingdings" pitchFamily="2" charset="2"/>
              </a:rPr>
              <a:t></a:t>
            </a:r>
            <a:endParaRPr lang="en-IN" dirty="0"/>
          </a:p>
        </p:txBody>
      </p:sp>
      <p:sp>
        <p:nvSpPr>
          <p:cNvPr id="3" name="Content Placeholder 2"/>
          <p:cNvSpPr>
            <a:spLocks noGrp="1"/>
          </p:cNvSpPr>
          <p:nvPr>
            <p:ph idx="1"/>
          </p:nvPr>
        </p:nvSpPr>
        <p:spPr/>
        <p:txBody>
          <a:bodyPr/>
          <a:lstStyle/>
          <a:p>
            <a:r>
              <a:rPr lang="en-IN" dirty="0"/>
              <a:t>Q&amp;A</a:t>
            </a:r>
          </a:p>
          <a:p>
            <a:r>
              <a:rPr lang="en-IN" dirty="0"/>
              <a:t>Suggestions / Feedback</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929480" y="303480"/>
              <a:ext cx="360" cy="360"/>
            </p14:xfrm>
          </p:contentPart>
        </mc:Choice>
        <mc:Fallback xmlns="">
          <p:pic>
            <p:nvPicPr>
              <p:cNvPr id="4" name="Ink 3"/>
              <p:cNvPicPr/>
              <p:nvPr/>
            </p:nvPicPr>
            <p:blipFill>
              <a:blip r:embed="rId3"/>
              <a:stretch>
                <a:fillRect/>
              </a:stretch>
            </p:blipFill>
            <p:spPr>
              <a:xfrm>
                <a:off x="4920120" y="294120"/>
                <a:ext cx="19080" cy="19080"/>
              </a:xfrm>
              <a:prstGeom prst="rect">
                <a:avLst/>
              </a:prstGeom>
            </p:spPr>
          </p:pic>
        </mc:Fallback>
      </mc:AlternateContent>
    </p:spTree>
    <p:extLst>
      <p:ext uri="{BB962C8B-B14F-4D97-AF65-F5344CB8AC3E}">
        <p14:creationId xmlns:p14="http://schemas.microsoft.com/office/powerpoint/2010/main" val="22912525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28" ma:contentTypeDescription="Create a new document." ma:contentTypeScope="" ma:versionID="3d53ea8c32564d09b7e82dbdc6bb24a4">
  <xsd:schema xmlns:xsd="http://www.w3.org/2001/XMLSchema" xmlns:xs="http://www.w3.org/2001/XMLSchema" xmlns:p="http://schemas.microsoft.com/office/2006/metadata/properties" xmlns:ns2="15d03a25-cda5-4943-9684-7d18d97bb3bc" targetNamespace="http://schemas.microsoft.com/office/2006/metadata/properties" ma:root="true" ma:fieldsID="433e705946a9d0e3592fcd5bee88941e" ns2:_="">
    <xsd:import namespace="15d03a25-cda5-4943-9684-7d18d97bb3b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292762-D9FE-4FC2-9450-E304B41D8D94}">
  <ds:schemaRefs>
    <ds:schemaRef ds:uri="http://schemas.openxmlformats.org/package/2006/metadata/core-properties"/>
    <ds:schemaRef ds:uri="http://purl.org/dc/elements/1.1/"/>
    <ds:schemaRef ds:uri="http://purl.org/dc/dcmitype/"/>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EF02CBDE-7EFC-4ACB-9C33-E89B7322AAE9}"/>
</file>

<file path=customXml/itemProps3.xml><?xml version="1.0" encoding="utf-8"?>
<ds:datastoreItem xmlns:ds="http://schemas.openxmlformats.org/officeDocument/2006/customXml" ds:itemID="{1E302A16-6AC2-4FB8-BEC2-2EFB26B0FA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IS-ZC351-LEC-03</Template>
  <TotalTime>41640</TotalTime>
  <Words>2665</Words>
  <Application>Microsoft Office PowerPoint</Application>
  <PresentationFormat>On-screen Show (4:3)</PresentationFormat>
  <Paragraphs>441</Paragraphs>
  <Slides>52</Slides>
  <Notes>25</Notes>
  <HiddenSlides>1</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52</vt:i4>
      </vt:variant>
    </vt:vector>
  </HeadingPairs>
  <TitlesOfParts>
    <vt:vector size="69" baseType="lpstr">
      <vt:lpstr>Arial</vt:lpstr>
      <vt:lpstr>Arial</vt:lpstr>
      <vt:lpstr>Calibri</vt:lpstr>
      <vt:lpstr>Cambria</vt:lpstr>
      <vt:lpstr>Comic Sans MS</vt:lpstr>
      <vt:lpstr>Helvetica Neue</vt:lpstr>
      <vt:lpstr>Lucida Sans</vt:lpstr>
      <vt:lpstr>Noto Sans Symbols</vt:lpstr>
      <vt:lpstr>Open Sans</vt:lpstr>
      <vt:lpstr>Tahoma</vt:lpstr>
      <vt:lpstr>Times New Roman</vt:lpstr>
      <vt:lpstr>Trebuchet MS</vt:lpstr>
      <vt:lpstr>Wingdings</vt:lpstr>
      <vt:lpstr>1_Office Theme</vt:lpstr>
      <vt:lpstr>Office Theme</vt:lpstr>
      <vt:lpstr>2_Office Theme</vt:lpstr>
      <vt:lpstr>3_Office Theme</vt:lpstr>
      <vt:lpstr>Natural Language Processing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Natural Language Processing?</vt:lpstr>
      <vt:lpstr>Why study NLP</vt:lpstr>
      <vt:lpstr>Why are language technologies needed?</vt:lpstr>
      <vt:lpstr>Dreams or reality??</vt:lpstr>
      <vt:lpstr>Dream come true?</vt:lpstr>
      <vt:lpstr>Where does it fit in the  CS taxonomy?</vt:lpstr>
      <vt:lpstr>Brief history of NLP</vt:lpstr>
      <vt:lpstr>PowerPoint Presentation</vt:lpstr>
      <vt:lpstr>PowerPoint Presentation</vt:lpstr>
      <vt:lpstr>PowerPoint Presentation</vt:lpstr>
      <vt:lpstr>PowerPoint Presentation</vt:lpstr>
      <vt:lpstr>PowerPoint Presentation</vt:lpstr>
      <vt:lpstr>NLP Applications</vt:lpstr>
      <vt:lpstr>Application areas</vt:lpstr>
      <vt:lpstr>Main components of NLP</vt:lpstr>
      <vt:lpstr>Natural language understanding</vt:lpstr>
      <vt:lpstr>Natural language generation</vt:lpstr>
      <vt:lpstr>Steps used for NLU</vt:lpstr>
      <vt:lpstr>Morphology analysis</vt:lpstr>
      <vt:lpstr>Lexical analysis</vt:lpstr>
      <vt:lpstr>Syntactic analysis</vt:lpstr>
      <vt:lpstr>Semantic analysis</vt:lpstr>
      <vt:lpstr>Discourse  integeration</vt:lpstr>
      <vt:lpstr>Pragmatic  analysis</vt:lpstr>
      <vt:lpstr>PowerPoint Presentation</vt:lpstr>
      <vt:lpstr>Why NLP is hard</vt:lpstr>
      <vt:lpstr> </vt:lpstr>
      <vt:lpstr>Contd..</vt:lpstr>
      <vt:lpstr>PowerPoint Presentation</vt:lpstr>
      <vt:lpstr>Some of the tasks in NLP</vt:lpstr>
      <vt:lpstr>Contd..</vt:lpstr>
      <vt:lpstr>Contd..</vt:lpstr>
      <vt:lpstr>Schematic representation NLP</vt:lpstr>
      <vt:lpstr>PowerPoint Presentation</vt:lpstr>
      <vt:lpstr>Syntactic representations of language</vt:lpstr>
      <vt:lpstr>Representations and Understanding</vt:lpstr>
      <vt:lpstr>The Organization of Natural  Language Processing Systems</vt:lpstr>
      <vt:lpstr>Evaluating Language Understanding Systems</vt:lpstr>
      <vt:lpstr>Contingency Table</vt:lpstr>
      <vt:lpstr>Some other evaluation measures</vt:lpstr>
      <vt:lpstr>NLP Tools</vt:lpstr>
      <vt:lpstr>NLTK installation</vt:lpstr>
      <vt:lpstr>Good References</vt:lpstr>
      <vt:lpstr>Thank You… </vt:lpstr>
    </vt:vector>
  </TitlesOfParts>
  <Company>State  University of New York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Avinash</dc:creator>
  <cp:lastModifiedBy>VIJAYALAKSHMI ANAND .</cp:lastModifiedBy>
  <cp:revision>598</cp:revision>
  <cp:lastPrinted>1601-01-01T00:00:00Z</cp:lastPrinted>
  <dcterms:created xsi:type="dcterms:W3CDTF">2001-10-10T03:11:58Z</dcterms:created>
  <dcterms:modified xsi:type="dcterms:W3CDTF">2026-04-26T10:02:45Z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
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3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3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  <p:sldMasterId id="2147483808" r:id="rId2"/>
    <p:sldMasterId id="2147483820" r:id="rId3"/>
  </p:sldMasterIdLst>
  <p:notesMasterIdLst>
    <p:notesMasterId r:id="rId18"/>
  </p:notesMasterIdLst>
  <p:handoutMasterIdLst>
    <p:handoutMasterId r:id="rId19"/>
  </p:handoutMasterIdLst>
  <p:sldIdLst>
    <p:sldId id="276" r:id="rId4"/>
    <p:sldId id="277" r:id="rId5"/>
    <p:sldId id="573" r:id="rId6"/>
    <p:sldId id="816" r:id="rId7"/>
    <p:sldId id="817" r:id="rId8"/>
    <p:sldId id="818" r:id="rId9"/>
    <p:sldId id="819" r:id="rId10"/>
    <p:sldId id="820" r:id="rId11"/>
    <p:sldId id="824" r:id="rId12"/>
    <p:sldId id="823" r:id="rId13"/>
    <p:sldId id="822" r:id="rId14"/>
    <p:sldId id="825" r:id="rId15"/>
    <p:sldId id="732" r:id="rId16"/>
    <p:sldId id="815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Tahoma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Tahoma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Tahoma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Tahoma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99" autoAdjust="0"/>
    <p:restoredTop sz="90929"/>
  </p:normalViewPr>
  <p:slideViewPr>
    <p:cSldViewPr>
      <p:cViewPr varScale="1">
        <p:scale>
          <a:sx n="67" d="100"/>
          <a:sy n="67" d="100"/>
        </p:scale>
        <p:origin x="1472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3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customXml" Target="../customXml/item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customXml" Target="../customXml/item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r>
              <a:rPr lang="en-US"/>
              <a:t>Lecture-1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023B7232-710D-494E-88C7-F703C04F40C2}" type="datetimeFigureOut">
              <a:rPr lang="en-US" smtClean="0"/>
              <a:pPr>
                <a:defRPr/>
              </a:pPr>
              <a:t>6/14/2026</a:t>
            </a:fld>
            <a:endParaRPr lang="en-US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496DCEF7-9E9F-4185-8062-A1F4E6576C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9762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Lecture-1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B1E8206-5749-452C-870E-52CFAFB5846C}" type="datetimeFigureOut">
              <a:rPr lang="en-US" smtClean="0"/>
              <a:pPr>
                <a:defRPr/>
              </a:pPr>
              <a:t>6/14/2026</a:t>
            </a:fld>
            <a:endParaRPr lang="en-US"/>
          </a:p>
        </p:txBody>
      </p:sp>
      <p:sp>
        <p:nvSpPr>
          <p:cNvPr id="573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fld id="{29515144-DAD1-4D30-BCF8-73F71ACED8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769575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Lecture-1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515144-DAD1-4D30-BCF8-73F71ACED81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81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2BEBE4-28F4-4EA3-89D0-80553E92CDCA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2812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A1433-2BD6-474A-B042-E5F0856EF4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>
              <a:defRPr/>
            </a:pPr>
            <a:fld id="{78B23240-9A46-45DC-80D8-72E6138EF4CC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D8A489-38BD-40B0-9083-7E99DA903139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38CB16-FC74-415F-A778-AFAE7BEAFAF6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FB1E71-4690-4FD4-BBCF-A3779CD52565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D64774-6889-4F3F-87B3-82AF987C97C8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2715D1-A74F-4481-8AFF-0CF19F1A4227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936656-7811-4E10-ABA8-C743BA19F43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0E505A-A9CD-4645-BB6F-663BC8294A50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B21827-D599-4054-9CED-35F966873CD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872A46-881B-4CE5-A377-400F5AC5756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EFCE0F-DF2D-4465-B568-7505733AD93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 smtClean="0"/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 smtClean="0"/>
            </a:lvl1pPr>
          </a:lstStyle>
          <a:p>
            <a:pPr>
              <a:defRPr/>
            </a:pPr>
            <a:fld id="{578891D9-9DBF-4503-8954-7823A473F5F2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754B72-864B-4419-8417-A1CD80834F1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CC4AA0-627E-417E-B63D-B3DF9B458D26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5947CB-2DD6-480A-BB8A-9DB725A59BE4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A44F58-842A-4939-AD5D-04575B8B76C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62B2FC-FC80-4EAE-B114-A316EDBA5B6E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3D8C1-C48A-434B-B05D-32EFC992A06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C52F0-3AC6-4B70-9B7C-80128C5BC8D3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04F594-7693-4705-8E88-CEADBE86DA53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806891-6D43-46F3-BFF0-1270190D4E6C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18/06/15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0DB935C-A2BB-404C-A6C5-67E9068028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919" r:id="rId14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pic>
        <p:nvPicPr>
          <p:cNvPr id="4100" name="Picture 7" descr="Picture 7.png"/>
          <p:cNvPicPr>
            <a:picLocks noChangeAspect="1"/>
          </p:cNvPicPr>
          <p:nvPr/>
        </p:nvPicPr>
        <p:blipFill>
          <a:blip r:embed="rId1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101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4102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ltk.org/book/ch02.html" TargetMode="External"/><Relationship Id="rId3" Type="http://schemas.openxmlformats.org/officeDocument/2006/relationships/hyperlink" Target="https://www.guru99.com/pos-tagging-chunking-nltk.html" TargetMode="External"/><Relationship Id="rId7" Type="http://schemas.openxmlformats.org/officeDocument/2006/relationships/hyperlink" Target="https://medium.com/fintechexplained/nlp-text-processing-in-data-science-projects-f083009d78fc" TargetMode="External"/><Relationship Id="rId2" Type="http://schemas.openxmlformats.org/officeDocument/2006/relationships/hyperlink" Target="https://likegeeks.com/nlp-tutorial-using-python-nltk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forbes.com/sites/mariyayao/2020/01/22/what-are--important-ai--machine-learning-trends-for-2020/#601ce9623239" TargetMode="External"/><Relationship Id="rId5" Type="http://schemas.openxmlformats.org/officeDocument/2006/relationships/hyperlink" Target="https://nlp.stanford.edu/software/tagger.shtml" TargetMode="External"/><Relationship Id="rId4" Type="http://schemas.openxmlformats.org/officeDocument/2006/relationships/hyperlink" Target="https://medium.com/greyatom/learning-pos-tagging-chunking-in-nlp-85f7f811a8cb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iteseerx.ist.psu.edu/viewdoc/download?doi=10.1.1.352.9257&amp;rep=rep1&amp;type=pdf" TargetMode="External"/><Relationship Id="rId2" Type="http://schemas.openxmlformats.org/officeDocument/2006/relationships/hyperlink" Target="https://github.com/nadavo/MEMM-POS-Tagger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nltk.org/book/ch05.html" TargetMode="External"/><Relationship Id="rId5" Type="http://schemas.openxmlformats.org/officeDocument/2006/relationships/hyperlink" Target="https://towardsdatascience.com/pos-tagging-using-rnn-7f08a522f849" TargetMode="External"/><Relationship Id="rId4" Type="http://schemas.openxmlformats.org/officeDocument/2006/relationships/hyperlink" Target="https://www.alibabacloud.com/blog/hmm-memm-and-crf-a-comparative-analysis-of-statistical-modeling-methods_59204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/>
          <p:cNvSpPr>
            <a:spLocks noGrp="1"/>
          </p:cNvSpPr>
          <p:nvPr>
            <p:ph type="title"/>
          </p:nvPr>
        </p:nvSpPr>
        <p:spPr>
          <a:xfrm>
            <a:off x="2362200" y="3352800"/>
            <a:ext cx="6400800" cy="1524000"/>
          </a:xfr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US" dirty="0">
                <a:solidFill>
                  <a:srgbClr val="FFFF66"/>
                </a:solidFill>
                <a:latin typeface="+mn-lt"/>
              </a:rPr>
              <a:t>Natural Language Processing</a:t>
            </a:r>
            <a:br>
              <a:rPr lang="en-US" dirty="0">
                <a:solidFill>
                  <a:srgbClr val="FFFF66"/>
                </a:solidFill>
                <a:latin typeface="+mn-lt"/>
              </a:rPr>
            </a:br>
            <a:endParaRPr lang="en-US" dirty="0">
              <a:solidFill>
                <a:srgbClr val="FFFF66"/>
              </a:solidFill>
              <a:latin typeface="+mn-lt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2690948" y="4926874"/>
            <a:ext cx="5943600" cy="11430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marL="365760" indent="-256032" algn="r" fontAlgn="auto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Pct val="68000"/>
              <a:buNone/>
              <a:defRPr/>
            </a:pPr>
            <a:endParaRPr lang="en-US" sz="2800" dirty="0">
              <a:solidFill>
                <a:schemeClr val="bg1"/>
              </a:solidFill>
              <a:latin typeface="+mn-lt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304800" y="4419600"/>
            <a:ext cx="8458200" cy="2209800"/>
          </a:xfrm>
        </p:spPr>
        <p:txBody>
          <a:bodyPr rtlCol="0">
            <a:normAutofit/>
          </a:bodyPr>
          <a:lstStyle/>
          <a:p>
            <a:pPr marR="176530" lvl="0">
              <a:lnSpc>
                <a:spcPct val="120000"/>
              </a:lnSpc>
              <a:spcBef>
                <a:spcPts val="1170"/>
              </a:spcBef>
              <a:spcAft>
                <a:spcPts val="0"/>
              </a:spcAft>
            </a:pPr>
            <a:r>
              <a:rPr lang="en-US" sz="2600" b="0" dirty="0">
                <a:latin typeface="+mn-lt"/>
                <a:ea typeface="Trebuchet MS"/>
                <a:cs typeface="Trebuchet MS"/>
                <a:sym typeface="Trebuchet MS"/>
              </a:rPr>
              <a:t>These slides are prepared by the instructor, with grateful acknowledgement of Jurafsky and Martin d many others who made  their course materials freely available online.</a:t>
            </a:r>
          </a:p>
          <a:p>
            <a:pPr lvl="0">
              <a:lnSpc>
                <a:spcPct val="117083"/>
              </a:lnSpc>
              <a:spcAft>
                <a:spcPts val="0"/>
              </a:spcAft>
            </a:pPr>
            <a:endParaRPr lang="en-US" sz="32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65760" indent="-256032" algn="ctr" fontAlgn="auto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Pct val="68000"/>
              <a:defRPr/>
            </a:pPr>
            <a:endParaRPr lang="en-US" sz="3600" dirty="0">
              <a:latin typeface="+mn-lt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493837"/>
            <a:ext cx="8610600" cy="452596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POS Tagging with Bi-LSTM-CRF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Transformer model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POS Tagging with Pre-trained Models (BERT, </a:t>
            </a:r>
            <a:r>
              <a:rPr lang="en-US" sz="3200" dirty="0" err="1"/>
              <a:t>RoBERTa</a:t>
            </a:r>
            <a:r>
              <a:rPr lang="en-US" sz="32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Prompting techniques for POS Tagging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LLM agents and POS Tagging</a:t>
            </a:r>
          </a:p>
          <a:p>
            <a:pPr marL="0" indent="0"/>
            <a:endParaRPr lang="en-US" sz="3200" dirty="0"/>
          </a:p>
          <a:p>
            <a:pPr marL="0" indent="0"/>
            <a:endParaRPr lang="en-US" sz="3200" b="1" dirty="0"/>
          </a:p>
          <a:p>
            <a:pPr marL="0" indent="0"/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Session Content</a:t>
            </a:r>
          </a:p>
        </p:txBody>
      </p:sp>
    </p:spTree>
    <p:extLst>
      <p:ext uri="{BB962C8B-B14F-4D97-AF65-F5344CB8AC3E}">
        <p14:creationId xmlns:p14="http://schemas.microsoft.com/office/powerpoint/2010/main" val="561557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Go-To Neural Baseline for Sequence Tagging.</a:t>
            </a:r>
            <a:endParaRPr lang="en-US" dirty="0"/>
          </a:p>
          <a:p>
            <a:r>
              <a:rPr lang="en-US" b="1" dirty="0"/>
              <a:t>Concept:</a:t>
            </a:r>
            <a:r>
              <a:rPr lang="en-US" dirty="0"/>
              <a:t> Combines a powerful feature extractor (Bi-LSTM) with a structured prediction layer (CRF) to ensure valid tag sequences.</a:t>
            </a:r>
          </a:p>
          <a:p>
            <a:r>
              <a:rPr lang="en-US" b="1" dirty="0"/>
              <a:t>Input Layer:</a:t>
            </a:r>
            <a:r>
              <a:rPr lang="en-US" dirty="0"/>
              <a:t> </a:t>
            </a:r>
            <a:r>
              <a:rPr lang="en-US" b="1" dirty="0"/>
              <a:t>Word Embeddings</a:t>
            </a:r>
            <a:r>
              <a:rPr lang="en-US" dirty="0"/>
              <a:t> (e.g., Word2Vec, </a:t>
            </a:r>
            <a:r>
              <a:rPr lang="en-US" dirty="0" err="1"/>
              <a:t>GloVe</a:t>
            </a:r>
            <a:r>
              <a:rPr lang="en-US" dirty="0"/>
              <a:t>) + </a:t>
            </a:r>
            <a:r>
              <a:rPr lang="en-US" b="1" dirty="0"/>
              <a:t>Character Embeddings</a:t>
            </a:r>
            <a:r>
              <a:rPr lang="en-US" dirty="0"/>
              <a:t> (handles unknown words).</a:t>
            </a:r>
          </a:p>
          <a:p>
            <a:r>
              <a:rPr lang="en-US" b="1" dirty="0"/>
              <a:t>Bi-LSTM Layer (Feature Extractor):</a:t>
            </a:r>
            <a:endParaRPr lang="en-US" dirty="0"/>
          </a:p>
          <a:p>
            <a:pPr lvl="1"/>
            <a:r>
              <a:rPr lang="en-US" dirty="0"/>
              <a:t>Processes the sentence in </a:t>
            </a:r>
            <a:r>
              <a:rPr lang="en-US" b="1" dirty="0"/>
              <a:t>forward and backward</a:t>
            </a:r>
            <a:r>
              <a:rPr lang="en-US" dirty="0"/>
              <a:t> directions.</a:t>
            </a:r>
          </a:p>
          <a:p>
            <a:pPr lvl="1"/>
            <a:r>
              <a:rPr lang="en-US" dirty="0"/>
              <a:t>Captures </a:t>
            </a:r>
            <a:r>
              <a:rPr lang="en-US" b="1" dirty="0"/>
              <a:t>long-range dependencies</a:t>
            </a:r>
            <a:r>
              <a:rPr lang="en-US" dirty="0"/>
              <a:t> and </a:t>
            </a:r>
            <a:r>
              <a:rPr lang="en-US" b="1" dirty="0"/>
              <a:t>bidirectional context</a:t>
            </a:r>
            <a:r>
              <a:rPr lang="en-US" dirty="0"/>
              <a:t>.</a:t>
            </a:r>
          </a:p>
          <a:p>
            <a:r>
              <a:rPr lang="en-US" b="1" dirty="0"/>
              <a:t>CRF Layer (Structured Decoder):</a:t>
            </a:r>
            <a:endParaRPr lang="en-US" dirty="0"/>
          </a:p>
          <a:p>
            <a:pPr lvl="1"/>
            <a:r>
              <a:rPr lang="en-US" b="1" dirty="0"/>
              <a:t>Crucial for POS:</a:t>
            </a:r>
            <a:r>
              <a:rPr lang="en-US" dirty="0"/>
              <a:t> It learns constraints (e.g., a </a:t>
            </a:r>
            <a:r>
              <a:rPr lang="en-US" b="1" dirty="0"/>
              <a:t>Verb</a:t>
            </a:r>
            <a:r>
              <a:rPr lang="en-US" dirty="0"/>
              <a:t> is unlikely to follow a </a:t>
            </a:r>
            <a:r>
              <a:rPr lang="en-US" b="1" dirty="0"/>
              <a:t>Determiner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Finds the sequence of tags that has the </a:t>
            </a:r>
            <a:r>
              <a:rPr lang="en-US" b="1" dirty="0"/>
              <a:t>highest overall probability</a:t>
            </a:r>
            <a:r>
              <a:rPr lang="en-US" dirty="0"/>
              <a:t> across the entire sentence.</a:t>
            </a:r>
          </a:p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129702" y="350837"/>
            <a:ext cx="8382000" cy="1143000"/>
          </a:xfrm>
        </p:spPr>
        <p:txBody>
          <a:bodyPr/>
          <a:lstStyle/>
          <a:p>
            <a:r>
              <a:rPr lang="en-US" dirty="0"/>
              <a:t>Bi-LSTM-CRF Architecture</a:t>
            </a:r>
          </a:p>
        </p:txBody>
      </p:sp>
    </p:spTree>
    <p:extLst>
      <p:ext uri="{BB962C8B-B14F-4D97-AF65-F5344CB8AC3E}">
        <p14:creationId xmlns:p14="http://schemas.microsoft.com/office/powerpoint/2010/main" val="2606166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LSTM: Solves the Vanishing Gradient problem of simple RNNs using Gates (Input, Forget, Output).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Bidirectional Advantage: The tag for 'bank' in "I walked to the river bank." depends on both 'river' (left context) and '.' (right context).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CRF Output: Instead of just picking the highest probability tag at each word (which can lead to impossible sequences),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CRF layer calculates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Goal: Maximize the numerator (score of the true path) relative to all possible paths.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Bi-LSTM-CRF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00" y="4038600"/>
            <a:ext cx="4343400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230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Typical Accuracy: approx. 97% - 98% on Penn Treebank.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Pros: Highly accurate, automatically learns features, good for low-resource languages (with transfer learning).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Cons: Slower training than non-recurrent models, replaced as SOTA by Transformers.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Performance &amp; Applications</a:t>
            </a:r>
          </a:p>
        </p:txBody>
      </p:sp>
    </p:spTree>
    <p:extLst>
      <p:ext uri="{BB962C8B-B14F-4D97-AF65-F5344CB8AC3E}">
        <p14:creationId xmlns:p14="http://schemas.microsoft.com/office/powerpoint/2010/main" val="3226736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Key Idea: Replaces recurrence (RNN/LSTM) with the Self-Attention Mechanism.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Self-Attention: Allows the model to weigh the relevance of every other word in the sentence simultaneously, regardless of distance.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When tagging "He," the model instantly links it to "ran" and "ball" equally well.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Architecture: Utilizes multi-layer Encoder blocks consisting of Multi-Head Attention and Feed-Forward Networks.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Transformer Model</a:t>
            </a:r>
          </a:p>
        </p:txBody>
      </p:sp>
    </p:spTree>
    <p:extLst>
      <p:ext uri="{BB962C8B-B14F-4D97-AF65-F5344CB8AC3E}">
        <p14:creationId xmlns:p14="http://schemas.microsoft.com/office/powerpoint/2010/main" val="3825842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Method: Fine-tuning a Pre-trained Language Model (PLM).</a:t>
            </a:r>
          </a:p>
          <a:p>
            <a:r>
              <a:rPr lang="en-US" dirty="0"/>
              <a:t>Pre-training: The model learns grammar and world knowledge on trillions of words (e.g., predicting masked words).</a:t>
            </a:r>
          </a:p>
          <a:p>
            <a:r>
              <a:rPr lang="en-US" dirty="0"/>
              <a:t>Fine-Tuning: A simple classification layer is added on top of the PLM's output vectors.</a:t>
            </a:r>
          </a:p>
          <a:p>
            <a:r>
              <a:rPr lang="en-US" dirty="0"/>
              <a:t>The entire model is then trained for a few epochs on the specific POS tagging corpus.</a:t>
            </a:r>
          </a:p>
          <a:p>
            <a:r>
              <a:rPr lang="en-US" dirty="0"/>
              <a:t>Output: The model produces a highly contextualized vector for each token, which the final layer maps to the appropriate tag (e.g., CLS --&gt; NN).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POS Tagging with Pre-trained Models (BERT, </a:t>
            </a:r>
            <a:r>
              <a:rPr lang="en-US" dirty="0" err="1"/>
              <a:t>RoBERTa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07336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SOTA Performance: approx. 98.5% - 99.5%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Efficiency: Highly parallelizable (faster training than RNNs).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Context: Captures the deepest contextual meaning, solving nearly all lexical ambiguity issues.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Impact: This approach is the standard for POS tagging in modern libraries like </a:t>
            </a:r>
            <a:r>
              <a:rPr lang="en-US" dirty="0" err="1"/>
              <a:t>spaCy</a:t>
            </a:r>
            <a:r>
              <a:rPr lang="en-US" dirty="0"/>
              <a:t> and Hugging Face Transformers.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Transformer Advantages &amp; Impact</a:t>
            </a:r>
          </a:p>
        </p:txBody>
      </p:sp>
    </p:spTree>
    <p:extLst>
      <p:ext uri="{BB962C8B-B14F-4D97-AF65-F5344CB8AC3E}">
        <p14:creationId xmlns:p14="http://schemas.microsoft.com/office/powerpoint/2010/main" val="3204528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493837"/>
            <a:ext cx="8534400" cy="452596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Concept: Leverage the vast linguistic knowledge and zero-shot capabilities of Large Language Models (LLMs) (e.g., GPT-4, Llama).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Traditional Fine-Tuning is Replaced by Prompting: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Prompting: The POS task is framed as a natural language instruction.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 Prompt: "Tag the following sentence using the Penn Treebank tagset. Output only the word/tag pairs. Sentence: The concert was great.“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Zero-Shot/Few-Shot Learning: LLM can tag a sentence accurately without being explicitly fine-tuned on a POS corpus, based solely on its general pre-training.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Prompting</a:t>
            </a:r>
          </a:p>
        </p:txBody>
      </p:sp>
    </p:spTree>
    <p:extLst>
      <p:ext uri="{BB962C8B-B14F-4D97-AF65-F5344CB8AC3E}">
        <p14:creationId xmlns:p14="http://schemas.microsoft.com/office/powerpoint/2010/main" val="1636545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LLM Agent: An LLM that is given the ability to use external tools to complete a task.</a:t>
            </a:r>
          </a:p>
          <a:p>
            <a:r>
              <a:rPr lang="en-US" sz="2000" dirty="0"/>
              <a:t>The POS Agent Flow:</a:t>
            </a:r>
          </a:p>
          <a:p>
            <a:r>
              <a:rPr lang="en-US" sz="2000" dirty="0"/>
              <a:t>Input: User gives a complex request (e.g., Analyze the sentiment of all nouns in the user reviews.)</a:t>
            </a:r>
          </a:p>
          <a:p>
            <a:r>
              <a:rPr lang="en-US" sz="2000" dirty="0"/>
              <a:t>LLM Agent: Breaks the task down.</a:t>
            </a:r>
          </a:p>
          <a:p>
            <a:r>
              <a:rPr lang="en-US" sz="2000" dirty="0"/>
              <a:t>Tool Use (POS Tagging): The LLM might decide to use a specialized, fast POS tagger (like a fine-tuned BERT model) as a tool for the labeling sub-task.</a:t>
            </a:r>
          </a:p>
          <a:p>
            <a:r>
              <a:rPr lang="en-US" sz="2000" dirty="0"/>
              <a:t>Integration: The agent feeds the tags back into its context to perform the final task (e.g., sentiment analysis on the words tagged as NN).</a:t>
            </a:r>
          </a:p>
          <a:p>
            <a:r>
              <a:rPr lang="en-US" sz="2000" dirty="0"/>
              <a:t>Benefit: Combines the LLM's reasoning/planning ability with the speed/accuracy of a specialized POS model.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LLM Agents &amp; System Integration</a:t>
            </a:r>
          </a:p>
        </p:txBody>
      </p:sp>
    </p:spTree>
    <p:extLst>
      <p:ext uri="{BB962C8B-B14F-4D97-AF65-F5344CB8AC3E}">
        <p14:creationId xmlns:p14="http://schemas.microsoft.com/office/powerpoint/2010/main" val="4215378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Modern POS Tagging </a:t>
            </a:r>
            <a:r>
              <a:rPr lang="en-US"/>
              <a:t>is Solved?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task has achieved near-human performance thanks to Deep Learning.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Current SOTA: Fine-tuned Transformer models (BERT/</a:t>
            </a:r>
            <a:r>
              <a:rPr lang="en-US" dirty="0" err="1"/>
              <a:t>RoBERTa</a:t>
            </a:r>
            <a:r>
              <a:rPr lang="en-US" dirty="0"/>
              <a:t>).</a:t>
            </a:r>
            <a:br>
              <a:rPr lang="en-US" dirty="0"/>
            </a:br>
            <a:r>
              <a:rPr lang="en-US" dirty="0"/>
              <a:t>Future Trend (LLMs): POS tagging is becoming an internal utility within larger LLM agent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focus shifts from how to build the best tagger to how to use tags to power complex downstream AI systems.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799453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" y="1295400"/>
            <a:ext cx="84582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https://www.nltk.org/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2"/>
              </a:rPr>
              <a:t>https://likegeeks.com/nlp-tutorial-using-python-nltk/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3"/>
              </a:rPr>
              <a:t>https://www.guru99.com/pos-tagging-chunking-nltk.html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4"/>
              </a:rPr>
              <a:t>https://medium.com/greyatom/learning-pos-tagging-chunking-in-nlp-85f7f811a8cb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5"/>
              </a:rPr>
              <a:t>https://nlp.stanford.edu/software/tagger.shtml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6"/>
              </a:rPr>
              <a:t>https://www.forbes.com/sites/mariyayao/2020/01/22/what-are--important-ai--machine-learning-trends-for-2020/#601ce9623239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7"/>
              </a:rPr>
              <a:t>https://medium.com/fintechexplained/nlp-text-processing-in-data-science-projects-f083009d78fc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8"/>
              </a:rPr>
              <a:t>https://www.nltk.org/book/ch02.html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https://towardsdatascience.com/pos-tagging-using-crfs-ea430c5fb78b</a:t>
            </a:r>
          </a:p>
        </p:txBody>
      </p:sp>
    </p:spTree>
    <p:extLst>
      <p:ext uri="{BB962C8B-B14F-4D97-AF65-F5344CB8AC3E}">
        <p14:creationId xmlns:p14="http://schemas.microsoft.com/office/powerpoint/2010/main" val="2880434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" y="1295400"/>
            <a:ext cx="84582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2"/>
              </a:rPr>
              <a:t>https://github.com/nadavo/MEMM-POS-Tagger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3"/>
              </a:rPr>
              <a:t>https://citeseerx.ist.psu.edu/viewdoc/download?doi=10.1.1.352.9257&amp;rep=rep1&amp;type=pdf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4"/>
              </a:rPr>
              <a:t>https://www.alibabacloud.com/blog/hmm-memm-and-crf-a-comparative-analysis-of-statistical-modeling-methods_592049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5"/>
              </a:rPr>
              <a:t>https://towardsdatascience.com/pos-tagging-using-rnn-7f08a522f849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POS tagging in Indian Languages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6"/>
              </a:rPr>
              <a:t>https://www.nltk.org/book/ch05.html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3362254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A758FEF1429047AE09681CC0F7D167" ma:contentTypeVersion="28" ma:contentTypeDescription="Create a new document." ma:contentTypeScope="" ma:versionID="3d53ea8c32564d09b7e82dbdc6bb24a4">
  <xsd:schema xmlns:xsd="http://www.w3.org/2001/XMLSchema" xmlns:xs="http://www.w3.org/2001/XMLSchema" xmlns:p="http://schemas.microsoft.com/office/2006/metadata/properties" xmlns:ns2="15d03a25-cda5-4943-9684-7d18d97bb3bc" targetNamespace="http://schemas.microsoft.com/office/2006/metadata/properties" ma:root="true" ma:fieldsID="433e705946a9d0e3592fcd5bee88941e" ns2:_="">
    <xsd:import namespace="15d03a25-cda5-4943-9684-7d18d97bb3bc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d03a25-cda5-4943-9684-7d18d97bb3bc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15d03a25-cda5-4943-9684-7d18d97bb3bc" xsi:nil="true"/>
    <LMS_Mappings xmlns="15d03a25-cda5-4943-9684-7d18d97bb3bc" xsi:nil="true"/>
    <Owner xmlns="15d03a25-cda5-4943-9684-7d18d97bb3bc">
      <UserInfo>
        <DisplayName/>
        <AccountId xsi:nil="true"/>
        <AccountType/>
      </UserInfo>
    </Owner>
    <FolderType xmlns="15d03a25-cda5-4943-9684-7d18d97bb3bc" xsi:nil="true"/>
    <CultureName xmlns="15d03a25-cda5-4943-9684-7d18d97bb3bc" xsi:nil="true"/>
    <Distribution_Groups xmlns="15d03a25-cda5-4943-9684-7d18d97bb3bc" xsi:nil="true"/>
    <Templates xmlns="15d03a25-cda5-4943-9684-7d18d97bb3bc" xsi:nil="true"/>
    <Invited_Students xmlns="15d03a25-cda5-4943-9684-7d18d97bb3bc" xsi:nil="true"/>
    <IsNotebookLocked xmlns="15d03a25-cda5-4943-9684-7d18d97bb3bc" xsi:nil="true"/>
    <Teachers xmlns="15d03a25-cda5-4943-9684-7d18d97bb3bc">
      <UserInfo>
        <DisplayName/>
        <AccountId xsi:nil="true"/>
        <AccountType/>
      </UserInfo>
    </Teachers>
    <Students xmlns="15d03a25-cda5-4943-9684-7d18d97bb3bc">
      <UserInfo>
        <DisplayName/>
        <AccountId xsi:nil="true"/>
        <AccountType/>
      </UserInfo>
    </Students>
    <Student_Groups xmlns="15d03a25-cda5-4943-9684-7d18d97bb3bc">
      <UserInfo>
        <DisplayName/>
        <AccountId xsi:nil="true"/>
        <AccountType/>
      </UserInfo>
    </Student_Groups>
    <Math_Settings xmlns="15d03a25-cda5-4943-9684-7d18d97bb3bc" xsi:nil="true"/>
    <Teams_Channel_Section_Location xmlns="15d03a25-cda5-4943-9684-7d18d97bb3bc" xsi:nil="true"/>
    <AppVersion xmlns="15d03a25-cda5-4943-9684-7d18d97bb3bc" xsi:nil="true"/>
    <TeamsChannelId xmlns="15d03a25-cda5-4943-9684-7d18d97bb3bc" xsi:nil="true"/>
    <Self_Registration_Enabled xmlns="15d03a25-cda5-4943-9684-7d18d97bb3bc" xsi:nil="true"/>
    <Has_Teacher_Only_SectionGroup xmlns="15d03a25-cda5-4943-9684-7d18d97bb3bc" xsi:nil="true"/>
    <DefaultSectionNames xmlns="15d03a25-cda5-4943-9684-7d18d97bb3bc" xsi:nil="true"/>
    <Is_Collaboration_Space_Locked xmlns="15d03a25-cda5-4943-9684-7d18d97bb3bc" xsi:nil="true"/>
    <Invited_Teachers xmlns="15d03a25-cda5-4943-9684-7d18d97bb3bc" xsi:nil="true"/>
  </documentManagement>
</p:properties>
</file>

<file path=customXml/itemProps1.xml><?xml version="1.0" encoding="utf-8"?>
<ds:datastoreItem xmlns:ds="http://schemas.openxmlformats.org/officeDocument/2006/customXml" ds:itemID="{C907D826-3BF1-4FFC-A295-0334D0192B86}"/>
</file>

<file path=customXml/itemProps2.xml><?xml version="1.0" encoding="utf-8"?>
<ds:datastoreItem xmlns:ds="http://schemas.openxmlformats.org/officeDocument/2006/customXml" ds:itemID="{8AF37259-8DB7-427C-A1A7-1D2D58328C6F}"/>
</file>

<file path=customXml/itemProps3.xml><?xml version="1.0" encoding="utf-8"?>
<ds:datastoreItem xmlns:ds="http://schemas.openxmlformats.org/officeDocument/2006/customXml" ds:itemID="{F1F6695A-24B5-4B75-A0EF-F56FEB690A5A}"/>
</file>

<file path=docProps/app.xml><?xml version="1.0" encoding="utf-8"?>
<Properties xmlns="http://schemas.openxmlformats.org/officeDocument/2006/extended-properties" xmlns:vt="http://schemas.openxmlformats.org/officeDocument/2006/docPropsVTypes">
  <Template>IS-ZC351-LEC-03</Template>
  <TotalTime>47427</TotalTime>
  <Words>1059</Words>
  <Application>Microsoft Office PowerPoint</Application>
  <PresentationFormat>On-screen Show (4:3)</PresentationFormat>
  <Paragraphs>89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Tahoma</vt:lpstr>
      <vt:lpstr>Times New Roman</vt:lpstr>
      <vt:lpstr>Trebuchet MS</vt:lpstr>
      <vt:lpstr>1_Office Theme</vt:lpstr>
      <vt:lpstr>Office Theme</vt:lpstr>
      <vt:lpstr>2_Office Theme</vt:lpstr>
      <vt:lpstr>Natural Language Processing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State  University of New York at Buffalo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Avinash</dc:creator>
  <cp:lastModifiedBy>VIJAYALAKSHMI ANAND .</cp:lastModifiedBy>
  <cp:revision>680</cp:revision>
  <cp:lastPrinted>1601-01-01T00:00:00Z</cp:lastPrinted>
  <dcterms:created xsi:type="dcterms:W3CDTF">2001-10-10T03:11:58Z</dcterms:created>
  <dcterms:modified xsi:type="dcterms:W3CDTF">2026-06-14T14:11:07Z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0x01010035A758FEF1429047AE09681CC0F7D167</vt:lpwstr>
  </property>
</Properties>
</file>